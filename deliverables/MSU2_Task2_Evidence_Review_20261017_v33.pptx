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slides/charts/chart1.xml" ContentType="application/vnd.openxmlformats-officedocument.drawingml.chart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slides/charts/chart2.xml" ContentType="application/vnd.openxmlformats-officedocument.drawingml.chart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slides/charts/chart3.xml" ContentType="application/vnd.openxmlformats-officedocument.drawingml.chart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slides/charts/chart4.xml" ContentType="application/vnd.openxmlformats-officedocument.drawingml.chart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slides/charts/chart5.xml" ContentType="application/vnd.openxmlformats-officedocument.drawingml.chart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slides/charts/chart6.xml" ContentType="application/vnd.openxmlformats-officedocument.drawingml.chart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slides/charts/chart7.xml" ContentType="application/vnd.openxmlformats-officedocument.drawingml.chart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989da634d284be3" /><Relationship Type="http://schemas.openxmlformats.org/officeDocument/2006/relationships/extended-properties" Target="/docProps/app.xml" Id="R851725ae7867480c" /><Relationship Type="http://schemas.openxmlformats.org/officeDocument/2006/relationships/officeDocument" Target="/ppt/presentation.xml" Id="R968fd6e46eb44e3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18dbcabd9a341ad"/>
  </p:sldMasterIdLst>
  <p:notesMasterIdLst>
    <p:notesMasterId xmlns:r="http://schemas.openxmlformats.org/officeDocument/2006/relationships" r:id="R283ee403157b47b3"/>
  </p:notesMasterIdLst>
  <p:sldIdLst>
    <p:sldId xmlns:r="http://schemas.openxmlformats.org/officeDocument/2006/relationships" id="256" r:id="R2396dc26e0884e33"/>
    <p:sldId xmlns:r="http://schemas.openxmlformats.org/officeDocument/2006/relationships" id="257" r:id="Raccb0300f1c44dab"/>
    <p:sldId xmlns:r="http://schemas.openxmlformats.org/officeDocument/2006/relationships" id="258" r:id="Rff85a925bfee4760"/>
    <p:sldId xmlns:r="http://schemas.openxmlformats.org/officeDocument/2006/relationships" id="259" r:id="Re4001036731b4dcc"/>
    <p:sldId xmlns:r="http://schemas.openxmlformats.org/officeDocument/2006/relationships" id="260" r:id="Rcd5675634c4b473f"/>
    <p:sldId xmlns:r="http://schemas.openxmlformats.org/officeDocument/2006/relationships" id="261" r:id="Rca84ce4767f44dc0"/>
    <p:sldId xmlns:r="http://schemas.openxmlformats.org/officeDocument/2006/relationships" id="262" r:id="R74b80a566f8e45ac"/>
    <p:sldId xmlns:r="http://schemas.openxmlformats.org/officeDocument/2006/relationships" id="263" r:id="R1250a8aabba44267"/>
    <p:sldId xmlns:r="http://schemas.openxmlformats.org/officeDocument/2006/relationships" id="264" r:id="R602eea5351bd49b7"/>
    <p:sldId xmlns:r="http://schemas.openxmlformats.org/officeDocument/2006/relationships" id="265" r:id="R017bd11dec1e4969"/>
    <p:sldId xmlns:r="http://schemas.openxmlformats.org/officeDocument/2006/relationships" id="266" r:id="R91a9c3e05e9149db"/>
    <p:sldId xmlns:r="http://schemas.openxmlformats.org/officeDocument/2006/relationships" id="267" r:id="Rfea610e6a5b943df"/>
    <p:sldId xmlns:r="http://schemas.openxmlformats.org/officeDocument/2006/relationships" id="268" r:id="Rdbe2c7e753184264"/>
    <p:sldId xmlns:r="http://schemas.openxmlformats.org/officeDocument/2006/relationships" id="269" r:id="R5881605d86274a63"/>
    <p:sldId xmlns:r="http://schemas.openxmlformats.org/officeDocument/2006/relationships" id="270" r:id="R9a5fe669afbc41c7"/>
    <p:sldId xmlns:r="http://schemas.openxmlformats.org/officeDocument/2006/relationships" id="271" r:id="R0a92f5dd81074ecc"/>
    <p:sldId xmlns:r="http://schemas.openxmlformats.org/officeDocument/2006/relationships" id="272" r:id="R30c12956128e403f"/>
    <p:sldId xmlns:r="http://schemas.openxmlformats.org/officeDocument/2006/relationships" id="273" r:id="Rd9792b4f7ae84d3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ec2595b2e274861" /><Relationship Type="http://schemas.openxmlformats.org/officeDocument/2006/relationships/slideMaster" Target="/ppt/slideMasters/slideMaster1.xml" Id="Rc18dbcabd9a341ad" /><Relationship Type="http://schemas.openxmlformats.org/officeDocument/2006/relationships/notesMaster" Target="/ppt/notesMasters/notesMaster1.xml" Id="R283ee403157b47b3" /><Relationship Type="http://schemas.openxmlformats.org/officeDocument/2006/relationships/presProps" Target="/ppt/presProps.xml" Id="Raf9509e3a99d4873" /><Relationship Type="http://schemas.openxmlformats.org/officeDocument/2006/relationships/tableStyles" Target="/ppt/tableStyles.xml" Id="R7132e3949d684ec2" /><Relationship Type="http://schemas.openxmlformats.org/officeDocument/2006/relationships/slide" Target="/ppt/slides/slide1.xml" Id="R2396dc26e0884e33" /><Relationship Type="http://schemas.openxmlformats.org/officeDocument/2006/relationships/slide" Target="/ppt/slides/slide2.xml" Id="Raccb0300f1c44dab" /><Relationship Type="http://schemas.openxmlformats.org/officeDocument/2006/relationships/slide" Target="/ppt/slides/slide3.xml" Id="Rff85a925bfee4760" /><Relationship Type="http://schemas.openxmlformats.org/officeDocument/2006/relationships/slide" Target="/ppt/slides/slide4.xml" Id="Re4001036731b4dcc" /><Relationship Type="http://schemas.openxmlformats.org/officeDocument/2006/relationships/slide" Target="/ppt/slides/slide5.xml" Id="Rcd5675634c4b473f" /><Relationship Type="http://schemas.openxmlformats.org/officeDocument/2006/relationships/slide" Target="/ppt/slides/slide6.xml" Id="Rca84ce4767f44dc0" /><Relationship Type="http://schemas.openxmlformats.org/officeDocument/2006/relationships/slide" Target="/ppt/slides/slide7.xml" Id="R74b80a566f8e45ac" /><Relationship Type="http://schemas.openxmlformats.org/officeDocument/2006/relationships/slide" Target="/ppt/slides/slide8.xml" Id="R1250a8aabba44267" /><Relationship Type="http://schemas.openxmlformats.org/officeDocument/2006/relationships/slide" Target="/ppt/slides/slide9.xml" Id="R602eea5351bd49b7" /><Relationship Type="http://schemas.openxmlformats.org/officeDocument/2006/relationships/slide" Target="/ppt/slides/slide10.xml" Id="R017bd11dec1e4969" /><Relationship Type="http://schemas.openxmlformats.org/officeDocument/2006/relationships/slide" Target="/ppt/slides/slide11.xml" Id="R91a9c3e05e9149db" /><Relationship Type="http://schemas.openxmlformats.org/officeDocument/2006/relationships/slide" Target="/ppt/slides/slide12.xml" Id="Rfea610e6a5b943df" /><Relationship Type="http://schemas.openxmlformats.org/officeDocument/2006/relationships/slide" Target="/ppt/slides/slide13.xml" Id="Rdbe2c7e753184264" /><Relationship Type="http://schemas.openxmlformats.org/officeDocument/2006/relationships/slide" Target="/ppt/slides/slide14.xml" Id="R5881605d86274a63" /><Relationship Type="http://schemas.openxmlformats.org/officeDocument/2006/relationships/slide" Target="/ppt/slides/slide15.xml" Id="R9a5fe669afbc41c7" /><Relationship Type="http://schemas.openxmlformats.org/officeDocument/2006/relationships/slide" Target="/ppt/slides/slide16.xml" Id="R0a92f5dd81074ecc" /><Relationship Type="http://schemas.openxmlformats.org/officeDocument/2006/relationships/slide" Target="/ppt/slides/slide17.xml" Id="R30c12956128e403f" /><Relationship Type="http://schemas.openxmlformats.org/officeDocument/2006/relationships/slide" Target="/ppt/slides/slide18.xml" Id="Rd9792b4f7ae84d3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38a5e7848ab406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cd3bc74531349a4" /><Relationship Type="http://schemas.openxmlformats.org/officeDocument/2006/relationships/notesMaster" Target="/ppt/notesMasters/notesMaster1.xml" Id="R1086d69b4f3e41c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7eac6bedc924e99" /><Relationship Type="http://schemas.openxmlformats.org/officeDocument/2006/relationships/notesMaster" Target="/ppt/notesMasters/notesMaster1.xml" Id="Rb77b3e229d1b4a6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b509217d54d4467" /><Relationship Type="http://schemas.openxmlformats.org/officeDocument/2006/relationships/notesMaster" Target="/ppt/notesMasters/notesMaster1.xml" Id="R994dc5485dea499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952c0773bec4a27" /><Relationship Type="http://schemas.openxmlformats.org/officeDocument/2006/relationships/notesMaster" Target="/ppt/notesMasters/notesMaster1.xml" Id="R69e9147ed4124a5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21fc3ba24944f85" /><Relationship Type="http://schemas.openxmlformats.org/officeDocument/2006/relationships/notesMaster" Target="/ppt/notesMasters/notesMaster1.xml" Id="R244c4c438e1a44c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17cf64d5ebf48f1" /><Relationship Type="http://schemas.openxmlformats.org/officeDocument/2006/relationships/notesMaster" Target="/ppt/notesMasters/notesMaster1.xml" Id="R6f4ef5e1c058470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4d78a57223d4765" /><Relationship Type="http://schemas.openxmlformats.org/officeDocument/2006/relationships/notesMaster" Target="/ppt/notesMasters/notesMaster1.xml" Id="R67fc7b34fd2d459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c950425032f4cda" /><Relationship Type="http://schemas.openxmlformats.org/officeDocument/2006/relationships/notesMaster" Target="/ppt/notesMasters/notesMaster1.xml" Id="R9d88f77e39414d5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aefc9c7aae34cc7" /><Relationship Type="http://schemas.openxmlformats.org/officeDocument/2006/relationships/notesMaster" Target="/ppt/notesMasters/notesMaster1.xml" Id="R661e1f93c99b4f64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3a2f7012fc01471f" /><Relationship Type="http://schemas.openxmlformats.org/officeDocument/2006/relationships/notesMaster" Target="/ppt/notesMasters/notesMaster1.xml" Id="R9d13f501c3364469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aed031e905d4476e" /><Relationship Type="http://schemas.openxmlformats.org/officeDocument/2006/relationships/notesMaster" Target="/ppt/notesMasters/notesMaster1.xml" Id="Rf7c82e0f211143f2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5f596007c6744e1d" /><Relationship Type="http://schemas.openxmlformats.org/officeDocument/2006/relationships/notesMaster" Target="/ppt/notesMasters/notesMaster1.xml" Id="Rfdc6279bf7c44ba0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8564720f92e44c7b" /><Relationship Type="http://schemas.openxmlformats.org/officeDocument/2006/relationships/notesMaster" Target="/ppt/notesMasters/notesMaster1.xml" Id="R64ea35ad43374d78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c27ea7fa0dd64a48" /><Relationship Type="http://schemas.openxmlformats.org/officeDocument/2006/relationships/notesMaster" Target="/ppt/notesMasters/notesMaster1.xml" Id="Rc691fe2e53ce486d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283e37b728d4448c" /><Relationship Type="http://schemas.openxmlformats.org/officeDocument/2006/relationships/notesMaster" Target="/ppt/notesMasters/notesMaster1.xml" Id="R6d6c12aa3bda4249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3feacfb8583a4dc6" /><Relationship Type="http://schemas.openxmlformats.org/officeDocument/2006/relationships/notesMaster" Target="/ppt/notesMasters/notesMaster1.xml" Id="Ree4a76169d8748c1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ec9e67e7adf84abb" /><Relationship Type="http://schemas.openxmlformats.org/officeDocument/2006/relationships/notesMaster" Target="/ppt/notesMasters/notesMaster1.xml" Id="R263b0524c1b046ec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c02e9a766dc64ec9" /><Relationship Type="http://schemas.openxmlformats.org/officeDocument/2006/relationships/notesMaster" Target="/ppt/notesMasters/notesMaster1.xml" Id="R9148b084ac1a430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Scope: Task 2a–2c findings and current status of remaining SOW activities.</a:t>
            </a:r>
          </a:p>
          <a:p xmlns:a="http://schemas.openxmlformats.org/drawingml/2006/main">
            <a:r>
              <a:t>Primary source: /home/opentitan/Downloads/MSU-2_SOW_Final (1).docx, revision 2026-02-23.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results/linux_axi_spi_bringup_20261013/linux_vs_baremetal_comparison_20261014.csv.</a:t>
            </a:r>
          </a:p>
          <a:p xmlns:a="http://schemas.openxmlformats.org/drawingml/2006/main">
            <a:r>
              <a:t>Method and limitations: results/linux_axi_spi_bringup_20261013/SOW_2A_FINAL_COMPARISON_20261014.md.</a:t>
            </a:r>
          </a:p>
          <a:p xmlns:a="http://schemas.openxmlformats.org/drawingml/2006/main">
            <a:r>
              <a:t>Both paths used the same AXI Quad SPI hardware, J55 external loopback, payload vectors and 1,000 trials per size. Linux used CLOCK_MONOTONIC_RAW; bare metal used XTime_GetTime. No timer cross-calibration was recorded.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results/task2b_cdma_sim_20261014/cdma_simulated_sweep.csv and results/task2b_cdma_sim_20261014/cdma_loopback_simulate.log.</a:t>
            </a:r>
          </a:p>
          <a:p xmlns:a="http://schemas.openxmlformats.org/drawingml/2006/main">
            <a:r>
              <a:t>Reproduction and test limits: results/task2b_cdma_sim_20261014/README.md; source testbench: hardware/sim/tb_keyhole.sv.</a:t>
            </a:r>
          </a:p>
          <a:p xmlns:a="http://schemas.openxmlformats.org/drawingml/2006/main">
            <a:r>
              <a:t>Optional physical follow-on experiment design and readiness gate: results/SOW_2B_PHYSICAL_DMA_EXPERIMENT_DESIGN_20261015.md. No CDMA-enabled bitstream is currently in the repository.</a:t>
            </a:r>
          </a:p>
          <a:p xmlns:a="http://schemas.openxmlformats.org/drawingml/2006/main">
            <a:r>
              <a:t>Vivado 2025.1 fresh build and XSim run passed with host IPC access. The chart shows model effective rate from the BTT write to TX FIFO empty plus the stated 2 us final-word allowance.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Frequency sweep source: results/SOW_2F_FREQSWEEP_20260908.md; raw capture: docs/environment/zcu102-2_2f_freqsweep_20260908.log.</a:t>
            </a:r>
          </a:p>
          <a:p xmlns:a="http://schemas.openxmlformats.org/drawingml/2006/main">
            <a:r>
              <a:t>Cross-OS timing source: results/linux_axi_spi_bringup_20261013/SOW_2A_FINAL_COMPARISON_20261014.md.</a:t>
            </a:r>
          </a:p>
          <a:p xmlns:a="http://schemas.openxmlformats.org/drawingml/2006/main">
            <a:r>
              <a:t>The 64 KiB standard deviations are 3.87, 5.17, 8.65 and 14.23 us at 1,200, 600, 400 and 300 MHz. The frequency-sweep report records zero errors and ivcsw=0; those results do not attribute a jitter mechanism.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Governing source: /home/opentitan/Downloads/MSU-2_SOW_Final (1).docx, revision 2026-02-23. The seven activity names are quoted or closely abbreviated from Task 2; internal labels 2a–2g are mapped in sequence.</a:t>
            </a:r>
          </a:p>
          <a:p xmlns:a="http://schemas.openxmlformats.org/drawingml/2006/main">
            <a:r>
              <a:t>Evidence basis: results/MSU2_TASK2_SOW_STATUS_20261016.md and the source reports in results/ for Task 2a–2g.</a:t>
            </a:r>
          </a:p>
          <a:p xmlns:a="http://schemas.openxmlformats.org/drawingml/2006/main">
            <a:r>
              <a:t>Task 2a has a fixed-workload comparison revalidated on 16 October, but timer sources and CPU-point differences limit causal attribution. Task 2b has simulation but no valid physical DMA sweep. Task 2c supports best-effort suitability only. Task 2d is design-only. Task 2e has a complete fixed-trial comparison and 33/33 sustained points per backend, with CPU-metric bases and clock readback documented. Task 2e remains partial because the reliable clock/payload stress envelope has not yet been measured. Task 2f lacks a changed preemption configuration and valid physical optimized-DMA comparison. Task 2g lacks integrated target verified boot and persistent recovery.</a:t>
            </a:r>
          </a:p>
          <a:p xmlns:a="http://schemas.openxmlformats.org/drawingml/2006/main">
            <a:r>
              <a:t>The SOW also requires separate Task 1 work and formal monthly, interim, simulation/emulation, OS/appliance, and final-report deliverables; this Task 2 status slide does not certify those deliverables.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Design source: results/SOW_2D_SYSTEM_HARDENING_DESIGN_20261014.md.</a:t>
            </a:r>
          </a:p>
          <a:p xmlns:a="http://schemas.openxmlformats.org/drawingml/2006/main">
            <a:r>
              <a:t>Existing U-Boot environment fallback evidence and limitations: results/SOW_2G_RECOVERY_20260909.md.</a:t>
            </a:r>
          </a:p>
          <a:p xmlns:a="http://schemas.openxmlformats.org/drawingml/2006/main">
            <a:r>
              <a:t>AMD Zynq UltraScale+ MPSoC Software Developer Guide, Boot Time Security: https://docs.amd.com/r/en-US/ug1137-zynq-ultrascale-mpsoc-swdev/Boot-Time-Security.</a:t>
            </a:r>
          </a:p>
          <a:p xmlns:a="http://schemas.openxmlformats.org/drawingml/2006/main">
            <a:r>
              <a:t>AMD Embedded Design Tutorial, Enabling Boot Header Authentication: https://docs.amd.com/r/en-US/ug1209-embedded-design-tutorial/Enabling-Boot-Header-Authentication. Boot-header authentication omits the eFUSE key-hash and revocation checks; it is a development mechanism, not the fielded trust anchor.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CSV: results/linux_axi_spi_bringup_20261013/task2e_framework_metrics_20261014.csv.</a:t>
            </a:r>
          </a:p>
          <a:p xmlns:a="http://schemas.openxmlformats.org/drawingml/2006/main">
            <a:r>
              <a:t>Derived from raw Linux CLOCK_THREAD_CPUTIME_ID and CLOCK_MONOTONIC_RAW loop totals in results/linux_axi_spi_bringup_20261013/linux_benchmark_20261014.log.</a:t>
            </a:r>
          </a:p>
          <a:p xmlns:a="http://schemas.openxmlformats.org/drawingml/2006/main">
            <a:r>
              <a:t>Framework status and scope: results/SOW_2E_BENCHMARK_FRAMEWORK_STATUS_20261014.md. The utilization percentage is per benchmark thread normalized to one CPU core, not total system CPU utilization.</a:t>
            </a:r>
          </a:p>
          <a:p xmlns:a="http://schemas.openxmlformats.org/drawingml/2006/main">
            <a:r>
              <a:t>Physical closure experiment and remaining metric definitions: results/SOW_2E_BENCHMARK_CLOSURE_EXPERIMENT_20261015.md.</a:t>
            </a:r>
          </a:p>
          <a:p xmlns:a="http://schemas.openxmlformats.org/drawingml/2006/main">
            <a:r>
              <a:t>Paired sustained observations and clock/CPU limitations: results/task2e_sustainable_runner_20261016/SOW_2E_PAIRED_SUSTAINED_RESULTS_20261017.md and clock_readback_20261017.md.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Report: results/SOW_2G_AB_UPDATE_PROTOTYPE_20261014.md.</a:t>
            </a:r>
          </a:p>
          <a:p xmlns:a="http://schemas.openxmlformats.org/drawingml/2006/main">
            <a:r>
              <a:t>Prototype: linux/appliance/ab_update_prototype.py. Tests: tests/test_task2g_ab_update.py.</a:t>
            </a:r>
          </a:p>
          <a:p xmlns:a="http://schemas.openxmlformats.org/drawingml/2006/main">
            <a:r>
              <a:t>Existing on-target U-Boot environment fallback evidence: results/SOW_2G_RECOVERY_20260909.md; it is a single-copy CRC fallback, not image/rootfs update recovery.</a:t>
            </a:r>
          </a:p>
          <a:p xmlns:a="http://schemas.openxmlformats.org/drawingml/2006/main">
            <a:r>
              <a:t>All four host tests passed on 2026-10-14. The diagram depicts reference logic, not an installed or hardware-rooted boot chain.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Diagnostic report: results/vivado_license_diagnostic_20261015/README.md.</a:t>
            </a:r>
          </a:p>
          <a:p xmlns:a="http://schemas.openxmlformats.org/drawingml/2006/main">
            <a:r>
              <a:t>Successful Vivado 2025.1 synthesis transcript: results/vivado_license_diagnostic_20261015/zcu9eg_license_synthesis.log.</a:t>
            </a:r>
          </a:p>
          <a:p xmlns:a="http://schemas.openxmlformats.org/drawingml/2006/main">
            <a:r>
              <a:t>AMD Vivado 2025.1 UG973, Supported Devices: https://docs.amd.com/r/2025.1-English/ug973-vivado-release-notes-install-license/Supported-Devices. The Enterprise edition supports all Zynq UltraScale+ MPSoC devices.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Target report: results/SOW_2G_ZCU102_HARDENING_DEMO_20261015.md.</a:t>
            </a:r>
          </a:p>
          <a:p xmlns:a="http://schemas.openxmlformats.org/drawingml/2006/main">
            <a:r>
              <a:t>Target source/build: linux/appliance/hardening_contrast_board.c and scripts/build_task2g_board_demo.py. The application ran on newQspi, Linux 6.12.10-xilinx, and verified its RSA/SHA-256 fixture through target libcrypto.so.3.</a:t>
            </a:r>
          </a:p>
          <a:p xmlns:a="http://schemas.openxmlformats.org/drawingml/2006/main">
            <a:r>
              <a:t>Target executable SHA-256: 0ca6af020d16ea8174ec3d2f7ff625b1dd727870b1f28753898f51a98646f8e8. Captured output: results/task2g_board_contrast_20261015/target_run.log.</a:t>
            </a:r>
          </a:p>
          <a:p xmlns:a="http://schemas.openxmlformats.org/drawingml/2006/main">
            <a:r>
              <a:t>All file slots were in /tmp and removed by the application. The baseline intentionally lacks signature verification and recovery. The health failure and interrupted write are injected software cases, not a physical reset or boot test.</a:t>
            </a:r>
          </a:p>
          <a:p xmlns:a="http://schemas.openxmlformats.org/drawingml/2006/main">
            <a:r>
              <a:t>Tests: tests/test_task2g_board_demo_host.py and tests/test_task2g_ab_update.py. Target execution proves the user-space demo on the board, not its BootROM/FSBL/TF-A/U-Boot chain.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Report: results/SOW_2G_PETALINUX_FIT_20261015.md. Build configuration templates: linux/appliance/verified_update/petalinux/.</a:t>
            </a:r>
          </a:p>
          <a:p xmlns:a="http://schemas.openxmlformats.org/drawingml/2006/main">
            <a:r>
              <a:t>Raw evidence, signed FIT, control DTB, tampered FIT, logs, metadata, and SHA-256 manifest: results/task2g_petalinux_fit_20261015/. Reproduce validation with scripts/task2g_verify_petalinux_fit.py.</a:t>
            </a:r>
          </a:p>
          <a:p xmlns:a="http://schemas.openxmlformats.org/drawingml/2006/main">
            <a:r>
              <a:t>PetaLinux project XSA SHA-256 exactly matches the validated 2026-09-29 XSA (e8b4626edb5949bc8adb14ae259802cdd24b16ea3f02daf0dd8fdbeb1cc0e7d7); deployed bitstream SHA-256 also matches (90f93479dd47c505b8f9e4fe6f4f18e853f8923d081f4b2037401ed3cb46994a). FIT DTB hash matches the regenerated system DTB.</a:t>
            </a:r>
          </a:p>
          <a:p xmlns:a="http://schemas.openxmlformats.org/drawingml/2006/main">
            <a:r>
              <a:t>U-Boot compiled and deployed. PetaLinux wrapper returned nonzero due unrelated exit-139 package tasks; relevant U-Boot, FIT, device-tree, and bitstream outputs were present and individually verified.</a:t>
            </a:r>
          </a:p>
          <a:p xmlns:a="http://schemas.openxmlformats.org/drawingml/2006/main">
            <a:r>
              <a:t>Signing key is disposable and remains outside the repository under the local PetaLinux build tree; it is not a production key. The valid image build is host-side evidence only and was not flashed to the target.</a:t>
            </a:r>
          </a:p>
          <a:p xmlns:a="http://schemas.openxmlformats.org/drawingml/2006/main">
            <a:r>
              <a:t>The embedded key node is required; signature algorithm is sha256,rsa2048. On payload modification, fit_check_sign reported “Bad hash value” and “Bad Data Hash”.</a:t>
            </a:r>
          </a:p>
          <a:p xmlns:a="http://schemas.openxmlformats.org/drawingml/2006/main">
            <a:r>
              <a:t>This is not hardware-rooted secure boot: BootROM/FSBL/TF-A/U-Boot authentication, protected key provisioning, persistent A/B slots and bootcount, Linux health confirmation, and target interruption testing remain open.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Live target audit report and raw serial capture: results/task2g_live_board_audit_20261015/README.md and serial_session.log. Generated boot-script audit: results/task2g_bootflow_audit_20261015/.</a:t>
            </a:r>
          </a:p>
          <a:p xmlns:a="http://schemas.openxmlformats.org/drawingml/2006/main">
            <a:r>
              <a:t>Live SD boot.scr SHA-256 6c555e630e15ae1c7446f606cb99cfe5c52a0fde4e9deb2fa4e418c5d598b608 matches the captured generated script. The live image.ub SHA-256 is 446dd4756b4be2c29d513594e42adf45f0c90a362d2714dcc56f9ddbd5292bf0; required-key fit_check_sign failed because it has no signature subnode.</a:t>
            </a:r>
          </a:p>
          <a:p xmlns:a="http://schemas.openxmlformats.org/drawingml/2006/main">
            <a:r>
              <a:t>The kernel log reports firmware msu2_ratio2_j55_c27bb684.bit.bin loaded; its SHA-256 is c27bb684ca843e173585aed50096f95692530444b808ec948006dbb0d67f56fd, matching the validated Sep 29 bit.bin artifact. The FPGA manager reports operating.</a:t>
            </a:r>
          </a:p>
          <a:p xmlns:a="http://schemas.openxmlformats.org/drawingml/2006/main">
            <a:r>
              <a:t>Read-only fw_printenv from the SD copy showed bootcmd=run distro_bootcmd, broad boot_targets (mmc0 jtag mmc0 mmc1 qspi0 nand0 usb0 usb1 scsi0 pxe dhcp), bootdelay=5, bootseq=0, and unset bootlimit/upgrade_available. Rootfs is ram0 and the SD card has only mmcblk0p1. fw_setenv is not present in the running rootfs.</a:t>
            </a:r>
          </a:p>
          <a:p xmlns:a="http://schemas.openxmlformats.org/drawingml/2006/main">
            <a:r>
              <a:t>The signed FIT built with PetaLinux 2025.2 remains host-side and was not installed or booted. The boot-chain is not trusted until the running U-Boot and earlier BootROM/FSBL chain authenticate policy and image. No board media, FPGA, or persistent environment was modified; only temporary fw_env config/symlinks were created under /tmp.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Revalidation report: results/linux_axi_spi_revalidation_20261016/README.md. Fixed-trial Linux log and rows are in that directory; the paired CSV is linux_vs_baremetal_fixed_trial_20261016.csv.</a:t>
            </a:r>
          </a:p>
          <a:p xmlns:a="http://schemas.openxmlformats.org/drawingml/2006/main">
            <a:r>
              <a:t>Bare-metal raw capture and metrics: results/task2e_sustainable_runner_20261016/baremetal_reboot_capture_20261016.raw.log and baremetal_reboot_metrics_20261016.csv. Both paths completed 11 sizes × 1,000 transfers with zero reported errors or receive mismatches.</a:t>
            </a:r>
          </a:p>
          <a:p xmlns:a="http://schemas.openxmlformats.org/drawingml/2006/main">
            <a:r>
              <a:t>The September 29 FPGA image hash was verified from the target SD source and staged Linux firmware file. FPGA Manager reported operating; it does not expose a bitstream readback hash. Linux clock framework showed IOPLL 1.49985 GHz and PL0 99.990 MHz. The 49.995 MHz SPI speed is the Linux requested/readback value; J55 SCK was measured at about 51 MHz previously for this exact image/configuration, but was not remeasured here.</a:t>
            </a:r>
          </a:p>
          <a:p xmlns:a="http://schemas.openxmlformats.org/drawingml/2006/main">
            <a:r>
              <a:t>The Linux benchmark uses CLOCK_MONOTONIC_RAW; bare metal uses XTime_GetTime. Post-run clock-register readback supports a derived 1.19988 GHz A53 full-rate clock and 99.990 MHz PL0. Effective payload rate is payload bytes divided by measured mean latency and is not physical wire throughput. The comparison is a same-workload board result, not causal attribution of kernel overhead.</a:t>
            </a:r>
          </a:p>
          <a:p xmlns:a="http://schemas.openxmlformats.org/drawingml/2006/main">
            <a:r>
              <a:t>Fixed-trial comparison report: results/linux_axi_spi_revalidation_20261016/README.md. Sustained Linux and bare-metal rates are presented on slide 14 and in results/task2e_sustainable_runner_20261016/SOW_2E_PAIRED_SUSTAINED_RESULTS_20261017.md. Physical J55 SCK about 51 MHz was measured previously for the same bitstream/configuration, not during sustained windows. Task 2e remains partial until the reliable clock/payload stress test is complete; backend ordering was not alternated and per-window clock sampling was not performed.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Run report and interpretation: results/task2e_sustainable_runner_20261016/SOW_2E_PAIRED_SUSTAINED_RESULTS_20261017.md.</a:t>
            </a:r>
          </a:p>
          <a:p xmlns:a="http://schemas.openxmlformats.org/drawingml/2006/main">
            <a:r>
              <a:t>Editable chart source data: results/task2e_sustainable_runner_20261016/linux_baremetal_sustained_comparison_20261016.csv. Per-run raw-derived records: baremetal_sustained_runs_20261016.csv and linux_sustained_runs.csv.</a:t>
            </a:r>
          </a:p>
          <a:p xmlns:a="http://schemas.openxmlformats.org/drawingml/2006/main">
            <a:r>
              <a:t>Linux uses CLOCK_MONOTONIC_RAW; bare metal uses XTime_GetTime. Bare-metal occupancy is a busy-wait execution-model figure, not a PMU measure. Physical SCK (~51 MHz) was previously measured at J55 for the same bitstream/configuration but not remeasured during these windows. Clock readback detail: results/task2e_sustainable_runner_20261016/clock_readback_20261017.md. Linux ran before bare metal; order effects were not controlled.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is a proposed operator experience, not a completed implementation or board validation. The architecture and constraints are documented in docs/design/MSU2_ONE_STOP_DEMO_ARCHITECTURE.md.</a:t>
            </a:r>
          </a:p>
          <a:p xmlns:a="http://schemas.openxmlformats.org/drawingml/2006/main">
            <a:r>
              <a:t>The current Linux sustained runner accepts payload, window duration, requested speed, and repetition. The current bare-metal sustained application has fixed payload sizes, a 60-second window, and three repetitions: linux/src/spi_sustainable_benchmark.c and bare_metal/src/spi_sustainable_benchmark_bare_axi.c.</a:t>
            </a:r>
          </a:p>
          <a:p xmlns:a="http://schemas.openxmlformats.org/drawingml/2006/main">
            <a:r>
              <a:t>The September 29 validated hardware export records C_SCK_RATIO=2. The Linux xilinx_spi driver accepts but does not apply speed requests for this fixed-divider configuration. Physical SCK must be measured separately.</a:t>
            </a:r>
          </a:p>
          <a:p xmlns:a="http://schemas.openxmlformats.org/drawingml/2006/main">
            <a:r>
              <a:t>The Linux and bare-metal BOOT.BIN artifacts are separate today. A dual-mode SD boot menu/launcher has not been assembled; switching A53 software environments requires a reboot, while the PL image can remain the validated same image.</a:t>
            </a:r>
          </a:p>
          <a:p xmlns:a="http://schemas.openxmlformats.org/drawingml/2006/main">
            <a:r>
              <a:t>The current project demonstrates external J55 MOSI-to-MISO loopback. It does not yet define a separate end-product normal-operation workload.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Report and interpretation: results/task2e_stress_envelope_20261017/BAREMETAL_SUSTAINED_REPEAT_REPORT_20261017.md.</a:t>
            </a:r>
          </a:p>
          <a:p xmlns:a="http://schemas.openxmlformats.org/drawingml/2006/main">
            <a:r>
              <a:t>The chart plots the percentage change between the new 17 Oct bare-metal 3-run median and the earlier 16 Oct median, by payload size. Raw operator-provided transcript: results/task2e_stress_envelope_20261017/baremetal_sustained_uart_capture_20261017.raw.log. Derived rows: results/task2e_stress_envelope_20261017/baremetal_sustained_runs_20261017.csv.</a:t>
            </a:r>
          </a:p>
          <a:p xmlns:a="http://schemas.openxmlformats.org/drawingml/2006/main">
            <a:r>
              <a:t>The new transcript reported 33 points, 46,240,175 verified transfers, 1,542,507,195 verified bytes, zero API errors, and zero mismatches. It reported timer_hz=99,990,005, IOPLL_CTRL=0x00015a00, and PL0_REF_CTRL=0x01010f00.</a:t>
            </a:r>
          </a:p>
          <a:p xmlns:a="http://schemas.openxmlformats.org/drawingml/2006/main">
            <a:r>
              <a:t>No target image or executable hash was reported in the live transcript. The benchmark itself reports topology=UNVERIFIED and physical_sck_hz=NOT_MEASURED. Prior SCK near 51 MHz was measured on 29 Sep for the matching design, not during this repeat.</a:t>
            </a:r>
          </a:p>
          <a:p xmlns:a="http://schemas.openxmlformats.org/drawingml/2006/main">
            <a:r>
              <a:t>The repeat uses the existing ladder through 65,536 bytes and does not test a stress boundary. The ratio-2 hardware divider is fixed; speed-request arguments cannot sweep physical SCK. Task 2e remains partial pending the larger payload/reliability experiment and physical SCK measurement.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Linux implementation: linux/appliance/msu2_demo.py. Bare-metal implementation: bare_metal/src/spi_sustainable_benchmark_bare_axi.c. Operator instructions: linux/appliance/MSU2_DEMO_CONSOLE.md. Progress report: results/MSU2_ONE_STOP_DEMO_PROGRESS_20261017.md.</a:t>
            </a:r>
          </a:p>
          <a:p xmlns:a="http://schemas.openxmlformats.org/drawingml/2006/main">
            <a:r>
              <a:t>The menu runs the existing Linux receive-verification/latency sweep and sustained runner. Each test invocation gets config.json, raw_output.log and manifest.json in a unique evidence folder. It records unknown for physical SCK, PL0 rate and bitstream hash because those values are not measured by the menu.</a:t>
            </a:r>
          </a:p>
          <a:p xmlns:a="http://schemas.openxmlformats.org/drawingml/2006/main">
            <a:r>
              <a:t>Linux verification: python3 linux/appliance/msu2_demo.py --self-test passed; choosing option 0 returned to the shell without executing a test; python3 -m py_compile passed; tests.test_sustainable_benchmark_host passed all four tests. Bare-metal verification: Vitis 2025.1 built an ELF with SHA-256 9a1b1455a0b4255429e9c767db2f8ab7d0a54bc1bfa8b2f67bce75a85794c067 against the pinned XSA.</a:t>
            </a:r>
          </a:p>
          <a:p xmlns:a="http://schemas.openxmlformats.org/drawingml/2006/main">
            <a:r>
              <a:t>The Vitis build is ELF-only. No BOOT.BIN packaging, board programming, UART menu test or SPI transfer was performed. Linux currently starts without a power-on OS chooser. A Linux/bare-metal selector remains unimplemented and must not weaken the Task 2g signed-boot policy.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Report: results/MSU2_ONE_STOP_SIGNED_SELECTOR_AND_SD_AUDIT_20261017.md. Reproduce with python3 scripts/task2g_signed_selector_sandbox_test.py.</a:t>
            </a:r>
          </a:p>
          <a:p xmlns:a="http://schemas.openxmlformats.org/drawingml/2006/main">
            <a:r>
              <a:t>U-Boot 2025.01-Xilinx sandbox used required sha256,rsa2048 configuration signatures and the control FDT embedded by mkimage. The Linux and SPI-test FIT configurations passed fit_check_sign. Sandbox accepted Linux bootm selection, loaded standalone firmware with autostart=no, and rejected the modified standalone payload before transfer.</a:t>
            </a:r>
          </a:p>
          <a:p xmlns:a="http://schemas.openxmlformats.org/drawingml/2006/main">
            <a:r>
              <a:t>The standalone fixture did not execute code. This does not test the interactive U-Boot bootmenu, the board BootROM/FSBL chain, the eFUSE trust anchor, A53 execution, the target Linux payload, or physical SPI.</a:t>
            </a:r>
          </a:p>
          <a:p xmlns:a="http://schemas.openxmlformats.org/drawingml/2006/main">
            <a:r>
              <a:t>SD audit: results/sd_card_host_backup_20261017/. The original partition was mounted read-only; the copy matched byte-for-byte. The active card BOOT.BIN matches the previous bare-metal sustained-test package; image.ub is the previously audited unsigned FIT. No card files were changed.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88c276009a7410e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f5d58f255ec4d12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c405e67c6b44798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de1f55c6b1b491e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2c1cc8bda9743f8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7bd9ee0a982429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776AAD7F-1328-4526-9AE0-BFEEF147DCF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256DED8E-C317-4603-BCE6-1952F9C7E9DE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3A94749F-1E2B-4CEB-B121-9813A0F7CED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44604DC-BE83-4765-8ABB-A5E68EB1AA8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5D5E4036-6D60-43D3-9079-76FB2925A2E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494FA21E-7D2C-418F-9AD4-1F610DEE59C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9BBAB5DC-9984-4D0D-8C38-999202240B7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1930F5AE-5460-4176-887E-BDDF9856A746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C45FDA3E-74EA-48A8-AA9A-DEE3C07A6D7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DB8454BC-9E57-4195-9C51-A257DFBAC2A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3136c776d9a4842" /><Relationship Type="http://schemas.openxmlformats.org/officeDocument/2006/relationships/slideLayout" Target="/ppt/slideLayouts/slideLayout1.xml" Id="R7fc0b348a2f14448" /><Relationship Type="http://schemas.openxmlformats.org/officeDocument/2006/relationships/slideLayout" Target="/ppt/slideLayouts/slideLayout2.xml" Id="R6ab8759ed0e84bc1" /><Relationship Type="http://schemas.openxmlformats.org/officeDocument/2006/relationships/slideLayout" Target="/ppt/slideLayouts/slideLayout3.xml" Id="R9ea270fd8a554f17" /><Relationship Type="http://schemas.openxmlformats.org/officeDocument/2006/relationships/slideLayout" Target="/ppt/slideLayouts/slideLayout4.xml" Id="R08b89a07bba643f3" /><Relationship Type="http://schemas.openxmlformats.org/officeDocument/2006/relationships/slideLayout" Target="/ppt/slideLayouts/slideLayout5.xml" Id="R23f4874fe12a489c" /><Relationship Type="http://schemas.openxmlformats.org/officeDocument/2006/relationships/slideLayout" Target="/ppt/slideLayouts/slideLayout6.xml" Id="Rbf5ec66a4956487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fc0b348a2f14448"/>
    <p:sldLayoutId xmlns:r="http://schemas.openxmlformats.org/officeDocument/2006/relationships" id="2147483650" r:id="R6ab8759ed0e84bc1"/>
    <p:sldLayoutId xmlns:r="http://schemas.openxmlformats.org/officeDocument/2006/relationships" id="2147483651" r:id="R9ea270fd8a554f17"/>
    <p:sldLayoutId xmlns:r="http://schemas.openxmlformats.org/officeDocument/2006/relationships" id="2147483652" r:id="R08b89a07bba643f3"/>
    <p:sldLayoutId xmlns:r="http://schemas.openxmlformats.org/officeDocument/2006/relationships" id="2147483653" r:id="R23f4874fe12a489c"/>
    <p:sldLayoutId xmlns:r="http://schemas.openxmlformats.org/officeDocument/2006/relationships" id="2147483654" r:id="Rbf5ec66a4956487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e21acd4982c43a1" /><Relationship Type="http://schemas.openxmlformats.org/officeDocument/2006/relationships/notesSlide" Target="/ppt/notesSlides/notesSlide1.xml" Id="R83f83f101cec41c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d0c4f343c464702" /><Relationship Type="http://schemas.openxmlformats.org/officeDocument/2006/relationships/chart" Target="/ppt/slides/charts/chart1.xml" Id="Ra3b140d50876406e" /><Relationship Type="http://schemas.openxmlformats.org/officeDocument/2006/relationships/notesSlide" Target="/ppt/notesSlides/notesSlide2.xml" Id="R897bef6a4ab4487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208ef09e7764d42" /><Relationship Type="http://schemas.openxmlformats.org/officeDocument/2006/relationships/chart" Target="/ppt/slides/charts/chart2.xml" Id="Ra357352a33874de0" /><Relationship Type="http://schemas.openxmlformats.org/officeDocument/2006/relationships/notesSlide" Target="/ppt/notesSlides/notesSlide3.xml" Id="R4f837da11303432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35c5a33d1144f6a" /><Relationship Type="http://schemas.openxmlformats.org/officeDocument/2006/relationships/chart" Target="/ppt/slides/charts/chart3.xml" Id="R1b76f9296f444fb1" /><Relationship Type="http://schemas.openxmlformats.org/officeDocument/2006/relationships/notesSlide" Target="/ppt/notesSlides/notesSlide4.xml" Id="Rbbb489043ea1476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5ca9c20dc5640eb" /><Relationship Type="http://schemas.openxmlformats.org/officeDocument/2006/relationships/notesSlide" Target="/ppt/notesSlides/notesSlide5.xml" Id="R2a0da3451ac6474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5dbc990d013467b" /><Relationship Type="http://schemas.openxmlformats.org/officeDocument/2006/relationships/notesSlide" Target="/ppt/notesSlides/notesSlide6.xml" Id="R1646b12d83a04cb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e4b5db6bd4c4ddb" /><Relationship Type="http://schemas.openxmlformats.org/officeDocument/2006/relationships/chart" Target="/ppt/slides/charts/chart4.xml" Id="R69ee0ebe848d4d28" /><Relationship Type="http://schemas.openxmlformats.org/officeDocument/2006/relationships/notesSlide" Target="/ppt/notesSlides/notesSlide7.xml" Id="R607140354de7460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4ccc945d2984d49" /><Relationship Type="http://schemas.openxmlformats.org/officeDocument/2006/relationships/notesSlide" Target="/ppt/notesSlides/notesSlide8.xml" Id="R3fed54fb7fbd4b2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af787a928bc4b13" /><Relationship Type="http://schemas.openxmlformats.org/officeDocument/2006/relationships/notesSlide" Target="/ppt/notesSlides/notesSlide9.xml" Id="Rf9ca85dee1c84bc3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4790a5db7d54d6e" /><Relationship Type="http://schemas.openxmlformats.org/officeDocument/2006/relationships/notesSlide" Target="/ppt/notesSlides/notesSlide10.xml" Id="R57f48b2b8d5947bb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063ad49387643c5" /><Relationship Type="http://schemas.openxmlformats.org/officeDocument/2006/relationships/notesSlide" Target="/ppt/notesSlides/notesSlide11.xml" Id="R55bf003f99414d26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d1b9e172c8c448c" /><Relationship Type="http://schemas.openxmlformats.org/officeDocument/2006/relationships/notesSlide" Target="/ppt/notesSlides/notesSlide12.xml" Id="R27203709077b43d5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5db08848f734b05" /><Relationship Type="http://schemas.openxmlformats.org/officeDocument/2006/relationships/chart" Target="/ppt/slides/charts/chart5.xml" Id="Rdbabd3b0b7944f04" /><Relationship Type="http://schemas.openxmlformats.org/officeDocument/2006/relationships/notesSlide" Target="/ppt/notesSlides/notesSlide13.xml" Id="R4792a12e6473418b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ca26cbfcd7e4844" /><Relationship Type="http://schemas.openxmlformats.org/officeDocument/2006/relationships/chart" Target="/ppt/slides/charts/chart6.xml" Id="Ra3bae3d09ce14e98" /><Relationship Type="http://schemas.openxmlformats.org/officeDocument/2006/relationships/notesSlide" Target="/ppt/notesSlides/notesSlide14.xml" Id="R49823d40d6e840f1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a87e7dc93d5429e" /><Relationship Type="http://schemas.openxmlformats.org/officeDocument/2006/relationships/notesSlide" Target="/ppt/notesSlides/notesSlide15.xml" Id="Rbb9bd33116ea4336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04483a9b07847d4" /><Relationship Type="http://schemas.openxmlformats.org/officeDocument/2006/relationships/chart" Target="/ppt/slides/charts/chart7.xml" Id="Rf4789beb767b4601" /><Relationship Type="http://schemas.openxmlformats.org/officeDocument/2006/relationships/notesSlide" Target="/ppt/notesSlides/notesSlide16.xml" Id="Rc93bb85c3077424e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5a10e762e7a4535" /><Relationship Type="http://schemas.openxmlformats.org/officeDocument/2006/relationships/notesSlide" Target="/ppt/notesSlides/notesSlide17.xml" Id="R820245d5b2be46f3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a303729e02f49d6" /><Relationship Type="http://schemas.openxmlformats.org/officeDocument/2006/relationships/notesSlide" Target="/ppt/notesSlides/notesSlide18.xml" Id="R56daf40e45174aef" /></Relationships>
</file>

<file path=ppt/slides/charts/chart1.xml><?xml version="1.0" encoding="utf-8"?>
<c:chartSpace xmlns:c="http://schemas.openxmlformats.org/drawingml/2006/chart">
  <c:lang val="en-US"/>
  <c:chart>
    <c:plotArea>
      <c:lineChart>
        <c:grouping val="standard"/>
        <c:varyColors val="0"/>
        <c:ser>
          <c:idx val="0"/>
          <c:order val="0"/>
          <c:tx>
            <c:v>Bare metal</c:v>
          </c:tx>
          <c:spPr>
            <a:ln xmlns:a="http://schemas.openxmlformats.org/drawingml/2006/main" w="28575">
              <a:solidFill>
                <a:srgbClr val="1B6E78"/>
              </a:solidFill>
              <a:prstDash val="solid"/>
            </a:ln>
          </c:spPr>
          <c:marker>
            <c:symbol val="circle"/>
            <c:size val="6"/>
            <c:spPr>
              <a:solidFill xmlns:a="http://schemas.openxmlformats.org/drawingml/2006/main">
                <a:srgbClr val="1B6E78"/>
              </a:solidFill>
            </c:spPr>
          </c:marker>
          <c:cat>
            <c:strLit>
              <c:ptCount val="11"/>
              <c:pt idx="0">
                <c:v>1 B</c:v>
              </c:pt>
              <c:pt idx="1">
                <c:v>8 B</c:v>
              </c:pt>
              <c:pt idx="2">
                <c:v>16 B</c:v>
              </c:pt>
              <c:pt idx="3">
                <c:v>64 B</c:v>
              </c:pt>
              <c:pt idx="4">
                <c:v>128 B</c:v>
              </c:pt>
              <c:pt idx="5">
                <c:v>256 B</c:v>
              </c:pt>
              <c:pt idx="6">
                <c:v>512 B</c:v>
              </c:pt>
              <c:pt idx="7">
                <c:v>1,024 B</c:v>
              </c:pt>
              <c:pt idx="8">
                <c:v>4,096 B</c:v>
              </c:pt>
              <c:pt idx="9">
                <c:v>16,384 B</c:v>
              </c:pt>
              <c:pt idx="10">
                <c:v>65,536 B</c:v>
              </c:pt>
            </c:strLit>
          </c:cat>
          <c:val>
            <c:numLit>
              <c:formatCode>0.0</c:formatCode>
              <c:ptCount val="11"/>
              <c:pt idx="0">
                <c:v>0.144473</c:v>
              </c:pt>
              <c:pt idx="1">
                <c:v>0.472995</c:v>
              </c:pt>
              <c:pt idx="2">
                <c:v>0.565012</c:v>
              </c:pt>
              <c:pt idx="3">
                <c:v>0.659972</c:v>
              </c:pt>
              <c:pt idx="4">
                <c:v>0.679065</c:v>
              </c:pt>
              <c:pt idx="5">
                <c:v>0.689037</c:v>
              </c:pt>
              <c:pt idx="6">
                <c:v>0.875261</c:v>
              </c:pt>
              <c:pt idx="7">
                <c:v>1.015504</c:v>
              </c:pt>
              <c:pt idx="8">
                <c:v>1.154327</c:v>
              </c:pt>
              <c:pt idx="9">
                <c:v>1.19514</c:v>
              </c:pt>
              <c:pt idx="10">
                <c:v>1.205804</c:v>
              </c:pt>
            </c:numLit>
          </c:val>
          <c:smooth val="0"/>
        </c:ser>
        <c:ser>
          <c:idx val="1"/>
          <c:order val="1"/>
          <c:tx>
            <c:v>Linux</c:v>
          </c:tx>
          <c:spPr>
            <a:ln xmlns:a="http://schemas.openxmlformats.org/drawingml/2006/main" w="28575">
              <a:solidFill>
                <a:srgbClr val="C35A2B"/>
              </a:solidFill>
              <a:prstDash val="solid"/>
            </a:ln>
          </c:spPr>
          <c:marker>
            <c:symbol val="circle"/>
            <c:size val="6"/>
            <c:spPr>
              <a:solidFill xmlns:a="http://schemas.openxmlformats.org/drawingml/2006/main">
                <a:srgbClr val="C35A2B"/>
              </a:solidFill>
            </c:spPr>
          </c:marker>
          <c:cat>
            <c:strLit>
              <c:ptCount val="11"/>
              <c:pt idx="0">
                <c:v>1 B</c:v>
              </c:pt>
              <c:pt idx="1">
                <c:v>8 B</c:v>
              </c:pt>
              <c:pt idx="2">
                <c:v>16 B</c:v>
              </c:pt>
              <c:pt idx="3">
                <c:v>64 B</c:v>
              </c:pt>
              <c:pt idx="4">
                <c:v>128 B</c:v>
              </c:pt>
              <c:pt idx="5">
                <c:v>256 B</c:v>
              </c:pt>
              <c:pt idx="6">
                <c:v>512 B</c:v>
              </c:pt>
              <c:pt idx="7">
                <c:v>1,024 B</c:v>
              </c:pt>
              <c:pt idx="8">
                <c:v>4,096 B</c:v>
              </c:pt>
              <c:pt idx="9">
                <c:v>16,384 B</c:v>
              </c:pt>
              <c:pt idx="10">
                <c:v>65,536 B</c:v>
              </c:pt>
            </c:strLit>
          </c:cat>
          <c:val>
            <c:numLit>
              <c:formatCode>0.0</c:formatCode>
              <c:ptCount val="11"/>
              <c:pt idx="0">
                <c:v>0.035675</c:v>
              </c:pt>
              <c:pt idx="1">
                <c:v>0.263393</c:v>
              </c:pt>
              <c:pt idx="2">
                <c:v>0.477724</c:v>
              </c:pt>
              <c:pt idx="3">
                <c:v>0.99107</c:v>
              </c:pt>
              <c:pt idx="4">
                <c:v>1.20376</c:v>
              </c:pt>
              <c:pt idx="5">
                <c:v>1.349884</c:v>
              </c:pt>
              <c:pt idx="6">
                <c:v>1.426504</c:v>
              </c:pt>
              <c:pt idx="7">
                <c:v>1.468349</c:v>
              </c:pt>
              <c:pt idx="8">
                <c:v>1.502335</c:v>
              </c:pt>
              <c:pt idx="9">
                <c:v>1.511506</c:v>
              </c:pt>
              <c:pt idx="10">
                <c:v>1.51398</c:v>
              </c:pt>
            </c:numLit>
          </c: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Liberation Sans"/>
                  <a:ea typeface="Liberation Sans"/>
                  <a:cs typeface="Liberation Sans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200">
                    <a:solidFill>
                      <a:srgbClr val="17252C"/>
                    </a:solidFill>
                    <a:latin typeface="Liberation Sans"/>
                    <a:ea typeface="Liberation Sans"/>
                    <a:cs typeface="Liberation Sans"/>
                  </a:rPr>
                  <a:t>Payload size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>
                  <a:solidFill>
                    <a:srgbClr val="17252C"/>
                  </a:solidFill>
                  <a:latin typeface="Liberation Sans"/>
                  <a:ea typeface="Liberation Sans"/>
                  <a:cs typeface="Liberation Sans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8E0E1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</a:p>
        </c:txPr>
        <c:crossAx val="48672768"/>
      </c:catAx>
      <c:valAx>
        <c:axId val="48672768"/>
        <c:scaling>
          <c:orientation val="minMax"/>
          <c:max val="1.7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8E0E1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200">
                    <a:solidFill>
                      <a:srgbClr val="17252C"/>
                    </a:solidFill>
                    <a:latin typeface="Liberation Sans"/>
                    <a:ea typeface="Liberation Sans"/>
                    <a:cs typeface="Liberation Sans"/>
                  </a:rPr>
                  <a:t>Effective payload rate (MB/s)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>
                  <a:solidFill>
                    <a:srgbClr val="17252C"/>
                  </a:solidFill>
                  <a:latin typeface="Liberation Sans"/>
                  <a:ea typeface="Liberation Sans"/>
                  <a:cs typeface="Liberation Sans"/>
                </a:defRPr>
              </a:pPr>
            </a:p>
          </c:txPr>
        </c:title>
        <c:numFmt formatCode="0.0"/>
        <c:majorTickMark val="none"/>
        <c:minorTickMark val="none"/>
        <c:spPr>
          <a:ln xmlns:a="http://schemas.openxmlformats.org/drawingml/2006/main" w="9525">
            <a:solidFill>
              <a:srgbClr val="D8E0E1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</a:p>
        </c:txPr>
        <c:crossAx val="48650112"/>
        <c:crossBetween val="between"/>
        <c:majorUnit val="0.4"/>
      </c:valAx>
      <c:spPr>
        <a:noFill xmlns:a="http://schemas.openxmlformats.org/drawingml/2006/main"/>
        <a:ln xmlns:a="http://schemas.openxmlformats.org/drawingml/2006/main" w="0">
          <a:noFill/>
          <a:prstDash val="solid"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200">
              <a:solidFill>
                <a:srgbClr val="50636B"/>
              </a:solidFill>
              <a:latin typeface="Liberation Sans"/>
              <a:ea typeface="Liberation Sans"/>
              <a:cs typeface="Liberation Sans"/>
            </a:defRPr>
          </a:pPr>
        </a:p>
      </c:txPr>
    </c:legend>
    <c:plotVisOnly val="1"/>
  </c:chart>
  <c:spPr>
    <a:noFill xmlns:a="http://schemas.openxmlformats.org/drawingml/2006/main"/>
    <a:ln xmlns:a="http://schemas.openxmlformats.org/drawingml/2006/main" w="0">
      <a:noFill/>
      <a:prstDash val="solid"/>
    </a:ln>
  </c:spPr>
</c:chartSpace>
</file>

<file path=ppt/slides/charts/chart2.xml><?xml version="1.0" encoding="utf-8"?>
<c:chartSpace xmlns:c="http://schemas.openxmlformats.org/drawingml/2006/chart">
  <c:lang val="en-US"/>
  <c:chart>
    <c:plotArea>
      <c:lineChart>
        <c:grouping val="standard"/>
        <c:varyColors val="0"/>
        <c:ser>
          <c:idx val="0"/>
          <c:order val="0"/>
          <c:tx>
            <c:v>Simulated effective rate</c:v>
          </c:tx>
          <c:spPr>
            <a:ln xmlns:a="http://schemas.openxmlformats.org/drawingml/2006/main" w="28575">
              <a:solidFill>
                <a:srgbClr val="446B9E"/>
              </a:solidFill>
              <a:prstDash val="solid"/>
            </a:ln>
          </c:spPr>
          <c:marker>
            <c:symbol val="circle"/>
            <c:size val="7"/>
            <c:spPr>
              <a:solidFill xmlns:a="http://schemas.openxmlformats.org/drawingml/2006/main">
                <a:srgbClr val="446B9E"/>
              </a:solidFill>
            </c:spPr>
          </c:marker>
          <c:cat>
            <c:strLit>
              <c:ptCount val="6"/>
              <c:pt idx="0">
                <c:v>1 B</c:v>
              </c:pt>
              <c:pt idx="1">
                <c:v>8 B</c:v>
              </c:pt>
              <c:pt idx="2">
                <c:v>16 B</c:v>
              </c:pt>
              <c:pt idx="3">
                <c:v>64 B</c:v>
              </c:pt>
              <c:pt idx="4">
                <c:v>128 B</c:v>
              </c:pt>
              <c:pt idx="5">
                <c:v>256 B</c:v>
              </c:pt>
            </c:strLit>
          </c:cat>
          <c:val>
            <c:numLit>
              <c:formatCode>0.0</c:formatCode>
              <c:ptCount val="6"/>
              <c:pt idx="0">
                <c:v>0.346021</c:v>
              </c:pt>
              <c:pt idx="1">
                <c:v>0.688468</c:v>
              </c:pt>
              <c:pt idx="2">
                <c:v>0.735294</c:v>
              </c:pt>
              <c:pt idx="3">
                <c:v>0.76757</c:v>
              </c:pt>
              <c:pt idx="4">
                <c:v>0.775476</c:v>
              </c:pt>
              <c:pt idx="5">
                <c:v>0.778352</c:v>
              </c:pt>
            </c:numLit>
          </c: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Liberation Sans"/>
                  <a:ea typeface="Liberation Sans"/>
                  <a:cs typeface="Liberation Sans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200">
                    <a:solidFill>
                      <a:srgbClr val="17252C"/>
                    </a:solidFill>
                    <a:latin typeface="Liberation Sans"/>
                    <a:ea typeface="Liberation Sans"/>
                    <a:cs typeface="Liberation Sans"/>
                  </a:rPr>
                  <a:t>Payload size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>
                  <a:solidFill>
                    <a:srgbClr val="17252C"/>
                  </a:solidFill>
                  <a:latin typeface="Liberation Sans"/>
                  <a:ea typeface="Liberation Sans"/>
                  <a:cs typeface="Liberation Sans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8E0E1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</a:p>
        </c:txPr>
        <c:crossAx val="48672768"/>
      </c:catAx>
      <c:valAx>
        <c:axId val="48672768"/>
        <c:scaling>
          <c:orientation val="minMax"/>
          <c:max val="0.9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8E0E1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200">
                    <a:solidFill>
                      <a:srgbClr val="17252C"/>
                    </a:solidFill>
                    <a:latin typeface="Liberation Sans"/>
                    <a:ea typeface="Liberation Sans"/>
                    <a:cs typeface="Liberation Sans"/>
                  </a:rPr>
                  <a:t>Effective simulated rate (MB/s)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>
                  <a:solidFill>
                    <a:srgbClr val="17252C"/>
                  </a:solidFill>
                  <a:latin typeface="Liberation Sans"/>
                  <a:ea typeface="Liberation Sans"/>
                  <a:cs typeface="Liberation Sans"/>
                </a:defRPr>
              </a:pPr>
            </a:p>
          </c:txPr>
        </c:title>
        <c:numFmt formatCode="0.0"/>
        <c:majorTickMark val="none"/>
        <c:minorTickMark val="none"/>
        <c:spPr>
          <a:ln xmlns:a="http://schemas.openxmlformats.org/drawingml/2006/main" w="9525">
            <a:solidFill>
              <a:srgbClr val="D8E0E1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</a:p>
        </c:txPr>
        <c:crossAx val="48650112"/>
        <c:crossBetween val="between"/>
        <c:majorUnit val="0.2"/>
      </c:valAx>
      <c:spPr>
        <a:noFill xmlns:a="http://schemas.openxmlformats.org/drawingml/2006/main"/>
        <a:ln xmlns:a="http://schemas.openxmlformats.org/drawingml/2006/main" w="0">
          <a:noFill/>
          <a:prstDash val="solid"/>
        </a:ln>
      </c:spPr>
    </c:plotArea>
    <c:plotVisOnly val="1"/>
  </c:chart>
  <c:spPr>
    <a:noFill xmlns:a="http://schemas.openxmlformats.org/drawingml/2006/main"/>
    <a:ln xmlns:a="http://schemas.openxmlformats.org/drawingml/2006/main" w="0">
      <a:noFill/>
      <a:prstDash val="solid"/>
    </a:ln>
  </c:spPr>
</c:chartSpace>
</file>

<file path=ppt/slides/charts/chart3.xml><?xml version="1.0" encoding="utf-8"?>
<c:chartSpace xmlns:c="http://schemas.openxmlformats.org/drawingml/2006/chart">
  <c:lang val="en-US"/>
  <c:chart>
    <c:plotArea>
      <c:lineChart>
        <c:grouping val="standard"/>
        <c:varyColors val="0"/>
        <c:ser>
          <c:idx val="0"/>
          <c:order val="0"/>
          <c:tx>
            <c:v>64 KiB standard deviation</c:v>
          </c:tx>
          <c:spPr>
            <a:ln xmlns:a="http://schemas.openxmlformats.org/drawingml/2006/main" w="28575">
              <a:solidFill>
                <a:srgbClr val="C35A2B"/>
              </a:solidFill>
              <a:prstDash val="solid"/>
            </a:ln>
          </c:spPr>
          <c:marker>
            <c:symbol val="circle"/>
            <c:size val="7"/>
            <c:spPr>
              <a:solidFill xmlns:a="http://schemas.openxmlformats.org/drawingml/2006/main">
                <a:srgbClr val="C35A2B"/>
              </a:solidFill>
            </c:spPr>
          </c:marker>
          <c:cat>
            <c:strLit>
              <c:ptCount val="4"/>
              <c:pt idx="0">
                <c:v>1,200 MHz</c:v>
              </c:pt>
              <c:pt idx="1">
                <c:v>600 MHz</c:v>
              </c:pt>
              <c:pt idx="2">
                <c:v>400 MHz</c:v>
              </c:pt>
              <c:pt idx="3">
                <c:v>300 MHz</c:v>
              </c:pt>
            </c:strLit>
          </c:cat>
          <c:val>
            <c:numLit>
              <c:formatCode>0</c:formatCode>
              <c:ptCount val="4"/>
              <c:pt idx="0">
                <c:v>3.87</c:v>
              </c:pt>
              <c:pt idx="1">
                <c:v>5.17</c:v>
              </c:pt>
              <c:pt idx="2">
                <c:v>8.65</c:v>
              </c:pt>
              <c:pt idx="3">
                <c:v>14.23</c:v>
              </c:pt>
            </c:numLit>
          </c: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Liberation Sans"/>
                  <a:ea typeface="Liberation Sans"/>
                  <a:cs typeface="Liberation Sans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200">
                    <a:solidFill>
                      <a:srgbClr val="17252C"/>
                    </a:solidFill>
                    <a:latin typeface="Liberation Sans"/>
                    <a:ea typeface="Liberation Sans"/>
                    <a:cs typeface="Liberation Sans"/>
                  </a:rPr>
                  <a:t>A53 CPU operating point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>
                  <a:solidFill>
                    <a:srgbClr val="17252C"/>
                  </a:solidFill>
                  <a:latin typeface="Liberation Sans"/>
                  <a:ea typeface="Liberation Sans"/>
                  <a:cs typeface="Liberation Sans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8E0E1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</a:p>
        </c:txPr>
        <c:crossAx val="48672768"/>
      </c:catAx>
      <c:valAx>
        <c:axId val="48672768"/>
        <c:scaling>
          <c:orientation val="minMax"/>
          <c:max val="16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8E0E1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200">
                    <a:solidFill>
                      <a:srgbClr val="17252C"/>
                    </a:solidFill>
                    <a:latin typeface="Liberation Sans"/>
                    <a:ea typeface="Liberation Sans"/>
                    <a:cs typeface="Liberation Sans"/>
                  </a:rPr>
                  <a:t>Latency standard deviation (µs)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>
                  <a:solidFill>
                    <a:srgbClr val="17252C"/>
                  </a:solidFill>
                  <a:latin typeface="Liberation Sans"/>
                  <a:ea typeface="Liberation Sans"/>
                  <a:cs typeface="Liberation Sans"/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9525">
            <a:solidFill>
              <a:srgbClr val="D8E0E1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</a:p>
        </c:txPr>
        <c:crossAx val="48650112"/>
        <c:crossBetween val="between"/>
        <c:majorUnit val="4"/>
      </c:valAx>
      <c:spPr>
        <a:noFill xmlns:a="http://schemas.openxmlformats.org/drawingml/2006/main"/>
        <a:ln xmlns:a="http://schemas.openxmlformats.org/drawingml/2006/main" w="0">
          <a:noFill/>
          <a:prstDash val="solid"/>
        </a:ln>
      </c:spPr>
    </c:plotArea>
    <c:plotVisOnly val="1"/>
  </c:chart>
  <c:spPr>
    <a:noFill xmlns:a="http://schemas.openxmlformats.org/drawingml/2006/main"/>
    <a:ln xmlns:a="http://schemas.openxmlformats.org/drawingml/2006/main" w="0">
      <a:noFill/>
      <a:prstDash val="solid"/>
    </a:ln>
  </c:spPr>
</c:chartSpace>
</file>

<file path=ppt/slides/charts/chart4.xml><?xml version="1.0" encoding="utf-8"?>
<c:chartSpace xmlns:c="http://schemas.openxmlformats.org/drawingml/2006/chart">
  <c:lang val="en-US"/>
  <c:chart>
    <c:plotArea>
      <c:lineChart>
        <c:grouping val="standard"/>
        <c:varyColors val="0"/>
        <c:ser>
          <c:idx val="0"/>
          <c:order val="0"/>
          <c:tx>
            <c:v>Linux benchmark thread</c:v>
          </c:tx>
          <c:spPr>
            <a:ln xmlns:a="http://schemas.openxmlformats.org/drawingml/2006/main" w="28575">
              <a:solidFill>
                <a:srgbClr val="446B9E"/>
              </a:solidFill>
              <a:prstDash val="solid"/>
            </a:ln>
          </c:spPr>
          <c:marker>
            <c:symbol val="circle"/>
            <c:size val="6"/>
            <c:spPr>
              <a:solidFill xmlns:a="http://schemas.openxmlformats.org/drawingml/2006/main">
                <a:srgbClr val="446B9E"/>
              </a:solidFill>
            </c:spPr>
          </c:marker>
          <c:cat>
            <c:strLit>
              <c:ptCount val="11"/>
              <c:pt idx="0">
                <c:v>1 B</c:v>
              </c:pt>
              <c:pt idx="1">
                <c:v>8 B</c:v>
              </c:pt>
              <c:pt idx="2">
                <c:v>16 B</c:v>
              </c:pt>
              <c:pt idx="3">
                <c:v>64 B</c:v>
              </c:pt>
              <c:pt idx="4">
                <c:v>128 B</c:v>
              </c:pt>
              <c:pt idx="5">
                <c:v>256 B</c:v>
              </c:pt>
              <c:pt idx="6">
                <c:v>512 B</c:v>
              </c:pt>
              <c:pt idx="7">
                <c:v>1,024 B</c:v>
              </c:pt>
              <c:pt idx="8">
                <c:v>4,096 B</c:v>
              </c:pt>
              <c:pt idx="9">
                <c:v>16,384 B</c:v>
              </c:pt>
              <c:pt idx="10">
                <c:v>65,536 B</c:v>
              </c:pt>
            </c:strLit>
          </c:cat>
          <c:val>
            <c:numLit>
              <c:formatCode>0</c:formatCode>
              <c:ptCount val="11"/>
              <c:pt idx="0">
                <c:v>67.876</c:v>
              </c:pt>
              <c:pt idx="1">
                <c:v>68.199</c:v>
              </c:pt>
              <c:pt idx="2">
                <c:v>66.691</c:v>
              </c:pt>
              <c:pt idx="3">
                <c:v>46.809</c:v>
              </c:pt>
              <c:pt idx="4">
                <c:v>38.577</c:v>
              </c:pt>
              <c:pt idx="5">
                <c:v>32.88</c:v>
              </c:pt>
              <c:pt idx="6">
                <c:v>18.051</c:v>
              </c:pt>
              <c:pt idx="7">
                <c:v>10.002</c:v>
              </c:pt>
              <c:pt idx="8">
                <c:v>3.577</c:v>
              </c:pt>
              <c:pt idx="9">
                <c:v>1.912</c:v>
              </c:pt>
              <c:pt idx="10">
                <c:v>1.474</c:v>
              </c:pt>
            </c:numLit>
          </c: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Liberation Sans"/>
                  <a:ea typeface="Liberation Sans"/>
                  <a:cs typeface="Liberation Sans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200">
                    <a:solidFill>
                      <a:srgbClr val="17252C"/>
                    </a:solidFill>
                    <a:latin typeface="Liberation Sans"/>
                    <a:ea typeface="Liberation Sans"/>
                    <a:cs typeface="Liberation Sans"/>
                  </a:rPr>
                  <a:t>Payload size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>
                  <a:solidFill>
                    <a:srgbClr val="17252C"/>
                  </a:solidFill>
                  <a:latin typeface="Liberation Sans"/>
                  <a:ea typeface="Liberation Sans"/>
                  <a:cs typeface="Liberation Sans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8E0E1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</a:p>
        </c:txPr>
        <c:crossAx val="48672768"/>
      </c:catAx>
      <c:valAx>
        <c:axId val="48672768"/>
        <c:scaling>
          <c:orientation val="minMax"/>
          <c:max val="8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8E0E1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200">
                    <a:solidFill>
                      <a:srgbClr val="17252C"/>
                    </a:solidFill>
                    <a:latin typeface="Liberation Sans"/>
                    <a:ea typeface="Liberation Sans"/>
                    <a:cs typeface="Liberation Sans"/>
                  </a:rPr>
                  <a:t>Thread CPU time / loop wall time (%)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>
                  <a:solidFill>
                    <a:srgbClr val="17252C"/>
                  </a:solidFill>
                  <a:latin typeface="Liberation Sans"/>
                  <a:ea typeface="Liberation Sans"/>
                  <a:cs typeface="Liberation Sans"/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9525">
            <a:solidFill>
              <a:srgbClr val="D8E0E1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</a:p>
        </c:txPr>
        <c:crossAx val="48650112"/>
        <c:crossBetween val="between"/>
        <c:majorUnit val="20"/>
      </c:valAx>
      <c:spPr>
        <a:noFill xmlns:a="http://schemas.openxmlformats.org/drawingml/2006/main"/>
        <a:ln xmlns:a="http://schemas.openxmlformats.org/drawingml/2006/main" w="0">
          <a:noFill/>
          <a:prstDash val="solid"/>
        </a:ln>
      </c:spPr>
    </c:plotArea>
    <c:plotVisOnly val="1"/>
  </c:chart>
  <c:spPr>
    <a:noFill xmlns:a="http://schemas.openxmlformats.org/drawingml/2006/main"/>
    <a:ln xmlns:a="http://schemas.openxmlformats.org/drawingml/2006/main" w="0">
      <a:noFill/>
      <a:prstDash val="solid"/>
    </a:ln>
  </c:spPr>
</c:chartSpace>
</file>

<file path=ppt/slides/charts/chart5.xml><?xml version="1.0" encoding="utf-8"?>
<c:chartSpace xmlns:c="http://schemas.openxmlformats.org/drawingml/2006/chart">
  <c:lang val="en-US"/>
  <c:chart>
    <c:plotArea>
      <c:lineChart>
        <c:grouping val="standard"/>
        <c:varyColors val="0"/>
        <c:ser>
          <c:idx val="0"/>
          <c:order val="0"/>
          <c:tx>
            <c:v>Linux (latency-derived rate)</c:v>
          </c:tx>
          <c:spPr>
            <a:ln xmlns:a="http://schemas.openxmlformats.org/drawingml/2006/main" w="28575">
              <a:solidFill>
                <a:srgbClr val="446B9E"/>
              </a:solidFill>
              <a:prstDash val="solid"/>
            </a:ln>
          </c:spPr>
          <c:marker>
            <c:symbol val="circle"/>
            <c:size val="7"/>
            <c:spPr>
              <a:solidFill xmlns:a="http://schemas.openxmlformats.org/drawingml/2006/main">
                <a:srgbClr val="446B9E"/>
              </a:solidFill>
            </c:spPr>
          </c:marker>
          <c:cat>
            <c:strLit>
              <c:ptCount val="11"/>
              <c:pt idx="0">
                <c:v>1 B</c:v>
              </c:pt>
              <c:pt idx="1">
                <c:v>8 B</c:v>
              </c:pt>
              <c:pt idx="2">
                <c:v>16 B</c:v>
              </c:pt>
              <c:pt idx="3">
                <c:v>64 B</c:v>
              </c:pt>
              <c:pt idx="4">
                <c:v>128 B</c:v>
              </c:pt>
              <c:pt idx="5">
                <c:v>256 B</c:v>
              </c:pt>
              <c:pt idx="6">
                <c:v>512 B</c:v>
              </c:pt>
              <c:pt idx="7">
                <c:v>1,024 B</c:v>
              </c:pt>
              <c:pt idx="8">
                <c:v>4,096 B</c:v>
              </c:pt>
              <c:pt idx="9">
                <c:v>16,384 B</c:v>
              </c:pt>
              <c:pt idx="10">
                <c:v>65,536 B</c:v>
              </c:pt>
            </c:strLit>
          </c:cat>
          <c:val>
            <c:numLit>
              <c:formatCode>0.0</c:formatCode>
              <c:ptCount val="11"/>
              <c:pt idx="0">
                <c:v>0.039606</c:v>
              </c:pt>
              <c:pt idx="1">
                <c:v>0.265803</c:v>
              </c:pt>
              <c:pt idx="2">
                <c:v>0.477591</c:v>
              </c:pt>
              <c:pt idx="3">
                <c:v>0.990138</c:v>
              </c:pt>
              <c:pt idx="4">
                <c:v>1.196483</c:v>
              </c:pt>
              <c:pt idx="5">
                <c:v>1.337257</c:v>
              </c:pt>
              <c:pt idx="6">
                <c:v>1.411314</c:v>
              </c:pt>
              <c:pt idx="7">
                <c:v>1.451632</c:v>
              </c:pt>
              <c:pt idx="8">
                <c:v>1.484795</c:v>
              </c:pt>
              <c:pt idx="9">
                <c:v>1.493652</c:v>
              </c:pt>
              <c:pt idx="10">
                <c:v>1.496068</c:v>
              </c:pt>
            </c:numLit>
          </c:val>
          <c:smooth val="0"/>
        </c:ser>
        <c:ser>
          <c:idx val="1"/>
          <c:order val="1"/>
          <c:tx>
            <c:v>Bare metal (latency-derived rate)</c:v>
          </c:tx>
          <c:spPr>
            <a:ln xmlns:a="http://schemas.openxmlformats.org/drawingml/2006/main" w="28575">
              <a:solidFill>
                <a:srgbClr val="C35A2B"/>
              </a:solidFill>
              <a:prstDash val="solid"/>
            </a:ln>
          </c:spPr>
          <c:marker>
            <c:symbol val="square"/>
            <c:size val="7"/>
            <c:spPr>
              <a:solidFill xmlns:a="http://schemas.openxmlformats.org/drawingml/2006/main">
                <a:srgbClr val="C35A2B"/>
              </a:solidFill>
            </c:spPr>
          </c:marker>
          <c:cat>
            <c:strLit>
              <c:ptCount val="11"/>
              <c:pt idx="0">
                <c:v>1 B</c:v>
              </c:pt>
              <c:pt idx="1">
                <c:v>8 B</c:v>
              </c:pt>
              <c:pt idx="2">
                <c:v>16 B</c:v>
              </c:pt>
              <c:pt idx="3">
                <c:v>64 B</c:v>
              </c:pt>
              <c:pt idx="4">
                <c:v>128 B</c:v>
              </c:pt>
              <c:pt idx="5">
                <c:v>256 B</c:v>
              </c:pt>
              <c:pt idx="6">
                <c:v>512 B</c:v>
              </c:pt>
              <c:pt idx="7">
                <c:v>1,024 B</c:v>
              </c:pt>
              <c:pt idx="8">
                <c:v>4,096 B</c:v>
              </c:pt>
              <c:pt idx="9">
                <c:v>16,384 B</c:v>
              </c:pt>
              <c:pt idx="10">
                <c:v>65,536 B</c:v>
              </c:pt>
            </c:strLit>
          </c:cat>
          <c:val>
            <c:numLit>
              <c:formatCode>0.0</c:formatCode>
              <c:ptCount val="11"/>
              <c:pt idx="0">
                <c:v>0.143845</c:v>
              </c:pt>
              <c:pt idx="1">
                <c:v>0.472271</c:v>
              </c:pt>
              <c:pt idx="2">
                <c:v>0.564728</c:v>
              </c:pt>
              <c:pt idx="3">
                <c:v>0.659896</c:v>
              </c:pt>
              <c:pt idx="4">
                <c:v>0.679004</c:v>
              </c:pt>
              <c:pt idx="5">
                <c:v>0.688989</c:v>
              </c:pt>
              <c:pt idx="6">
                <c:v>0.871459</c:v>
              </c:pt>
              <c:pt idx="7">
                <c:v>1.007844</c:v>
              </c:pt>
              <c:pt idx="8">
                <c:v>1.142011</c:v>
              </c:pt>
              <c:pt idx="9">
                <c:v>1.181295</c:v>
              </c:pt>
              <c:pt idx="10">
                <c:v>1.19155</c:v>
              </c:pt>
            </c:numLit>
          </c: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Liberation Sans"/>
                  <a:ea typeface="Liberation Sans"/>
                  <a:cs typeface="Liberation Sans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200">
                    <a:solidFill>
                      <a:srgbClr val="17252C"/>
                    </a:solidFill>
                    <a:latin typeface="Liberation Sans"/>
                    <a:ea typeface="Liberation Sans"/>
                    <a:cs typeface="Liberation Sans"/>
                  </a:rPr>
                  <a:t>Payload size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>
                  <a:solidFill>
                    <a:srgbClr val="17252C"/>
                  </a:solidFill>
                  <a:latin typeface="Liberation Sans"/>
                  <a:ea typeface="Liberation Sans"/>
                  <a:cs typeface="Liberation Sans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8E0E1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</a:p>
        </c:txPr>
        <c:crossAx val="48672768"/>
      </c:catAx>
      <c:valAx>
        <c:axId val="48672768"/>
        <c:scaling>
          <c:orientation val="minMax"/>
          <c:max val="1.7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8E0E1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200">
                    <a:solidFill>
                      <a:srgbClr val="17252C"/>
                    </a:solidFill>
                    <a:latin typeface="Liberation Sans"/>
                    <a:ea typeface="Liberation Sans"/>
                    <a:cs typeface="Liberation Sans"/>
                  </a:rPr>
                  <a:t>Derived payload rate (MB/s)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>
                  <a:solidFill>
                    <a:srgbClr val="17252C"/>
                  </a:solidFill>
                  <a:latin typeface="Liberation Sans"/>
                  <a:ea typeface="Liberation Sans"/>
                  <a:cs typeface="Liberation Sans"/>
                </a:defRPr>
              </a:pPr>
            </a:p>
          </c:txPr>
        </c:title>
        <c:numFmt formatCode="0.0"/>
        <c:majorTickMark val="none"/>
        <c:minorTickMark val="none"/>
        <c:spPr>
          <a:ln xmlns:a="http://schemas.openxmlformats.org/drawingml/2006/main" w="9525">
            <a:solidFill>
              <a:srgbClr val="D8E0E1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</a:p>
        </c:txPr>
        <c:crossAx val="48650112"/>
        <c:crossBetween val="between"/>
        <c:majorUnit val="0.4"/>
      </c:valAx>
      <c:spPr>
        <a:noFill xmlns:a="http://schemas.openxmlformats.org/drawingml/2006/main"/>
        <a:ln xmlns:a="http://schemas.openxmlformats.org/drawingml/2006/main" w="0">
          <a:noFill/>
          <a:prstDash val="solid"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200">
              <a:solidFill>
                <a:srgbClr val="50636B"/>
              </a:solidFill>
              <a:latin typeface="Liberation Sans"/>
              <a:ea typeface="Liberation Sans"/>
              <a:cs typeface="Liberation Sans"/>
            </a:defRPr>
          </a:pPr>
        </a:p>
      </c:txPr>
    </c:legend>
    <c:plotVisOnly val="1"/>
  </c:chart>
  <c:spPr>
    <a:noFill xmlns:a="http://schemas.openxmlformats.org/drawingml/2006/main"/>
    <a:ln xmlns:a="http://schemas.openxmlformats.org/drawingml/2006/main" w="0">
      <a:noFill/>
      <a:prstDash val="solid"/>
    </a:ln>
  </c:spPr>
</c:chartSpace>
</file>

<file path=ppt/slides/charts/chart6.xml><?xml version="1.0" encoding="utf-8"?>
<c:chartSpace xmlns:c="http://schemas.openxmlformats.org/drawingml/2006/chart">
  <c:lang val="en-US"/>
  <c:chart>
    <c:plotArea>
      <c:lineChart>
        <c:grouping val="standard"/>
        <c:varyColors val="0"/>
        <c:ser>
          <c:idx val="0"/>
          <c:order val="0"/>
          <c:tx>
            <c:v>Linux median</c:v>
          </c:tx>
          <c:spPr>
            <a:ln xmlns:a="http://schemas.openxmlformats.org/drawingml/2006/main" w="28575">
              <a:solidFill>
                <a:srgbClr val="446B9E"/>
              </a:solidFill>
              <a:prstDash val="solid"/>
            </a:ln>
          </c:spPr>
          <c:marker>
            <c:symbol val="circle"/>
            <c:size val="7"/>
            <c:spPr>
              <a:solidFill xmlns:a="http://schemas.openxmlformats.org/drawingml/2006/main">
                <a:srgbClr val="446B9E"/>
              </a:solidFill>
            </c:spPr>
          </c:marker>
          <c:cat>
            <c:strLit>
              <c:ptCount val="11"/>
              <c:pt idx="0">
                <c:v>1 B</c:v>
              </c:pt>
              <c:pt idx="1">
                <c:v>8 B</c:v>
              </c:pt>
              <c:pt idx="2">
                <c:v>16 B</c:v>
              </c:pt>
              <c:pt idx="3">
                <c:v>64 B</c:v>
              </c:pt>
              <c:pt idx="4">
                <c:v>128 B</c:v>
              </c:pt>
              <c:pt idx="5">
                <c:v>256 B</c:v>
              </c:pt>
              <c:pt idx="6">
                <c:v>512 B</c:v>
              </c:pt>
              <c:pt idx="7">
                <c:v>1,024 B</c:v>
              </c:pt>
              <c:pt idx="8">
                <c:v>4,096 B</c:v>
              </c:pt>
              <c:pt idx="9">
                <c:v>16,384 B</c:v>
              </c:pt>
              <c:pt idx="10">
                <c:v>65,536 B</c:v>
              </c:pt>
            </c:strLit>
          </c:cat>
          <c:val>
            <c:numLit>
              <c:formatCode>0.0</c:formatCode>
              <c:ptCount val="11"/>
              <c:pt idx="0">
                <c:v>0.057752521</c:v>
              </c:pt>
              <c:pt idx="1">
                <c:v>0.266413556</c:v>
              </c:pt>
              <c:pt idx="2">
                <c:v>0.472585093</c:v>
              </c:pt>
              <c:pt idx="3">
                <c:v>0.98231498</c:v>
              </c:pt>
              <c:pt idx="4">
                <c:v>1.191949759</c:v>
              </c:pt>
              <c:pt idx="5">
                <c:v>1.333201</c:v>
              </c:pt>
              <c:pt idx="6">
                <c:v>1.40799965</c:v>
              </c:pt>
              <c:pt idx="7">
                <c:v>1.449179768</c:v>
              </c:pt>
              <c:pt idx="8">
                <c:v>1.483122032</c:v>
              </c:pt>
              <c:pt idx="9">
                <c:v>1.492404617</c:v>
              </c:pt>
              <c:pt idx="10">
                <c:v>1.494882206</c:v>
              </c:pt>
            </c:numLit>
          </c:val>
          <c:smooth val="0"/>
        </c:ser>
        <c:ser>
          <c:idx val="1"/>
          <c:order val="1"/>
          <c:tx>
            <c:v>Bare-metal median</c:v>
          </c:tx>
          <c:spPr>
            <a:ln xmlns:a="http://schemas.openxmlformats.org/drawingml/2006/main" w="28575">
              <a:solidFill>
                <a:srgbClr val="C35A2B"/>
              </a:solidFill>
              <a:prstDash val="solid"/>
            </a:ln>
          </c:spPr>
          <c:marker>
            <c:symbol val="square"/>
            <c:size val="7"/>
            <c:spPr>
              <a:solidFill xmlns:a="http://schemas.openxmlformats.org/drawingml/2006/main">
                <a:srgbClr val="C35A2B"/>
              </a:solidFill>
            </c:spPr>
          </c:marker>
          <c:cat>
            <c:strLit>
              <c:ptCount val="11"/>
              <c:pt idx="0">
                <c:v>1 B</c:v>
              </c:pt>
              <c:pt idx="1">
                <c:v>8 B</c:v>
              </c:pt>
              <c:pt idx="2">
                <c:v>16 B</c:v>
              </c:pt>
              <c:pt idx="3">
                <c:v>64 B</c:v>
              </c:pt>
              <c:pt idx="4">
                <c:v>128 B</c:v>
              </c:pt>
              <c:pt idx="5">
                <c:v>256 B</c:v>
              </c:pt>
              <c:pt idx="6">
                <c:v>512 B</c:v>
              </c:pt>
              <c:pt idx="7">
                <c:v>1,024 B</c:v>
              </c:pt>
              <c:pt idx="8">
                <c:v>4,096 B</c:v>
              </c:pt>
              <c:pt idx="9">
                <c:v>16,384 B</c:v>
              </c:pt>
              <c:pt idx="10">
                <c:v>65,536 B</c:v>
              </c:pt>
            </c:strLit>
          </c:cat>
          <c:val>
            <c:numLit>
              <c:formatCode>0.0</c:formatCode>
              <c:ptCount val="11"/>
              <c:pt idx="0">
                <c:v>0.141829794</c:v>
              </c:pt>
              <c:pt idx="1">
                <c:v>0.467718099</c:v>
              </c:pt>
              <c:pt idx="2">
                <c:v>0.56064601</c:v>
              </c:pt>
              <c:pt idx="3">
                <c:v>0.655888606</c:v>
              </c:pt>
              <c:pt idx="4">
                <c:v>0.674999375</c:v>
              </c:pt>
              <c:pt idx="5">
                <c:v>0.684938151</c:v>
              </c:pt>
              <c:pt idx="6">
                <c:v>0.865134151</c:v>
              </c:pt>
              <c:pt idx="7">
                <c:v>0.999455378</c:v>
              </c:pt>
              <c:pt idx="8">
                <c:v>1.131240622</c:v>
              </c:pt>
              <c:pt idx="9">
                <c:v>1.169754492</c:v>
              </c:pt>
              <c:pt idx="10">
                <c:v>1.17969579</c:v>
              </c:pt>
            </c:numLit>
          </c: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Liberation Sans"/>
                  <a:ea typeface="Liberation Sans"/>
                  <a:cs typeface="Liberation Sans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200">
                    <a:solidFill>
                      <a:srgbClr val="17252C"/>
                    </a:solidFill>
                    <a:latin typeface="Liberation Sans"/>
                    <a:ea typeface="Liberation Sans"/>
                    <a:cs typeface="Liberation Sans"/>
                  </a:rPr>
                  <a:t>Payload size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>
                  <a:solidFill>
                    <a:srgbClr val="17252C"/>
                  </a:solidFill>
                  <a:latin typeface="Liberation Sans"/>
                  <a:ea typeface="Liberation Sans"/>
                  <a:cs typeface="Liberation Sans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8E0E1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</a:p>
        </c:txPr>
        <c:crossAx val="48672768"/>
      </c:catAx>
      <c:valAx>
        <c:axId val="48672768"/>
        <c:scaling>
          <c:orientation val="minMax"/>
          <c:max val="1.6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8E0E1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200">
                    <a:solidFill>
                      <a:srgbClr val="17252C"/>
                    </a:solidFill>
                    <a:latin typeface="Liberation Sans"/>
                    <a:ea typeface="Liberation Sans"/>
                    <a:cs typeface="Liberation Sans"/>
                  </a:rPr>
                  <a:t>Verified application payload rate (MB/s)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>
                  <a:solidFill>
                    <a:srgbClr val="17252C"/>
                  </a:solidFill>
                  <a:latin typeface="Liberation Sans"/>
                  <a:ea typeface="Liberation Sans"/>
                  <a:cs typeface="Liberation Sans"/>
                </a:defRPr>
              </a:pPr>
            </a:p>
          </c:txPr>
        </c:title>
        <c:numFmt formatCode="0.0"/>
        <c:majorTickMark val="none"/>
        <c:minorTickMark val="none"/>
        <c:spPr>
          <a:ln xmlns:a="http://schemas.openxmlformats.org/drawingml/2006/main" w="9525">
            <a:solidFill>
              <a:srgbClr val="D8E0E1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</a:p>
        </c:txPr>
        <c:crossAx val="48650112"/>
        <c:crossBetween val="between"/>
        <c:majorUnit val="0.4"/>
      </c:valAx>
      <c:spPr>
        <a:noFill xmlns:a="http://schemas.openxmlformats.org/drawingml/2006/main"/>
        <a:ln xmlns:a="http://schemas.openxmlformats.org/drawingml/2006/main" w="0">
          <a:noFill/>
          <a:prstDash val="solid"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200">
              <a:solidFill>
                <a:srgbClr val="50636B"/>
              </a:solidFill>
              <a:latin typeface="Liberation Sans"/>
              <a:ea typeface="Liberation Sans"/>
              <a:cs typeface="Liberation Sans"/>
            </a:defRPr>
          </a:pPr>
        </a:p>
      </c:txPr>
    </c:legend>
    <c:plotVisOnly val="1"/>
  </c:chart>
  <c:spPr>
    <a:noFill xmlns:a="http://schemas.openxmlformats.org/drawingml/2006/main"/>
    <a:ln xmlns:a="http://schemas.openxmlformats.org/drawingml/2006/main" w="0">
      <a:noFill/>
      <a:prstDash val="solid"/>
    </a:ln>
  </c:spPr>
</c:chartSpace>
</file>

<file path=ppt/slides/charts/chart7.xml><?xml version="1.0" encoding="utf-8"?>
<c:chartSpace xmlns:c="http://schemas.openxmlformats.org/drawingml/2006/chart">
  <c:lang val="en-US"/>
  <c:chart>
    <c:plotArea>
      <c:lineChart>
        <c:grouping val="standard"/>
        <c:varyColors val="0"/>
        <c:ser>
          <c:idx val="0"/>
          <c:order val="0"/>
          <c:tx>
            <c:v>Median rate change</c:v>
          </c:tx>
          <c:spPr>
            <a:ln xmlns:a="http://schemas.openxmlformats.org/drawingml/2006/main" w="28575">
              <a:solidFill>
                <a:srgbClr val="446B9E"/>
              </a:solidFill>
              <a:prstDash val="solid"/>
            </a:ln>
          </c:spPr>
          <c:marker>
            <c:symbol val="circle"/>
            <c:size val="8"/>
            <c:spPr>
              <a:solidFill xmlns:a="http://schemas.openxmlformats.org/drawingml/2006/main">
                <a:srgbClr val="446B9E"/>
              </a:solidFill>
            </c:spPr>
          </c:marker>
          <c:cat>
            <c:strLit>
              <c:ptCount val="11"/>
              <c:pt idx="0">
                <c:v>1 B</c:v>
              </c:pt>
              <c:pt idx="1">
                <c:v>8 B</c:v>
              </c:pt>
              <c:pt idx="2">
                <c:v>16 B</c:v>
              </c:pt>
              <c:pt idx="3">
                <c:v>64 B</c:v>
              </c:pt>
              <c:pt idx="4">
                <c:v>128 B</c:v>
              </c:pt>
              <c:pt idx="5">
                <c:v>256 B</c:v>
              </c:pt>
              <c:pt idx="6">
                <c:v>512 B</c:v>
              </c:pt>
              <c:pt idx="7">
                <c:v>1,024 B</c:v>
              </c:pt>
              <c:pt idx="8">
                <c:v>4,096 B</c:v>
              </c:pt>
              <c:pt idx="9">
                <c:v>16,384 B</c:v>
              </c:pt>
              <c:pt idx="10">
                <c:v>65,536 B</c:v>
              </c:pt>
            </c:strLit>
          </c:cat>
          <c:val>
            <c:numLit>
              <c:formatCode>0.0</c:formatCode>
              <c:ptCount val="11"/>
              <c:pt idx="0">
                <c:v>0.23708065175640503</c:v>
              </c:pt>
              <c:pt idx="1">
                <c:v>0.08323432444292678</c:v>
              </c:pt>
              <c:pt idx="2">
                <c:v>0.0043908276454063255</c:v>
              </c:pt>
              <c:pt idx="3">
                <c:v>0.004336407087990324</c:v>
              </c:pt>
              <c:pt idx="4">
                <c:v>-0.003633632994104463</c:v>
              </c:pt>
              <c:pt idx="5">
                <c:v>-0.002961581271287983</c:v>
              </c:pt>
              <c:pt idx="6">
                <c:v>0.33217484209566717</c:v>
              </c:pt>
              <c:pt idx="7">
                <c:v>0.5846285015437713</c:v>
              </c:pt>
              <c:pt idx="8">
                <c:v>0.8289873805468861</c:v>
              </c:pt>
              <c:pt idx="9">
                <c:v>0.9030905264520994</c:v>
              </c:pt>
              <c:pt idx="10">
                <c:v>0.9239160716170591</c:v>
              </c:pt>
            </c:numLit>
          </c: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Liberation Sans"/>
                  <a:ea typeface="Liberation Sans"/>
                  <a:cs typeface="Liberation Sans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200">
                    <a:solidFill>
                      <a:srgbClr val="17252C"/>
                    </a:solidFill>
                    <a:latin typeface="Liberation Sans"/>
                    <a:ea typeface="Liberation Sans"/>
                    <a:cs typeface="Liberation Sans"/>
                  </a:rPr>
                  <a:t>Payload size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>
                  <a:solidFill>
                    <a:srgbClr val="17252C"/>
                  </a:solidFill>
                  <a:latin typeface="Liberation Sans"/>
                  <a:ea typeface="Liberation Sans"/>
                  <a:cs typeface="Liberation Sans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8E0E1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</a:p>
        </c:txPr>
        <c:crossAx val="48672768"/>
      </c:catAx>
      <c:valAx>
        <c:axId val="48672768"/>
        <c:scaling>
          <c:orientation val="minMax"/>
          <c:max val="1.1"/>
          <c:min val="-0.2"/>
        </c:scaling>
        <c:delete val="0"/>
        <c:axPos val="l"/>
        <c:majorGridlines>
          <c:spPr>
            <a:ln xmlns:a="http://schemas.openxmlformats.org/drawingml/2006/main" w="9525">
              <a:solidFill>
                <a:srgbClr val="D8E0E1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200">
                    <a:solidFill>
                      <a:srgbClr val="17252C"/>
                    </a:solidFill>
                    <a:latin typeface="Liberation Sans"/>
                    <a:ea typeface="Liberation Sans"/>
                    <a:cs typeface="Liberation Sans"/>
                  </a:rPr>
                  <a:t>Change from prior median (%)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>
                  <a:solidFill>
                    <a:srgbClr val="17252C"/>
                  </a:solidFill>
                  <a:latin typeface="Liberation Sans"/>
                  <a:ea typeface="Liberation Sans"/>
                  <a:cs typeface="Liberation Sans"/>
                </a:defRPr>
              </a:pPr>
            </a:p>
          </c:txPr>
        </c:title>
        <c:numFmt formatCode="0.0"/>
        <c:majorTickMark val="none"/>
        <c:minorTickMark val="none"/>
        <c:spPr>
          <a:ln xmlns:a="http://schemas.openxmlformats.org/drawingml/2006/main" w="9525">
            <a:solidFill>
              <a:srgbClr val="D8E0E1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</a:p>
        </c:txPr>
        <c:crossAx val="48650112"/>
        <c:crossBetween val="between"/>
        <c:majorUnit val="0.2"/>
      </c:valAx>
      <c:spPr>
        <a:noFill xmlns:a="http://schemas.openxmlformats.org/drawingml/2006/main"/>
        <a:ln xmlns:a="http://schemas.openxmlformats.org/drawingml/2006/main" w="0">
          <a:noFill/>
          <a:prstDash val="solid"/>
        </a:ln>
      </c:spPr>
    </c:plotArea>
    <c:plotVisOnly val="1"/>
  </c:chart>
  <c:spPr>
    <a:noFill xmlns:a="http://schemas.openxmlformats.org/drawingml/2006/main"/>
    <a:ln xmlns:a="http://schemas.openxmlformats.org/drawingml/2006/main" w="0">
      <a:noFill/>
      <a:prstDash val="solid"/>
    </a:ln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C32D2CE-C011-42D0-BB7B-842D66737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286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6E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7712A5D-7526-40C9-8282-63DA0D9F2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952500"/>
            <a:ext cx="1028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350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rPr>
              <a:t>MORGAN STATE UNIVERSITY  /  MSU-2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EC324B0-6253-45B1-98ED-5658E9C17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57375"/>
            <a:ext cx="9810750" cy="1390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40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40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40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Task 2: SPI performance,</a:t>
            </a:r>
          </a:p>
          <a:p xmlns:a="http://schemas.openxmlformats.org/drawingml/2006/main">
            <a:pPr algn="l">
              <a:defRPr sz="40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40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determinism and secure integration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0F5C5E4-B6EF-49BD-9544-188CDCB27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38550"/>
            <a:ext cx="92392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202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02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Evidence review: completed comparisons, simulation findings, and remaining verification work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FE6EC7F-D43E-495E-9B24-AF695A23B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524500"/>
            <a:ext cx="857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35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ZCU102  ·  AXI Quad SPI  ·  J55 loopback  ·  Evidence through 17 October 2026</a:t>
            </a:r>
          </a:p>
        </p:txBody>
      </p:sp>
    </p:spTree>
    <p:extLst>
      <p:ext uri="{BB962C8B-B14F-4D97-AF65-F5344CB8AC3E}">
        <p14:creationId xmlns:p14="http://schemas.microsoft.com/office/powerpoint/2010/main" val="8149269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039E02F-C994-423A-850E-7D2305600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"/>
            <a:ext cx="10668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rPr>
              <a:t>2A  /  PERFORMANCE GAP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9E4139A-3743-40AF-8C6C-7CDBFE10B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10763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Linux and bare metal cross over by payload size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88D3848-8C65-4083-9396-06F5ACC90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9065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4728FB5-412C-464F-A86E-956736C14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0"/>
            <a:ext cx="1066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MSU-2  ·  Task 2 evidence review  ·  17 Oct 2026                                      02</a:t>
            </a:r>
          </a:p>
        </p:txBody>
      </p:sp>
      <p:graphicFrame>
        <p:nvGraphicFramePr>
          <p:cNvPr id="5" name="Chart">
            <a:extLst xmlns:a="http://schemas.openxmlformats.org/drawingml/2006/main">
              <a:ext uri="{FF2B5EF4-FFF2-40B4-BE49-F238E27FC236}">
                <a16:creationId xmlns:a16="http://schemas.microsoft.com/office/drawing/2014/main" id="{0BF79194-57BC-45D1-960C-A0DE70B2C9DB}"/>
              </a:ext>
            </a:extLst>
          </p:cNvPr>
          <p:cNvGraphicFramePr/>
          <p:nvPr/>
        </p:nvGraphicFramePr>
        <p:xfrm>
          <a:off xmlns:a="http://schemas.openxmlformats.org/drawingml/2006/main" x="533400" y="1676400"/>
          <a:ext xmlns:a="http://schemas.openxmlformats.org/drawingml/2006/main" cx="7524750" cy="41433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a3b140d50876406e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2EE7D7D-8275-4ECB-9009-22DB54E77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1809750"/>
            <a:ext cx="304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9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9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11,000 transfers per path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D24BDAE-CE21-4C85-80B6-243F4C368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400300"/>
            <a:ext cx="3048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Zero API errors and zero RX mismatches in both captured runs.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E6E7BC1-FE05-414D-8B48-4CB02873B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3276600"/>
            <a:ext cx="304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800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rPr>
              <a:t>Crossover: 16–64 bytes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6146744-C453-4A3D-BF83-93D750603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3686175"/>
            <a:ext cx="3048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Linux is slower for 1–16 B and faster from 64 B upward in this run. Rates include end-to-end software cost; they are not wire throughput.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B0B0335-1A3C-4B56-A97F-9308BB9C9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5048250"/>
            <a:ext cx="304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2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Measured paths: SPI ioctl vs XSpi interrupt transfer.</a:t>
            </a:r>
          </a:p>
        </p:txBody>
      </p:sp>
    </p:spTree>
    <p:extLst>
      <p:ext uri="{BB962C8B-B14F-4D97-AF65-F5344CB8AC3E}">
        <p14:creationId xmlns:p14="http://schemas.microsoft.com/office/powerpoint/2010/main" val="41348401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59E5489-6815-4538-8EBB-66724FD40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"/>
            <a:ext cx="10668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rPr>
              <a:t>2B  /  PIO AND DMA MECHANISMS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69D3E40-C9D1-4084-B677-C10CAFF6C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10763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CDMA loopback simulation passes six payload sizes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50720A7-6FC3-4296-ADC6-8C6509C66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9065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06A4F86-0052-44C1-A4BD-14160ADD9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0"/>
            <a:ext cx="1066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MSU-2  ·  Task 2 evidence review  ·  17 Oct 2026                                      03</a:t>
            </a:r>
          </a:p>
        </p:txBody>
      </p:sp>
      <p:graphicFrame>
        <p:nvGraphicFramePr>
          <p:cNvPr id="5" name="Chart">
            <a:extLst xmlns:a="http://schemas.openxmlformats.org/drawingml/2006/main">
              <a:ext uri="{FF2B5EF4-FFF2-40B4-BE49-F238E27FC236}">
                <a16:creationId xmlns:a16="http://schemas.microsoft.com/office/drawing/2014/main" id="{07126906-F3B3-466D-BB00-8D287B43FB3D}"/>
              </a:ext>
            </a:extLst>
          </p:cNvPr>
          <p:cNvGraphicFramePr/>
          <p:nvPr/>
        </p:nvGraphicFramePr>
        <p:xfrm>
          <a:off xmlns:a="http://schemas.openxmlformats.org/drawingml/2006/main" x="533400" y="1676400"/>
          <a:ext xmlns:a="http://schemas.openxmlformats.org/drawingml/2006/main" cx="7524750" cy="41433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a357352a33874de0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9E54798-4D3E-43EE-90C8-F5153725D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1809750"/>
            <a:ext cx="304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950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950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rPr>
              <a:t>2b assessment complete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E4DF10A-F927-4D71-95CE-019374E00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457450"/>
            <a:ext cx="3048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6 / 6 simulated DMA sizes passed; every received byte matched.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CDB16F7-49E9-4D43-BA8C-B09B972A1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3476625"/>
            <a:ext cx="304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7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7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What this proves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C051A33-3052-4E4F-9531-030FB18ED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3886200"/>
            <a:ext cx="30480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42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The AXI CDMA keyhole path can feed the modeled AXI Quad SPI DTR and complete internal-loopback transfers.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5BB0677-A983-4E89-8EA1-95C4A5849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4953000"/>
            <a:ext cx="304800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350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rPr>
              <a:t>PIO is physically measured on slide 2. DMA points here are simulation only; no physical DMA or crossover is claimed.</a:t>
            </a:r>
          </a:p>
        </p:txBody>
      </p:sp>
    </p:spTree>
    <p:extLst>
      <p:ext uri="{BB962C8B-B14F-4D97-AF65-F5344CB8AC3E}">
        <p14:creationId xmlns:p14="http://schemas.microsoft.com/office/powerpoint/2010/main" val="3731820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2B027EB-9C96-4313-B05A-7863BEE70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"/>
            <a:ext cx="10668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rPr>
              <a:t>2C  /  REAL-TIME SUITABILITY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8E2296B-A003-4F2A-B8B0-F9CCEBBD5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10763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Linux timing spread grows as CPU frequency falls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DC0F32F-DF76-4066-8E9F-43567AF99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9065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038F174-45C6-4FF5-A369-6C41C7DCC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0"/>
            <a:ext cx="1066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MSU-2  ·  Task 2 evidence review  ·  17 Oct 2026                                      04</a:t>
            </a:r>
          </a:p>
        </p:txBody>
      </p:sp>
      <p:graphicFrame>
        <p:nvGraphicFramePr>
          <p:cNvPr id="5" name="Chart">
            <a:extLst xmlns:a="http://schemas.openxmlformats.org/drawingml/2006/main">
              <a:ext uri="{FF2B5EF4-FFF2-40B4-BE49-F238E27FC236}">
                <a16:creationId xmlns:a16="http://schemas.microsoft.com/office/drawing/2014/main" id="{26EA74A5-C9DE-4AA5-80A5-3E28F961E029}"/>
              </a:ext>
            </a:extLst>
          </p:cNvPr>
          <p:cNvGraphicFramePr/>
          <p:nvPr/>
        </p:nvGraphicFramePr>
        <p:xfrm>
          <a:off xmlns:a="http://schemas.openxmlformats.org/drawingml/2006/main" x="533400" y="1676400"/>
          <a:ext xmlns:a="http://schemas.openxmlformats.org/drawingml/2006/main" cx="7524750" cy="41433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1b76f9296f444fb1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CE47860-40D3-424E-8E8F-AD83FE9F2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1809750"/>
            <a:ext cx="30480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800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rPr>
              <a:t>2c assessment complete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028C1F9-9255-4A2F-8279-6D20D217E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428875"/>
            <a:ext cx="3048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44,000 frequency-sweep transfers; zero reported errors.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F1AED38-EAFE-4DF1-8A56-474E1168B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3381375"/>
            <a:ext cx="30480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650" b="1">
                <a:solidFill>
                  <a:srgbClr val="C35A2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C35A2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650" b="1">
                <a:solidFill>
                  <a:srgbClr val="C35A2B"/>
                </a:solidFill>
                <a:latin typeface="Liberation Sans"/>
                <a:ea typeface="Liberation Sans"/>
                <a:cs typeface="Liberation Sans"/>
              </a:rPr>
              <a:t>At 64 KiB, standard deviation rises 3.7× from 1,200 to 300 MHz.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5B26B3A-6667-488F-B1BF-F766ABF7C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4333875"/>
            <a:ext cx="30480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42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Observed timing is variable and frequency-sensitive. These captures do not define a deadline or establish hard real-time behavior; they do not identify the cause of the spread.</a:t>
            </a:r>
          </a:p>
        </p:txBody>
      </p:sp>
    </p:spTree>
    <p:extLst>
      <p:ext uri="{BB962C8B-B14F-4D97-AF65-F5344CB8AC3E}">
        <p14:creationId xmlns:p14="http://schemas.microsoft.com/office/powerpoint/2010/main" val="113257412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B823A48-2151-4FE8-AE15-DC5D665F7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"/>
            <a:ext cx="10668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rPr>
              <a:t>STATUS  /  17 OCTOBER 2026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1A60933-B3FB-41AC-A44D-F2464D727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10763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Task 2 status against the SOW activity list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E3A4912-9A19-4984-BDE0-B727BEE56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9065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BE93F06-F546-4DEC-9D70-195A85053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0"/>
            <a:ext cx="1066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MSU-2  ·  Task 2 evidence review  ·  17 Oct 2026                                      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9340427-15BF-48DE-93A8-10A40765E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95450"/>
            <a:ext cx="66675" cy="504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7A5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4136DE0-DEBC-468F-A9C6-605D8ECEC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657350"/>
            <a:ext cx="2571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4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2a  Performance gaps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899C159-7D7A-4BF8-9DE7-D6D32936D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1657350"/>
            <a:ext cx="1695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275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75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rPr>
              <a:t>Complete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10437CA-2E3E-4C19-A788-B8B6CCF16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1657350"/>
            <a:ext cx="5953125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2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Revalidated 11 sizes × 1,000 on both paths; zero errors. Bounded comparison, not causal kernel-only attribution.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8C13BDE-D25F-4017-B1C1-3AE88EB1A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24100"/>
            <a:ext cx="66675" cy="504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7A5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FD425E2-253A-41EE-9274-571201D6C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286000"/>
            <a:ext cx="2571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4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2b  PIO and DMA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5053213-3C4C-4180-BD57-9AA09BB29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286000"/>
            <a:ext cx="1695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275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75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rPr>
              <a:t>Assessment complete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4D06D04-21F9-4BB2-A06E-C55E28906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286000"/>
            <a:ext cx="5953125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2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Physical PIO; six-size CDMA simulation; ZDMA result invalid for performance. No physical DMA crossover.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A33DA84-4E16-4994-9308-220116DA7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52750"/>
            <a:ext cx="66675" cy="504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7A5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0E01FAD-21D4-4C4A-B85C-7C1C643D2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914650"/>
            <a:ext cx="2571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4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2c  Real-time suitability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679818D-7EB4-4967-AFD6-44211C570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914650"/>
            <a:ext cx="1695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275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75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rPr>
              <a:t>Assessment complete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62724C2-CC01-43FB-BA3D-DBD7DB23F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914650"/>
            <a:ext cx="5953125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2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Best-effort latency and jitter characterized; no hard deadline or deterministic guarantee established.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35F3F0E-8C7E-49DC-82DC-9A7549BD3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81400"/>
            <a:ext cx="66675" cy="504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7A5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BA59C82-20AC-4EB5-A1E6-457CF24F9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543300"/>
            <a:ext cx="2571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4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2d  System hardening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D2B627B-C611-4FC5-B155-6265F5DA7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3543300"/>
            <a:ext cx="1695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275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75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rPr>
              <a:t>Design complete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16F81BE-D09D-4DA2-97EA-61522F524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543300"/>
            <a:ext cx="5953125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2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Design documented. Verified boot, reliable updates and automatic recovery are not deployed.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1273AA5-1E59-4B72-99B2-1D136F3A2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10050"/>
            <a:ext cx="66675" cy="504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75B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A89097F-9A8B-4FD4-AEA8-771A3D4B4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171950"/>
            <a:ext cx="2571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4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2e  Benchmark framework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D34FC25-796E-4076-93BD-D257D4219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4171950"/>
            <a:ext cx="1695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275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75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rPr>
              <a:t>Partial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14B7673-650B-40DA-AE34-8F66FE494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4171950"/>
            <a:ext cx="5953125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2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66/66 paired sustained points pass. Reliable clock/payload stress envelope remains to be measured before 2e closes.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3A2026C-950F-4019-8546-20E00DA54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38700"/>
            <a:ext cx="66675" cy="504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75B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1881DFB-EDD5-4700-8E73-CD996FA1C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800600"/>
            <a:ext cx="2571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4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2f  OS tuning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28AE963-1C9B-4F04-98F9-0AE7F94F9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4800600"/>
            <a:ext cx="1695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275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75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rPr>
              <a:t>Partial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DA72C91-400C-476D-B845-47DA0B58C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4800600"/>
            <a:ext cx="5953125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2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CPU-frequency sweep done; preemption-model and physical optimized-DMA comparison remain open.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EB9443D-E04F-4D4E-908A-56A0C4A82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67350"/>
            <a:ext cx="66675" cy="504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75B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2127065-132A-48AA-8F11-EE3862F5E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429250"/>
            <a:ext cx="2571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4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2g  Minimal appliance/security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1B1015E-186F-473A-82F1-5A184CFA7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5429250"/>
            <a:ext cx="1695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275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75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rPr>
              <a:t>Partial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1196807-7C19-488B-BEC3-19BA21C11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5429250"/>
            <a:ext cx="5953125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2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Prototypes pass defined tests; active boot is unsigned and integrated target recovery remains open.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DE37654-7A95-416F-A01A-967DBD334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34100"/>
            <a:ext cx="1066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12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12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SOW wording is authoritative; 2a–2g are internal labels. Task 1 and formal reporting deliverables are assessed separately.</a:t>
            </a:r>
          </a:p>
        </p:txBody>
      </p:sp>
    </p:spTree>
    <p:extLst>
      <p:ext uri="{BB962C8B-B14F-4D97-AF65-F5344CB8AC3E}">
        <p14:creationId xmlns:p14="http://schemas.microsoft.com/office/powerpoint/2010/main" val="189912304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07AA1B5-9897-4CD4-AAEF-39EE7E241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"/>
            <a:ext cx="10668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rPr>
              <a:t>2D  /  SYSTEM HARDENING DESIGN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3CE2FE3-82D5-4CB8-85E3-DB0A76DF1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10763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Proposed boot trust and rollback architecture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E2BEFDE-3C08-40F1-A37C-66F1FD1A4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9065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F79E139-0D77-4B77-8C1B-8BAC3A279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0"/>
            <a:ext cx="1066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MSU-2  ·  Task 2 evidence review  ·  17 Oct 2026                                      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204EFE0-8F00-4B87-8A79-F3825388D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657350"/>
            <a:ext cx="10810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27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7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rPr>
              <a:t>BOOT AUTHENTICATION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B60E553-3421-4AF6-8E23-81E7A1A82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657350"/>
            <a:ext cx="33051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r">
              <a:defRPr sz="1200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r">
              <a:defRPr sz="1200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00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rPr>
              <a:t>2d DESIGN CRITERION COMPLETE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6B30F31-ABA1-4C15-BF5D-4AD7A998A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981200"/>
            <a:ext cx="186690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B6E78"/>
            </a:solidFill>
            <a:prstDash val="solid"/>
          </a:ln>
        </p:spPr>
        <p:txBody>
          <a:bodyPr xmlns:a="http://schemas.openxmlformats.org/drawingml/2006/main" lIns="76200" tIns="85725" rIns="76200" bIns="76200"/>
          <a:lstStyle xmlns:a="http://schemas.openxmlformats.org/drawingml/2006/main">
            <a:def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Immutable key</a:t>
            </a:r>
          </a:p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Approved PPK hash</a:t>
            </a:r>
          </a:p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held by device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81F2E9B-654C-47F7-A3A4-15FF46C14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6025" y="2381250"/>
            <a:ext cx="2476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B6E78"/>
          </a:solidFill>
          <a:ln xmlns:a="http://schemas.openxmlformats.org/drawingml/2006/main" w="9525">
            <a:solidFill>
              <a:srgbClr val="1B6E7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5DB4EF2-6D48-428A-A4A0-708655A91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1981200"/>
            <a:ext cx="186690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B6E78"/>
            </a:solidFill>
            <a:prstDash val="solid"/>
          </a:ln>
        </p:spPr>
        <p:txBody>
          <a:bodyPr xmlns:a="http://schemas.openxmlformats.org/drawingml/2006/main" lIns="76200" tIns="85725" rIns="76200" bIns="76200"/>
          <a:lstStyle xmlns:a="http://schemas.openxmlformats.org/drawingml/2006/main">
            <a:def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BootROM + FSBL</a:t>
            </a:r>
          </a:p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Authenticate first-stage</a:t>
            </a:r>
          </a:p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boot code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8C1A1B3-E4EA-4707-B156-9AF99BCAD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2381250"/>
            <a:ext cx="2476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B6E78"/>
          </a:solidFill>
          <a:ln xmlns:a="http://schemas.openxmlformats.org/drawingml/2006/main" w="9525">
            <a:solidFill>
              <a:srgbClr val="1B6E7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BD0DE09-66C5-4B65-944D-907688017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1981200"/>
            <a:ext cx="186690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B6E78"/>
            </a:solidFill>
            <a:prstDash val="solid"/>
          </a:ln>
        </p:spPr>
        <p:txBody>
          <a:bodyPr xmlns:a="http://schemas.openxmlformats.org/drawingml/2006/main" lIns="76200" tIns="85725" rIns="76200" bIns="76200"/>
          <a:lstStyle xmlns:a="http://schemas.openxmlformats.org/drawingml/2006/main">
            <a:def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BOOT.BIN</a:t>
            </a:r>
          </a:p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Verify PMUFW, PL,</a:t>
            </a:r>
          </a:p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ATF and U-Boot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8FCDEE0-5A80-4E06-AB96-D6518B69E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29425" y="2381250"/>
            <a:ext cx="2476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B6E78"/>
          </a:solidFill>
          <a:ln xmlns:a="http://schemas.openxmlformats.org/drawingml/2006/main" w="9525">
            <a:solidFill>
              <a:srgbClr val="1B6E7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D5A75FD-0BA2-4525-A5A9-ABD40EBA0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1981200"/>
            <a:ext cx="186690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B6E78"/>
            </a:solidFill>
            <a:prstDash val="solid"/>
          </a:ln>
        </p:spPr>
        <p:txBody>
          <a:bodyPr xmlns:a="http://schemas.openxmlformats.org/drawingml/2006/main" lIns="76200" tIns="85725" rIns="76200" bIns="76200"/>
          <a:lstStyle xmlns:a="http://schemas.openxmlformats.org/drawingml/2006/main">
            <a:def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Signed FIT</a:t>
            </a:r>
          </a:p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Verify kernel, DTB</a:t>
            </a:r>
          </a:p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and root filesystem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E81E3C0-26EA-4684-968F-34FD21E9A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2381250"/>
            <a:ext cx="2476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B6E78"/>
          </a:solidFill>
          <a:ln xmlns:a="http://schemas.openxmlformats.org/drawingml/2006/main" w="9525">
            <a:solidFill>
              <a:srgbClr val="1B6E7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6B162BF-7537-4EFB-B17E-ABA7FF649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1981200"/>
            <a:ext cx="186690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B6E78"/>
            </a:solidFill>
            <a:prstDash val="solid"/>
          </a:ln>
        </p:spPr>
        <p:txBody>
          <a:bodyPr xmlns:a="http://schemas.openxmlformats.org/drawingml/2006/main" lIns="76200" tIns="85725" rIns="76200" bIns="76200"/>
          <a:lstStyle xmlns:a="http://schemas.openxmlformats.org/drawingml/2006/main">
            <a:def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Read-only OS</a:t>
            </a:r>
          </a:p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Run only the</a:t>
            </a:r>
          </a:p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authenticated release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CEB7B26-CEE5-4867-88A0-45491B3B4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333750"/>
            <a:ext cx="10810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275" b="1">
                <a:solidFill>
                  <a:srgbClr val="446B9E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446B9E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75" b="1">
                <a:solidFill>
                  <a:srgbClr val="446B9E"/>
                </a:solidFill>
                <a:latin typeface="Liberation Sans"/>
                <a:ea typeface="Liberation Sans"/>
                <a:cs typeface="Liberation Sans"/>
              </a:rPr>
              <a:t>UPDATE TRANSACTION AND AUTOMATIC ROLLBACK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84B1B5E-C19E-4ECC-936F-A2EE9F7D1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657600"/>
            <a:ext cx="186690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446B9E"/>
            </a:solidFill>
            <a:prstDash val="solid"/>
          </a:ln>
        </p:spPr>
        <p:txBody>
          <a:bodyPr xmlns:a="http://schemas.openxmlformats.org/drawingml/2006/main" lIns="76200" tIns="85725" rIns="76200" bIns="76200"/>
          <a:lstStyle xmlns:a="http://schemas.openxmlformats.org/drawingml/2006/main">
            <a:def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Stage inactive slot</a:t>
            </a:r>
          </a:p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Keep confirmed</a:t>
            </a:r>
          </a:p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slot untouched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217A6CE-B669-4CBF-80F2-B629EF09F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6025" y="4057650"/>
            <a:ext cx="2476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446B9E"/>
          </a:solidFill>
          <a:ln xmlns:a="http://schemas.openxmlformats.org/drawingml/2006/main" w="9525">
            <a:solidFill>
              <a:srgbClr val="446B9E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FDE3962-BDC6-4B1C-96C2-92F630737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3657600"/>
            <a:ext cx="186690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446B9E"/>
            </a:solidFill>
            <a:prstDash val="solid"/>
          </a:ln>
        </p:spPr>
        <p:txBody>
          <a:bodyPr xmlns:a="http://schemas.openxmlformats.org/drawingml/2006/main" lIns="76200" tIns="85725" rIns="76200" bIns="76200"/>
          <a:lstStyle xmlns:a="http://schemas.openxmlformats.org/drawingml/2006/main">
            <a:def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Verify release</a:t>
            </a:r>
          </a:p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Check signature,</a:t>
            </a:r>
          </a:p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digest and image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5F44852-2E36-4A59-892C-225B74785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4057650"/>
            <a:ext cx="2476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446B9E"/>
          </a:solidFill>
          <a:ln xmlns:a="http://schemas.openxmlformats.org/drawingml/2006/main" w="9525">
            <a:solidFill>
              <a:srgbClr val="446B9E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1745CD6-1DD7-47B2-9C50-FC0227D48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3657600"/>
            <a:ext cx="186690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446B9E"/>
            </a:solidFill>
            <a:prstDash val="solid"/>
          </a:ln>
        </p:spPr>
        <p:txBody>
          <a:bodyPr xmlns:a="http://schemas.openxmlformats.org/drawingml/2006/main" lIns="76200" tIns="85725" rIns="76200" bIns="76200"/>
          <a:lstStyle xmlns:a="http://schemas.openxmlformats.org/drawingml/2006/main">
            <a:def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Trial boot</a:t>
            </a:r>
          </a:p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Bounded attempt</a:t>
            </a:r>
          </a:p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count and logs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1E8FF31-588B-4803-AC39-42E043141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29425" y="4057650"/>
            <a:ext cx="2476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446B9E"/>
          </a:solidFill>
          <a:ln xmlns:a="http://schemas.openxmlformats.org/drawingml/2006/main" w="9525">
            <a:solidFill>
              <a:srgbClr val="446B9E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3FC987F-A7E4-4476-B127-D7F388E7D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3657600"/>
            <a:ext cx="186690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446B9E"/>
            </a:solidFill>
            <a:prstDash val="solid"/>
          </a:ln>
        </p:spPr>
        <p:txBody>
          <a:bodyPr xmlns:a="http://schemas.openxmlformats.org/drawingml/2006/main" lIns="76200" tIns="85725" rIns="76200" bIns="76200"/>
          <a:lstStyle xmlns:a="http://schemas.openxmlformats.org/drawingml/2006/main">
            <a:def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Health check</a:t>
            </a:r>
          </a:p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Linux start + SPI</a:t>
            </a:r>
          </a:p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loopback smoke test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62C1489-1E0A-4CA0-BCF3-661F610EF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4057650"/>
            <a:ext cx="2476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446B9E"/>
          </a:solidFill>
          <a:ln xmlns:a="http://schemas.openxmlformats.org/drawingml/2006/main" w="9525">
            <a:solidFill>
              <a:srgbClr val="446B9E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E7F0A67-82E5-4665-B0CB-02E064F32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3657600"/>
            <a:ext cx="186690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446B9E"/>
            </a:solidFill>
            <a:prstDash val="solid"/>
          </a:ln>
        </p:spPr>
        <p:txBody>
          <a:bodyPr xmlns:a="http://schemas.openxmlformats.org/drawingml/2006/main" lIns="76200" tIns="85725" rIns="76200" bIns="76200"/>
          <a:lstStyle xmlns:a="http://schemas.openxmlformats.org/drawingml/2006/main">
            <a:def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Confirm / rollback</a:t>
            </a:r>
          </a:p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Mark good or return</a:t>
            </a:r>
          </a:p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to prior slot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F5881B1-2B88-4174-809E-E726FC918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029200"/>
            <a:ext cx="108108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00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00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rPr>
              <a:t>Design only: no signed boot image or A/B update is deployed. Development boot-header authentication is not fielded eFUSE-rooted trust. No eFUSE was programmed.</a:t>
            </a:r>
          </a:p>
        </p:txBody>
      </p:sp>
    </p:spTree>
    <p:extLst>
      <p:ext uri="{BB962C8B-B14F-4D97-AF65-F5344CB8AC3E}">
        <p14:creationId xmlns:p14="http://schemas.microsoft.com/office/powerpoint/2010/main" val="89052289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406A571-56AE-4A9F-8A9C-AF7AFCFA9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"/>
            <a:ext cx="10668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rPr>
              <a:t>2E  /  COMPARATIVE FRAMEWORK STATUS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709901C-BB7C-4A51-A2CF-072EC8D8E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10763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Linux thread CPU share declines as payload grows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C7FD151-6177-4A27-B766-2E7FA5BF4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9065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067C8E5-452E-47E7-B931-2082A7BD1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0"/>
            <a:ext cx="1066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MSU-2  ·  Task 2 evidence review  ·  17 Oct 2026                                      07</a:t>
            </a:r>
          </a:p>
        </p:txBody>
      </p:sp>
      <p:graphicFrame>
        <p:nvGraphicFramePr>
          <p:cNvPr id="5" name="Chart">
            <a:extLst xmlns:a="http://schemas.openxmlformats.org/drawingml/2006/main">
              <a:ext uri="{FF2B5EF4-FFF2-40B4-BE49-F238E27FC236}">
                <a16:creationId xmlns:a16="http://schemas.microsoft.com/office/drawing/2014/main" id="{AC83F584-52F0-4EC4-B457-3094F28EAAD2}"/>
              </a:ext>
            </a:extLst>
          </p:cNvPr>
          <p:cNvGraphicFramePr/>
          <p:nvPr/>
        </p:nvGraphicFramePr>
        <p:xfrm>
          <a:off xmlns:a="http://schemas.openxmlformats.org/drawingml/2006/main" x="533400" y="1676400"/>
          <a:ext xmlns:a="http://schemas.openxmlformats.org/drawingml/2006/main" cx="7524750" cy="41433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69ee0ebe848d4d28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A8E4FE8-3E14-4513-827B-E3FBF3ABA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1809750"/>
            <a:ext cx="3048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87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7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11,000 paired transfers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40E85CD-6215-4EA9-87CA-0ED038DA6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428875"/>
            <a:ext cx="304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Zero transfer errors and RX mismatches in both recorded runs.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74BE648-11B5-493C-A02B-21FE85F66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3371850"/>
            <a:ext cx="30480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650" b="1">
                <a:solidFill>
                  <a:srgbClr val="446B9E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446B9E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650" b="1">
                <a:solidFill>
                  <a:srgbClr val="446B9E"/>
                </a:solidFill>
                <a:latin typeface="Liberation Sans"/>
                <a:ea typeface="Liberation Sans"/>
                <a:cs typeface="Liberation Sans"/>
              </a:rPr>
              <a:t>Linux thread CPU share: 67.9% at 1 B → 1.5% at 64 KiB.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9BCDCAF-5860-4E77-8D9A-88C5A717D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4343400"/>
            <a:ext cx="3048000" cy="1343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35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Fixed-ladder Linux thread share is separate from sustained results. Bare metal reports 100% busy-wait core occupancy, not a PMU reading. Task 2e still needs the reliable clock/payload stress test.</a:t>
            </a:r>
          </a:p>
        </p:txBody>
      </p:sp>
    </p:spTree>
    <p:extLst>
      <p:ext uri="{BB962C8B-B14F-4D97-AF65-F5344CB8AC3E}">
        <p14:creationId xmlns:p14="http://schemas.microsoft.com/office/powerpoint/2010/main" val="190671703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93BE546-76EF-4ED6-AD36-83D02EE52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"/>
            <a:ext cx="10668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rPr>
              <a:t>2G  /  MINIMAL STACK AND ROBUST UPDATE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D96B365-5AB7-44D2-A488-4BDF9B6FF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10763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A/B update prototype preserves the confirmed slot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97A6B85-C320-4BC4-A811-ED14DE0CE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9065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D725ABC-94AB-4E30-9D27-D66FCE2D2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0"/>
            <a:ext cx="1066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MSU-2  ·  Task 2 evidence review  ·  17 Oct 2026                                      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B47B8BF-5F9D-4CF3-89CC-2FBC28FC4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381250"/>
            <a:ext cx="18669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446B9E"/>
            </a:solidFill>
            <a:prstDash val="solid"/>
          </a:ln>
        </p:spPr>
        <p:txBody>
          <a:bodyPr xmlns:a="http://schemas.openxmlformats.org/drawingml/2006/main" lIns="76200" tIns="95250" rIns="76200" bIns="76200"/>
          <a:lstStyle xmlns:a="http://schemas.openxmlformats.org/drawingml/2006/main">
            <a:def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Authenticate</a:t>
            </a:r>
          </a:p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RSA/SHA-256</a:t>
            </a:r>
          </a:p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signature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F590D87-CE34-44E4-82DF-B75D77671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6025" y="2809875"/>
            <a:ext cx="2476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446B9E"/>
          </a:solidFill>
          <a:ln xmlns:a="http://schemas.openxmlformats.org/drawingml/2006/main" w="9525">
            <a:solidFill>
              <a:srgbClr val="446B9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95F2642-1664-4728-8482-35A8AD336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2381250"/>
            <a:ext cx="18669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446B9E"/>
            </a:solidFill>
            <a:prstDash val="solid"/>
          </a:ln>
        </p:spPr>
        <p:txBody>
          <a:bodyPr xmlns:a="http://schemas.openxmlformats.org/drawingml/2006/main" lIns="76200" tIns="95250" rIns="76200" bIns="76200"/>
          <a:lstStyle xmlns:a="http://schemas.openxmlformats.org/drawingml/2006/main">
            <a:def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Write inactive</a:t>
            </a:r>
          </a:p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Chunked write</a:t>
            </a:r>
          </a:p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+ fsync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D77270E-A1F7-431E-BDCF-5E32DA110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2809875"/>
            <a:ext cx="2476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446B9E"/>
          </a:solidFill>
          <a:ln xmlns:a="http://schemas.openxmlformats.org/drawingml/2006/main" w="9525">
            <a:solidFill>
              <a:srgbClr val="446B9E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525C69C-50A9-47D8-B091-B2BFF6608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2381250"/>
            <a:ext cx="18669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446B9E"/>
            </a:solidFill>
            <a:prstDash val="solid"/>
          </a:ln>
        </p:spPr>
        <p:txBody>
          <a:bodyPr xmlns:a="http://schemas.openxmlformats.org/drawingml/2006/main" lIns="76200" tIns="95250" rIns="76200" bIns="76200"/>
          <a:lstStyle xmlns:a="http://schemas.openxmlformats.org/drawingml/2006/main">
            <a:def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Readback check</a:t>
            </a:r>
          </a:p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Digest + signature</a:t>
            </a:r>
          </a:p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re-verified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F06A1C5-A2B7-4F5D-9FE1-19742EE2B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29425" y="2809875"/>
            <a:ext cx="2476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446B9E"/>
          </a:solidFill>
          <a:ln xmlns:a="http://schemas.openxmlformats.org/drawingml/2006/main" w="9525">
            <a:solidFill>
              <a:srgbClr val="446B9E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CC6257B-CE9F-40F0-B916-97C301586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2381250"/>
            <a:ext cx="18669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446B9E"/>
            </a:solidFill>
            <a:prstDash val="solid"/>
          </a:ln>
        </p:spPr>
        <p:txBody>
          <a:bodyPr xmlns:a="http://schemas.openxmlformats.org/drawingml/2006/main" lIns="76200" tIns="95250" rIns="76200" bIns="76200"/>
          <a:lstStyle xmlns:a="http://schemas.openxmlformats.org/drawingml/2006/main">
            <a:def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Trial boot</a:t>
            </a:r>
          </a:p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Two bounded</a:t>
            </a:r>
          </a:p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attempts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8EFD75B-9E8C-4FC1-8A9A-C26BD9712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2809875"/>
            <a:ext cx="2476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446B9E"/>
          </a:solidFill>
          <a:ln xmlns:a="http://schemas.openxmlformats.org/drawingml/2006/main" w="9525">
            <a:solidFill>
              <a:srgbClr val="446B9E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BB9F059-487E-459C-8FA8-CCE829317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2381250"/>
            <a:ext cx="18669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446B9E"/>
            </a:solidFill>
            <a:prstDash val="solid"/>
          </a:ln>
        </p:spPr>
        <p:txBody>
          <a:bodyPr xmlns:a="http://schemas.openxmlformats.org/drawingml/2006/main" lIns="76200" tIns="95250" rIns="76200" bIns="76200"/>
          <a:lstStyle xmlns:a="http://schemas.openxmlformats.org/drawingml/2006/main">
            <a:def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Confirm / rollback</a:t>
            </a:r>
          </a:p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Health result selects</a:t>
            </a:r>
          </a:p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new or known-good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504ED69-5EF0-425F-B545-CE5852DF2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0"/>
            <a:ext cx="10096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950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950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rPr>
              <a:t>4 / 4 HOST FAULT-INJECTION TESTS PASSED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2641711-87E2-440A-A0A0-624D2AD86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62400"/>
            <a:ext cx="50482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Confirmed slot A stayed selected after invalid signatures, interrupted writes, boot-limit expiry, and an explicit failed health check.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147FC53-5CC4-41A7-9D0E-50BF7617B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962400"/>
            <a:ext cx="5048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00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00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rPr>
              <a:t>Prototype boundary: host files and JSON control state. No U-Boot, SD-card, signed target image, hardware trust anchor, or ZCU102 power-loss test.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403C132-2C83-4E5B-A5D5-2269A3510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91150"/>
            <a:ext cx="10668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7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57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7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Task 2g remains partial until target integration, boot authentication, and recovery fault tests pass.</a:t>
            </a:r>
          </a:p>
        </p:txBody>
      </p:sp>
    </p:spTree>
    <p:extLst>
      <p:ext uri="{BB962C8B-B14F-4D97-AF65-F5344CB8AC3E}">
        <p14:creationId xmlns:p14="http://schemas.microsoft.com/office/powerpoint/2010/main" val="58428206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9538801-5584-4D74-81FF-95E665E95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"/>
            <a:ext cx="10668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rPr>
              <a:t>TOOLCHAIN  /  LICENSE DIAGNOSTIC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EB93CAC-9D49-4D9C-8827-549D703EA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10763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Enterprise license passes ZCU9EG synthesis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CB31902-2664-4D3F-BF70-B91F540F3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9065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2426526-2497-416F-B738-6A31847BB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0"/>
            <a:ext cx="1066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MSU-2  ·  Task 2 evidence review  ·  17 Oct 2026                                      09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2CF8052-DC54-42D6-8086-717588418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95450"/>
            <a:ext cx="4905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875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75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rPr>
              <a:t>Sandboxed check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61A762F-8496-4849-B585-72A7FF4B5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24075"/>
            <a:ext cx="4810125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FlexNet could not read the workstation network-interface ID. It reported the node-locked license as invalid; Vivado then surfaced the failed checkout as an expired Synthesis feature.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5DF527B-DA3E-4BE3-82DB-2DAC014AA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1695450"/>
            <a:ext cx="4905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875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75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rPr>
              <a:t>Normal host access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413D368-46DA-4335-828B-EF96434AE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124075"/>
            <a:ext cx="4810125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The permanent Enterprise license matched the active workstation NIC. FlexNet approved the node, and Vivado granted Synthesis for xczu9eg.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2183E0C-42AF-49BA-95E1-31C4BAB74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571750"/>
            <a:ext cx="68580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B6E78"/>
          </a:solidFill>
          <a:ln xmlns:a="http://schemas.openxmlformats.org/drawingml/2006/main" w="9525">
            <a:solidFill>
              <a:srgbClr val="1B6E7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541BB48-D5EE-4863-A942-1C28282AB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14800"/>
            <a:ext cx="103822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CEA"/>
          </a:solidFill>
          <a:ln xmlns:a="http://schemas.openxmlformats.org/drawingml/2006/main" w="19050">
            <a:solidFill>
              <a:srgbClr val="1B6E78"/>
            </a:solidFill>
            <a:prstDash val="solid"/>
          </a:ln>
        </p:spPr>
        <p:txBody>
          <a:bodyPr xmlns:a="http://schemas.openxmlformats.org/drawingml/2006/main" lIns="171450" tIns="133350" rIns="171450" bIns="114300"/>
          <a:lstStyle xmlns:a="http://schemas.openxmlformats.org/drawingml/2006/main">
            <a:defPPr algn="ctr">
              <a:defRPr sz="187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7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Fresh synthesis for xczu9eg-ffvb1156-2-e completed with 0 errors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6D2F7D3-5C1E-4BDA-ADC0-6655F37E6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91125"/>
            <a:ext cx="10382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42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This was a small license-check design, not the project build. Synthesis uses the selected FPGA part; it does not communicate with the physical ZCU102 board.</a:t>
            </a:r>
          </a:p>
        </p:txBody>
      </p:sp>
    </p:spTree>
    <p:extLst>
      <p:ext uri="{BB962C8B-B14F-4D97-AF65-F5344CB8AC3E}">
        <p14:creationId xmlns:p14="http://schemas.microsoft.com/office/powerpoint/2010/main" val="173850660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8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35F740A-8CB2-4036-B51A-8A69942B8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"/>
            <a:ext cx="10668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rPr>
              <a:t>2G  /  TARGET EXECUTION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51C2E4E-BB64-4A8D-9374-2B09A5673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10763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ZCU102 Linux update-control demonstration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F745B63-15B0-4E27-8276-52762AFBF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9065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9397669-36C8-4AD2-B4E0-024F06B18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0"/>
            <a:ext cx="1066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MSU-2  ·  Task 2 evidence review  ·  17 Oct 2026                                      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FBDA89D-9171-46A5-8AAC-0DF27833F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25241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425" b="1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1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TEST CASE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29F63C5-4CE5-457D-AA4A-9C6DFE700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1676400"/>
            <a:ext cx="35718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425" b="1">
                <a:solidFill>
                  <a:srgbClr val="A93F3F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A93F3F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1">
                <a:solidFill>
                  <a:srgbClr val="A93F3F"/>
                </a:solidFill>
                <a:latin typeface="Liberation Sans"/>
                <a:ea typeface="Liberation Sans"/>
                <a:cs typeface="Liberation Sans"/>
              </a:rPr>
              <a:t>UNSAFE BASELINE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2CFFF7D-FCAF-41C1-8C0F-94F890E74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1676400"/>
            <a:ext cx="3810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425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rPr>
              <a:t>SIGNED A/B REFERENCE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7D214CD-D800-48CF-82E4-E34D9B7AB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95575"/>
            <a:ext cx="106203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AF6F449-B27A-43B8-8519-CD3F94320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71700"/>
            <a:ext cx="252412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7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57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7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Valid release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8425BF5-9ADA-42BC-A9D9-E77F52671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171700"/>
            <a:ext cx="357187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00" b="0">
                <a:solidFill>
                  <a:srgbClr val="A93F3F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A93F3F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00" b="0">
                <a:solidFill>
                  <a:srgbClr val="A93F3F"/>
                </a:solidFill>
                <a:latin typeface="Liberation Sans"/>
                <a:ea typeface="Liberation Sans"/>
                <a:cs typeface="Liberation Sans"/>
              </a:rPr>
              <a:t>Accepted in place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B366722-FD9B-4C47-A64B-55AA30E48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2171700"/>
            <a:ext cx="38100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00" b="0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00" b="0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rPr>
              <a:t>Verified; staged to B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EC8FF0C-B079-4E00-90F4-7ECFCDC57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90900"/>
            <a:ext cx="106203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8776F08-D3B2-497F-AC27-AC050551C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67025"/>
            <a:ext cx="252412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7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57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7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Tampered release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DB3BC44-7CFE-4391-A280-AFA9F3855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867025"/>
            <a:ext cx="357187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00" b="0">
                <a:solidFill>
                  <a:srgbClr val="A93F3F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A93F3F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00" b="0">
                <a:solidFill>
                  <a:srgbClr val="A93F3F"/>
                </a:solidFill>
                <a:latin typeface="Liberation Sans"/>
                <a:ea typeface="Liberation Sans"/>
                <a:cs typeface="Liberation Sans"/>
              </a:rPr>
              <a:t>Accepted altered bytes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BBCE249-1E4D-48D8-A114-B1ECB0FC3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2867025"/>
            <a:ext cx="38100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00" b="0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00" b="0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rPr>
              <a:t>Rejected; A unchanged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9D1E914-81E7-4B1D-9BB3-609DA325C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86225"/>
            <a:ext cx="106203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6118E3A-1944-4A02-B5FD-05EFC5381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62350"/>
            <a:ext cx="252412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7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57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7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Interrupted write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CB49938-7D5E-42DB-A6E9-7B5C69BA5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3562350"/>
            <a:ext cx="357187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00" b="0">
                <a:solidFill>
                  <a:srgbClr val="A93F3F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A93F3F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00" b="0">
                <a:solidFill>
                  <a:srgbClr val="A93F3F"/>
                </a:solidFill>
                <a:latin typeface="Liberation Sans"/>
                <a:ea typeface="Liberation Sans"/>
                <a:cs typeface="Liberation Sans"/>
              </a:rPr>
              <a:t>Active A partially overwritten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D6B9A6A-827C-4C0D-AB45-96F006535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3562350"/>
            <a:ext cx="38100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00" b="0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00" b="0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rPr>
              <a:t>A retained; no trial published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7B890ED-B7D1-4D00-9F4D-A91AD7E32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81550"/>
            <a:ext cx="106203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FE655DF-4843-4C2B-8703-EB9951B68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57675"/>
            <a:ext cx="252412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7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57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7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Failed trial health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CBCB867-45FD-4EAC-987D-AF89AC1E6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4257675"/>
            <a:ext cx="357187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00" b="0">
                <a:solidFill>
                  <a:srgbClr val="A93F3F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A93F3F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00" b="0">
                <a:solidFill>
                  <a:srgbClr val="A93F3F"/>
                </a:solidFill>
                <a:latin typeface="Liberation Sans"/>
                <a:ea typeface="Liberation Sans"/>
                <a:cs typeface="Liberation Sans"/>
              </a:rPr>
              <a:t>Bad image remains active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0BC8F10-5046-4389-9151-8531BB23F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4257675"/>
            <a:ext cx="38100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00" b="0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00" b="0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rPr>
              <a:t>Pending cleared; A selected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ACCFD94-84CF-40EE-BFB3-589A46BA2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81600"/>
            <a:ext cx="1062037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425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rPr>
              <a:t>All four checks passed on the ZCU102 AArch64 Linux system using its OpenSSL runtime and temporary /tmp slots. This did not test BootROM/U-Boot, persistent boot state, or physical power-loss recovery.</a:t>
            </a:r>
          </a:p>
        </p:txBody>
      </p:sp>
    </p:spTree>
    <p:extLst>
      <p:ext uri="{BB962C8B-B14F-4D97-AF65-F5344CB8AC3E}">
        <p14:creationId xmlns:p14="http://schemas.microsoft.com/office/powerpoint/2010/main" val="1153391875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8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263AFE4-71DB-494A-BAA2-8E94C8301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"/>
            <a:ext cx="10668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rPr>
              <a:t>2G  /  SIGNED IMAGE VERIFICATION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EAF9820-3B0F-4425-A3B5-6DC47C839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10763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PetaLinux FIT signature rejects tampering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2ECE90D-ACEB-4744-B1C9-4532C902F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9065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3B24CB0-8B91-495C-9402-7DC8E9D96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0"/>
            <a:ext cx="1066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MSU-2  ·  Task 2 evidence review  ·  17 Oct 2026                                      11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87C7B25-397C-4644-9660-7D9EE42F6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10620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425" b="1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1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U-BOOT 2025.01-XILINX  ·  PETALINUX 2025.2  ·  VALIDATED XSA + BITSTREAM MATCH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42D43BB-1C77-4DDD-9435-04BD3ACCC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09800"/>
            <a:ext cx="219075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446B9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096D7FC-21B3-408F-AA85-7A8F82E8B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409825"/>
            <a:ext cx="19431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ctr">
              <a:defRPr sz="16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ctr">
              <a:defRPr sz="16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6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Kernel + DTB</a:t>
            </a:r>
          </a:p>
          <a:p xmlns:a="http://schemas.openxmlformats.org/drawingml/2006/main">
            <a:pPr algn="ctr">
              <a:defRPr sz="16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6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+ initrd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82C17C7-27DA-4E87-B799-E3099D976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057525"/>
            <a:ext cx="19431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ctr">
              <a:defRPr sz="12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ctr">
              <a:defRPr sz="12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PetaLinux FIT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3EBC3E5-9C78-4A0D-A88C-B260B9D9D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3225" y="2628900"/>
            <a:ext cx="361950" cy="2476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8E0E1"/>
          </a:solidFill>
          <a:ln xmlns:a="http://schemas.openxmlformats.org/drawingml/2006/main" w="9525">
            <a:solidFill>
              <a:srgbClr val="D8E0E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0B45133-60C6-4028-AA01-2219DD973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209800"/>
            <a:ext cx="219075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B6E7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95D05C6-2884-4FB5-A195-DD7AE158C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409825"/>
            <a:ext cx="19431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ctr">
              <a:defRPr sz="16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ctr">
              <a:defRPr sz="16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6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RSA-2048</a:t>
            </a:r>
          </a:p>
          <a:p xmlns:a="http://schemas.openxmlformats.org/drawingml/2006/main">
            <a:pPr algn="ctr">
              <a:defRPr sz="16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6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signature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9D0B193-BF37-483F-B91E-8ED03CE5F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3057525"/>
            <a:ext cx="19431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ctr">
              <a:defRPr sz="12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ctr">
              <a:defRPr sz="12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sha256 · msu2-test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2F1C8BC-0230-495F-AEF8-255E3D505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0225" y="2628900"/>
            <a:ext cx="361950" cy="2476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8E0E1"/>
          </a:solidFill>
          <a:ln xmlns:a="http://schemas.openxmlformats.org/drawingml/2006/main" w="9525">
            <a:solidFill>
              <a:srgbClr val="D8E0E1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47815AE-F5A6-4270-A607-498D1F1DC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209800"/>
            <a:ext cx="219075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35A2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8FF9318-A9C1-4487-9F39-593B17B07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2409825"/>
            <a:ext cx="19431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ctr">
              <a:defRPr sz="16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ctr">
              <a:defRPr sz="16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6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Required key</a:t>
            </a:r>
          </a:p>
          <a:p xmlns:a="http://schemas.openxmlformats.org/drawingml/2006/main">
            <a:pPr algn="ctr">
              <a:defRPr sz="16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6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in U-Boot DTB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B4DEA8C-A302-49E0-974F-D3B3349E0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3057525"/>
            <a:ext cx="19431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ctr">
              <a:defRPr sz="12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ctr">
              <a:defRPr sz="12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key-msu2-test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E73B1DB-2984-480F-B0CE-1EC6D97F3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7225" y="2628900"/>
            <a:ext cx="361950" cy="2476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8E0E1"/>
          </a:solidFill>
          <a:ln xmlns:a="http://schemas.openxmlformats.org/drawingml/2006/main" w="9525">
            <a:solidFill>
              <a:srgbClr val="D8E0E1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277BD72-3F5E-46E7-9F38-9D2514B01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209800"/>
            <a:ext cx="219075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47A56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B7CE8E3-B62E-4191-9143-CFB58DF29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2409825"/>
            <a:ext cx="19431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ctr">
              <a:defRPr sz="16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ctr">
              <a:defRPr sz="16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6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Verify before</a:t>
            </a:r>
          </a:p>
          <a:p xmlns:a="http://schemas.openxmlformats.org/drawingml/2006/main">
            <a:pPr algn="ctr">
              <a:defRPr sz="16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6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load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B6DDCE4-8F34-4ED8-811D-6E42878FA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3057525"/>
            <a:ext cx="19431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ctr">
              <a:defRPr sz="12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ctr">
              <a:defRPr sz="12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fit_check_sign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15FDD8C-7F1F-45EB-8A5C-A9D3C0F6A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76675"/>
            <a:ext cx="4905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800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rPr>
              <a:t>SIGNED BUILD  ✓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BD1E6D8-3B80-4A66-AFE8-6617C265E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0"/>
            <a:ext cx="4905375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U-Boot fit_check_sign accepted the PetaLinux configuration; FIT SHA-256: ca498597…e37222.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B2F17C6-A464-409C-AEBD-6C80EDA91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876675"/>
            <a:ext cx="4905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800" b="1">
                <a:solidFill>
                  <a:srgbClr val="A93F3F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A93F3F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1">
                <a:solidFill>
                  <a:srgbClr val="A93F3F"/>
                </a:solidFill>
                <a:latin typeface="Liberation Sans"/>
                <a:ea typeface="Liberation Sans"/>
                <a:cs typeface="Liberation Sans"/>
              </a:rPr>
              <a:t>KERNEL BYTE FLIPPED  ✕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07D40A3-3FA9-43D0-8EFB-CE3A4E005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286250"/>
            <a:ext cx="4905375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Signature/hash check failed with “Bad Data Hash” before kernel load. Zero altered payload was accepted.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E12FA38-F807-4B83-9B93-A05789B02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14950"/>
            <a:ext cx="106203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425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rPr>
              <a:t>FIT build and tamper test passed; exact validated XSA/bitstream matched. No ZCU102 boot, trusted BootROM key, A/B rollback, or power-loss test.</a:t>
            </a:r>
          </a:p>
        </p:txBody>
      </p:sp>
    </p:spTree>
    <p:extLst>
      <p:ext uri="{BB962C8B-B14F-4D97-AF65-F5344CB8AC3E}">
        <p14:creationId xmlns:p14="http://schemas.microsoft.com/office/powerpoint/2010/main" val="1533680623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8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ED5ECB5-FC3E-48AA-8422-009E58D2B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"/>
            <a:ext cx="10668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rPr>
              <a:t>2G  /  BOOT-CHAIN AUDIT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D61364A-D3E1-4B87-8981-91A201FCA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10763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Generated boot policy can bypass FIT verification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6F9A2D0-D86A-4C37-80DC-B25044AF7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9065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35035CA-5CBD-44A1-9346-6C03504DD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0"/>
            <a:ext cx="1066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MSU-2  ·  Task 2 evidence review  ·  17 Oct 2026                                      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25B3A76-8186-4E46-B2E4-CBA5269E3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4905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425" b="1">
                <a:solidFill>
                  <a:srgbClr val="446B9E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446B9E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1">
                <a:solidFill>
                  <a:srgbClr val="446B9E"/>
                </a:solidFill>
                <a:latin typeface="Liberation Sans"/>
                <a:ea typeface="Liberation Sans"/>
                <a:cs typeface="Liberation Sans"/>
              </a:rPr>
              <a:t>LIVE ZCU102  /  newQspi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41BAFA2-375F-4A79-BED7-313986F36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1676400"/>
            <a:ext cx="4905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425" b="1">
                <a:solidFill>
                  <a:srgbClr val="446B9E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446B9E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1">
                <a:solidFill>
                  <a:srgbClr val="446B9E"/>
                </a:solidFill>
                <a:latin typeface="Liberation Sans"/>
                <a:ea typeface="Liberation Sans"/>
                <a:cs typeface="Liberation Sans"/>
              </a:rPr>
              <a:t>ACTIVE U-BOOT AND SD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6074B24-0953-4493-8562-BFE87FBC9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14550"/>
            <a:ext cx="490537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0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0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Linux 6.12.10-xilinx</a:t>
            </a:r>
          </a:p>
          <a:p xmlns:a="http://schemas.openxmlformats.org/drawingml/2006/main">
            <a:pPr algn="l">
              <a:defRPr sz="150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0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PetaLinux 2025.1  ·  root=/dev/ram0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CBD3A20-FE7A-49D0-933D-685F4BDCD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81325"/>
            <a:ext cx="4905375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425" b="0">
                <a:solidFill>
                  <a:srgbClr val="A93F3F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A93F3F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0">
                <a:solidFill>
                  <a:srgbClr val="A93F3F"/>
                </a:solidFill>
                <a:latin typeface="Liberation Sans"/>
                <a:ea typeface="Liberation Sans"/>
                <a:cs typeface="Liberation Sans"/>
              </a:rPr>
              <a:t>SD image.ub (446dd475…) fails required-key verification: no signature node. boot.scr (6c555e63…) matches audited raw-boot fallback.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302A2D8-B493-49B8-8E77-60468D389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43350"/>
            <a:ext cx="49053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425" b="0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0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rPr>
              <a:t>FPGA manager: operating. Loaded bitstream hash c27bb684… matches the validated Sep 29 .bit.bin.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AEFB456-C315-4545-8D5C-457B2A887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114550"/>
            <a:ext cx="490537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4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bootcmd = run distro_bootcmd</a:t>
            </a:r>
          </a:p>
          <a:p xmlns:a="http://schemas.openxmlformats.org/drawingml/2006/main">
            <a:pPr algn="l">
              <a:defRPr sz="14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boot_targets = mmc0, JTAG, QSPI, NAND, USB, SCSI, PXE, DHCP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27D2949-3843-4D4D-8678-571135390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981325"/>
            <a:ext cx="4905375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00" b="0">
                <a:solidFill>
                  <a:srgbClr val="A93F3F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A93F3F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00" b="0">
                <a:solidFill>
                  <a:srgbClr val="A93F3F"/>
                </a:solidFill>
                <a:latin typeface="Liberation Sans"/>
                <a:ea typeface="Liberation Sans"/>
                <a:cs typeface="Liberation Sans"/>
              </a:rPr>
              <a:t>bootdelay = 5 s. No bootlimit or upgrade_available. One SD partition; Linux root is RAM.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EDE5AD2-A833-42F2-A367-4C4E9649B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943350"/>
            <a:ext cx="49053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425" b="0">
                <a:solidFill>
                  <a:srgbClr val="A93F3F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A93F3F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0">
                <a:solidFill>
                  <a:srgbClr val="A93F3F"/>
                </a:solidFill>
                <a:latin typeface="Liberation Sans"/>
                <a:ea typeface="Liberation Sans"/>
                <a:cs typeface="Liberation Sans"/>
              </a:rPr>
              <a:t>Host-built signed PetaLinux 2025.2 FIT is not installed or booted.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24CA5CA-643F-47EB-B2D7-266418065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57750"/>
            <a:ext cx="106203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3D86758-BB8A-4E94-A1AA-81103A073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24450"/>
            <a:ext cx="106203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00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00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rPr>
              <a:t>Conclusion: the SPI bitstream is validated, but the live board still runs an unsigned FIT through generic fail-open boot policy. Task 2g remains open until a trusted FIT-only chain and A/B recovery are tested.</a:t>
            </a:r>
          </a:p>
        </p:txBody>
      </p:sp>
    </p:spTree>
    <p:extLst>
      <p:ext uri="{BB962C8B-B14F-4D97-AF65-F5344CB8AC3E}">
        <p14:creationId xmlns:p14="http://schemas.microsoft.com/office/powerpoint/2010/main" val="1199845040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8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770AEF7-4842-4906-A496-F7A70253B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"/>
            <a:ext cx="10668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rPr>
              <a:t>2A / 2E  /  ZCU102 J55 LOOPBACK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D5846A8-E759-481A-BDD1-3778A4B97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10763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Fixed-trial Linux and bare-metal comparison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5F9D26E-7844-4567-B2F8-A793C8BF0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9065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0E41E38-14EE-4230-B990-6E96F43FC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0"/>
            <a:ext cx="1066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MSU-2  ·  Task 2 evidence review  ·  17 Oct 2026                                      13</a:t>
            </a:r>
          </a:p>
        </p:txBody>
      </p:sp>
      <p:graphicFrame>
        <p:nvGraphicFramePr>
          <p:cNvPr id="5" name="Chart">
            <a:extLst xmlns:a="http://schemas.openxmlformats.org/drawingml/2006/main">
              <a:ext uri="{FF2B5EF4-FFF2-40B4-BE49-F238E27FC236}">
                <a16:creationId xmlns:a16="http://schemas.microsoft.com/office/drawing/2014/main" id="{537B82E6-07F9-47B3-99CA-667B47AE48D8}"/>
              </a:ext>
            </a:extLst>
          </p:cNvPr>
          <p:cNvGraphicFramePr/>
          <p:nvPr/>
        </p:nvGraphicFramePr>
        <p:xfrm>
          <a:off xmlns:a="http://schemas.openxmlformats.org/drawingml/2006/main" x="514350" y="1714500"/>
          <a:ext xmlns:a="http://schemas.openxmlformats.org/drawingml/2006/main" cx="7524750" cy="3714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dbabd3b0b7944f04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E485B15-AC4F-4634-9729-2F43DBC7E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809750"/>
            <a:ext cx="295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650" b="1">
                <a:solidFill>
                  <a:srgbClr val="446B9E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446B9E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650" b="1">
                <a:solidFill>
                  <a:srgbClr val="446B9E"/>
                </a:solidFill>
                <a:latin typeface="Liberation Sans"/>
                <a:ea typeface="Liberation Sans"/>
                <a:cs typeface="Liberation Sans"/>
              </a:rPr>
              <a:t>Linux: 11,000 / 11,000 pass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FCFADD3-AF69-4E05-8E6C-1D7D44700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305050"/>
            <a:ext cx="2952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425" b="0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0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rPr>
              <a:t>Bare metal: 11,000 / 11,000 pass. Both used 11 payloads × 1,000 trials.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AEF47FF-94D5-4025-9DD8-5E229103F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105150"/>
            <a:ext cx="2952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3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Zero data errors. Linux was slower at 1–16 B, but had 20.4% lower latency at 64 KiB.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96E86DE-0888-4E5E-9F3E-428546BAF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886200"/>
            <a:ext cx="295275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2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Same bitstream and 99.99 MHz PL0. Rates are derived from mean latency, not wire throughput. Linux uses CLOCK_MONOTONIC_RAW; bare metal uses XTime. Clock/CPU evidence supports a bounded comparison, not kernel-only attribution.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4CBFF55-1063-4076-AF1C-0918A0AB6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62600"/>
            <a:ext cx="106203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B28AA0B-6F37-470B-98E6-05B69D547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72150"/>
            <a:ext cx="1057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75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575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75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rPr>
              <a:t>Task 2e remains open until the reliable clock/payload stress test is complete.</a:t>
            </a:r>
          </a:p>
        </p:txBody>
      </p:sp>
    </p:spTree>
    <p:extLst>
      <p:ext uri="{BB962C8B-B14F-4D97-AF65-F5344CB8AC3E}">
        <p14:creationId xmlns:p14="http://schemas.microsoft.com/office/powerpoint/2010/main" val="1876854501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8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3A55253-CF9F-427D-BE90-DF7CD26EE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"/>
            <a:ext cx="10668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rPr>
              <a:t>2E  /  PAIRED 60-SECOND SPI WINDOWS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413520B-9F30-465C-BBA0-2F62FE0C2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10763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Sustained application throughput by payload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4565077-5FAF-4863-AB72-B97654CC3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9065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6A19104-9ED9-452E-9082-621168D41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0"/>
            <a:ext cx="1066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MSU-2  ·  Task 2 evidence review  ·  17 Oct 2026                                      14</a:t>
            </a:r>
          </a:p>
        </p:txBody>
      </p:sp>
      <p:graphicFrame>
        <p:nvGraphicFramePr>
          <p:cNvPr id="5" name="Chart">
            <a:extLst xmlns:a="http://schemas.openxmlformats.org/drawingml/2006/main">
              <a:ext uri="{FF2B5EF4-FFF2-40B4-BE49-F238E27FC236}">
                <a16:creationId xmlns:a16="http://schemas.microsoft.com/office/drawing/2014/main" id="{99CE94E1-03A6-4D0E-97EF-7B5C733B3915}"/>
              </a:ext>
            </a:extLst>
          </p:cNvPr>
          <p:cNvGraphicFramePr/>
          <p:nvPr/>
        </p:nvGraphicFramePr>
        <p:xfrm>
          <a:off xmlns:a="http://schemas.openxmlformats.org/drawingml/2006/main" x="514350" y="1695450"/>
          <a:ext xmlns:a="http://schemas.openxmlformats.org/drawingml/2006/main" cx="7524750" cy="4000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a3bae3d09ce14e98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DF98C5B-1C67-4ED6-AC92-A1C420439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1809750"/>
            <a:ext cx="2952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875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75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rPr>
              <a:t>66 / 66 points passed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5C24FD2-14A6-4FF5-A0BC-9DEC42143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362200"/>
            <a:ext cx="2952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35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Each backend ran 11 sizes × 3 × 60 seconds. All transfers were byte-verified; zero API errors and mismatches.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1ED25A9-5060-4AE0-97D4-1063A90B9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333750"/>
            <a:ext cx="2952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4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Crossover: bare metal leads at 1–16 B; Linux leads from 64 B upward.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594A5CE-CE34-49FA-92EB-75175AF89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4210050"/>
            <a:ext cx="29527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2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Observed at this configuration: Linux 1.495 MB/s and bare metal 1.180 MB/s at 64 KiB. These are application rates, not wire limits. Clock readbacks support 1.2 GHz A53 / 99.99 MHz PL0; prior matching-setup J55 SCK was ~51 MHz.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89A8154-43E5-472E-8A34-0197918FF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24550"/>
            <a:ext cx="10620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350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rPr>
              <a:t>Paired benchmark complete; Task 2e still needs the reliable clock/payload stress test.</a:t>
            </a:r>
          </a:p>
        </p:txBody>
      </p:sp>
    </p:spTree>
    <p:extLst>
      <p:ext uri="{BB962C8B-B14F-4D97-AF65-F5344CB8AC3E}">
        <p14:creationId xmlns:p14="http://schemas.microsoft.com/office/powerpoint/2010/main" val="1154445016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8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26F989B-57ED-466B-BD5E-2A765EC10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"/>
            <a:ext cx="10668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rPr>
              <a:t>OPERATOR EXPERIENCE  /  PROPOSED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00791F-5464-4C6C-B996-081568F68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10763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One-stop ZCU102 demo workflow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DA724FA-BAD0-42AF-972E-1C3931BF8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9065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AE16C8C-1595-4560-B934-8E4CC727C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0"/>
            <a:ext cx="1066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MSU-2  ·  Task 2 evidence review  ·  17 Oct 2026                                      15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1FDF6C2-A489-47E0-981B-EFFBB0B62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1057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80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One menu selects the run, accepts its parameters, and saves the evidence.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A146643-5C91-447B-AC12-A4CF63FFD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47900"/>
            <a:ext cx="2476500" cy="2266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1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D73F7DD-C4C6-4CB0-ADDC-8FBBE0CFC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09825"/>
            <a:ext cx="2190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7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57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7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rPr>
              <a:t>1  Choose a run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F350F52-5073-438B-8F64-EC0F95CC2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86075"/>
            <a:ext cx="2171700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350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Loopback check</a:t>
            </a:r>
          </a:p>
          <a:p xmlns:a="http://schemas.openxmlformats.org/drawingml/2006/main">
            <a:pPr algn="l">
              <a:defRPr sz="1350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Integrity and latency</a:t>
            </a:r>
          </a:p>
          <a:p xmlns:a="http://schemas.openxmlformats.org/drawingml/2006/main">
            <a:pPr algn="l">
              <a:defRPr sz="1350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Sustained throughput</a:t>
            </a:r>
          </a:p>
          <a:p xmlns:a="http://schemas.openxmlformats.org/drawingml/2006/main">
            <a:pPr algn="l">
              <a:defRPr sz="1350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Payload stress</a:t>
            </a:r>
          </a:p>
          <a:p xmlns:a="http://schemas.openxmlformats.org/drawingml/2006/main">
            <a:pPr algn="l">
              <a:defRPr sz="1350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Linux / bare-metal comparison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490BA63-11B8-4467-9E00-B153AB08B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2247900"/>
            <a:ext cx="2476500" cy="2266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0B64744-4747-4483-B345-960B35510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3775" y="2409825"/>
            <a:ext cx="2190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7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57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7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rPr>
              <a:t>2  Set parameters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7F575EC-BCC0-4D6B-86E3-DFBA496B2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3775" y="2886075"/>
            <a:ext cx="2171700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350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Payload sizes</a:t>
            </a:r>
          </a:p>
          <a:p xmlns:a="http://schemas.openxmlformats.org/drawingml/2006/main">
            <a:pPr algn="l">
              <a:defRPr sz="1350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Trials or run time</a:t>
            </a:r>
          </a:p>
          <a:p xmlns:a="http://schemas.openxmlformats.org/drawingml/2006/main">
            <a:pPr algn="l">
              <a:defRPr sz="1350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Repetitions</a:t>
            </a:r>
          </a:p>
          <a:p xmlns:a="http://schemas.openxmlformats.org/drawingml/2006/main">
            <a:pPr algn="l">
              <a:defRPr sz="1350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Stop on first error</a:t>
            </a:r>
          </a:p>
          <a:p xmlns:a="http://schemas.openxmlformats.org/drawingml/2006/main">
            <a:pPr algn="l">
              <a:defRPr sz="1350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Review before starting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A922D4C-4128-40D4-A579-DB60EA29D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247900"/>
            <a:ext cx="2476500" cy="2266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1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1DB40A6-66F0-4C2C-9442-D8022B030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409825"/>
            <a:ext cx="2190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7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57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7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rPr>
              <a:t>3  Select backend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3767904-A720-4697-B92F-047277F9F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886075"/>
            <a:ext cx="2171700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350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Linux uses spidev</a:t>
            </a:r>
          </a:p>
          <a:p xmlns:a="http://schemas.openxmlformats.org/drawingml/2006/main">
            <a:pPr algn="l">
              <a:defRPr sz="1350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Bare metal uses XSpi</a:t>
            </a:r>
          </a:p>
          <a:p xmlns:a="http://schemas.openxmlformats.org/drawingml/2006/main">
            <a:pPr algn="l">
              <a:defRPr sz="1350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Same validated PL image</a:t>
            </a:r>
          </a:p>
          <a:p xmlns:a="http://schemas.openxmlformats.org/drawingml/2006/main">
            <a:pPr algn="l">
              <a:defRPr sz="1350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Backend switch requires reboot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715C8B6-D6B5-492A-AA08-4168D5E94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2525" y="2247900"/>
            <a:ext cx="2476500" cy="2266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1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1F8823A-9C03-49FD-821C-92FEABF1D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4925" y="2409825"/>
            <a:ext cx="2190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7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57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7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rPr>
              <a:t>4  Keep the evidence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E3F7C61-E684-4649-8C92-C25114D21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4925" y="2886075"/>
            <a:ext cx="2171700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350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CSV results</a:t>
            </a:r>
          </a:p>
          <a:p xmlns:a="http://schemas.openxmlformats.org/drawingml/2006/main">
            <a:pPr algn="l">
              <a:defRPr sz="1350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Raw UART log</a:t>
            </a:r>
          </a:p>
          <a:p xmlns:a="http://schemas.openxmlformats.org/drawingml/2006/main">
            <a:pPr algn="l">
              <a:defRPr sz="1350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Run settings and timestamps</a:t>
            </a:r>
          </a:p>
          <a:p xmlns:a="http://schemas.openxmlformats.org/drawingml/2006/main">
            <a:pPr algn="l">
              <a:defRPr sz="1350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Bitstream and software hashes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17A06E5-22F0-49E9-AFFB-CB4B03985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286125"/>
            <a:ext cx="123825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C35A2B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160AAAF-CE8D-4508-8191-A944DB13F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4075" y="3286125"/>
            <a:ext cx="123825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C35A2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D64FD53-ACDE-4FE9-B2FA-1D9FEF3AE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3286125"/>
            <a:ext cx="123825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C35A2B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CBE43F4-7E04-44B6-B0FA-BB3BD0550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19650"/>
            <a:ext cx="106203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039B040-B4BB-451E-B384-324BBC05D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29200"/>
            <a:ext cx="10620375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00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00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rPr>
              <a:t>Clock limit: this image has a synthesized SCK ratio of 2. A speed request cannot change the physical clock.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4928472-14DE-481E-9083-D6C18FDFF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10225"/>
            <a:ext cx="106203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2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Linux and bare metal need separate boot modes, but can share one SD card and the same PL image. “Normal operation” still needs a defined workload; today’s proven mode is J55 loopback.</a:t>
            </a:r>
          </a:p>
        </p:txBody>
      </p:sp>
    </p:spTree>
    <p:extLst>
      <p:ext uri="{BB962C8B-B14F-4D97-AF65-F5344CB8AC3E}">
        <p14:creationId xmlns:p14="http://schemas.microsoft.com/office/powerpoint/2010/main" val="2043672228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8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BAA08B0-1D52-44E0-BCC7-877400918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"/>
            <a:ext cx="10668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rPr>
              <a:t>2E  /  ADDITIONAL 33-POINT RUN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91FEE7C-D574-458A-A5F5-119051BEC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10763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Bare-metal sustained-run repeatability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22B9B3D-3242-41EF-B373-80834C80D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9065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3F6CA46-DF7E-499C-B05B-DC346BC51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0"/>
            <a:ext cx="1066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MSU-2  ·  Task 2 evidence review  ·  17 Oct 2026                                      16</a:t>
            </a:r>
          </a:p>
        </p:txBody>
      </p:sp>
      <p:graphicFrame>
        <p:nvGraphicFramePr>
          <p:cNvPr id="5" name="Chart">
            <a:extLst xmlns:a="http://schemas.openxmlformats.org/drawingml/2006/main">
              <a:ext uri="{FF2B5EF4-FFF2-40B4-BE49-F238E27FC236}">
                <a16:creationId xmlns:a16="http://schemas.microsoft.com/office/drawing/2014/main" id="{48D5B782-80C2-4756-94B0-93B1C29C9BF2}"/>
              </a:ext>
            </a:extLst>
          </p:cNvPr>
          <p:cNvGraphicFramePr/>
          <p:nvPr/>
        </p:nvGraphicFramePr>
        <p:xfrm>
          <a:off xmlns:a="http://schemas.openxmlformats.org/drawingml/2006/main" x="514350" y="1714500"/>
          <a:ext xmlns:a="http://schemas.openxmlformats.org/drawingml/2006/main" cx="7524750" cy="3810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f4789beb767b4601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1564CDB-F084-420F-9990-405226704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1800225"/>
            <a:ext cx="30003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800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rPr>
              <a:t>33 / 33 points passed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36685DE-55C3-48CF-A275-683D237C9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324100"/>
            <a:ext cx="3000375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35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46.24 million byte-verified transfers and 1.543 billion verified payload bytes. Zero API errors or receive mismatches.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3251080-307E-42D9-9E98-2AFD5E359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3295650"/>
            <a:ext cx="3000375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4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Median rates stayed within −0.004% to +0.924% of the earlier bare-metal set across all 11 payloads.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CA4002D-9A0B-405F-A4F3-197DC8F32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4276725"/>
            <a:ext cx="3000375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2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Repeatability is supported through 64 KiB. This did not test larger payloads or a clock limit. The runner marked topology unverified; physical SCK was not measured.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0B03BED-DE37-42F0-A24F-0C9618057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24550"/>
            <a:ext cx="10620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350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rPr>
              <a:t>Task 2e remains partial until the reliable payload/clock operating envelope is tested.</a:t>
            </a:r>
          </a:p>
        </p:txBody>
      </p:sp>
    </p:spTree>
    <p:extLst>
      <p:ext uri="{BB962C8B-B14F-4D97-AF65-F5344CB8AC3E}">
        <p14:creationId xmlns:p14="http://schemas.microsoft.com/office/powerpoint/2010/main" val="87861505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8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1A9E59E-2491-434C-84D5-DD7FE7108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"/>
            <a:ext cx="10668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rPr>
              <a:t>ONE-STOP PROGRAM  /  FIRST IMPLEMENTATION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B9F51DC-8657-4348-8B1B-D2433A675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10763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Linux demo console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7A2CCB3-6B1F-49A1-A235-3F086936E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9065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9B6BDD9-7BA4-4EFC-931E-2F652948B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0"/>
            <a:ext cx="1066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MSU-2  ·  Task 2 evidence review  ·  17 Oct 2026                                      17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578A015-1E5D-4DCE-9688-22E1842F2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28775"/>
            <a:ext cx="49530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800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rPr>
              <a:t>Operator choices after Linux starts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371444A-7421-4C98-955B-47659155B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33600"/>
            <a:ext cx="485775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00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00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0  Normal Linux operation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00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00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1  Integrity and latency sweep</a:t>
            </a:r>
          </a:p>
          <a:p xmlns:a="http://schemas.openxmlformats.org/drawingml/2006/main">
            <a:pPr algn="l">
              <a:defRPr sz="1500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00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    11 payload sizes × 1,000 trials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00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00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2  Sustained throughput</a:t>
            </a:r>
          </a:p>
          <a:p xmlns:a="http://schemas.openxmlformats.org/drawingml/2006/main">
            <a:pPr algn="l">
              <a:defRPr sz="1500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00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    Choose sizes, duration and repeats</a:t>
            </a:r>
          </a:p>
          <a:p xmlns:a="http://schemas.openxmlformats.org/drawingml/2006/main">
            <a:pPr algn="l">
              <a:defRPr sz="1500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00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    Type RUN before a long test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00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00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3  System and SPI interface details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68F71A6-DF97-4AD2-B67F-BCFDA2A0D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714500"/>
            <a:ext cx="19050" cy="3238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3FAED76-740C-4257-B264-E0EA51D07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1628775"/>
            <a:ext cx="49530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800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rPr>
              <a:t>Bare-metal has its own UART menu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71D0C1E-2644-4EBE-85E9-6FE04326F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171700"/>
            <a:ext cx="485775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650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650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Full 11-payload baseline</a:t>
            </a:r>
          </a:p>
          <a:p xmlns:a="http://schemas.openxmlformats.org/drawingml/2006/main">
            <a:pPr algn="l">
              <a:defRPr sz="1650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650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Single payload with chosen duration</a:t>
            </a:r>
          </a:p>
          <a:p xmlns:a="http://schemas.openxmlformats.org/drawingml/2006/main">
            <a:pPr algn="l">
              <a:defRPr sz="1650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650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One-second smoke run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650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Every mode waits for RUN</a:t>
            </a:r>
          </a:p>
          <a:p xmlns:a="http://schemas.openxmlformats.org/drawingml/2006/main">
            <a:pPr algn="l">
              <a:defRPr sz="1650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650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Vitis ELF build passed against pinned XSA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E366C58-15BC-4290-B44A-A475C69C8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0"/>
            <a:ext cx="106203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425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rPr>
              <a:t>Linux host self-test and all four sustained-runner tests passed; bare-metal ELF build passed.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DAB75C4-62C9-470F-94C2-24D92731E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38800"/>
            <a:ext cx="106203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275" b="0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75" b="0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rPr>
              <a:t>Boundary: each menu is built, but there is no power-on OS chooser or shared boot image yet. The bare-metal menu has not run on board; boot integration must retain Task 2g signature enforcement.</a:t>
            </a:r>
          </a:p>
        </p:txBody>
      </p:sp>
    </p:spTree>
    <p:extLst>
      <p:ext uri="{BB962C8B-B14F-4D97-AF65-F5344CB8AC3E}">
        <p14:creationId xmlns:p14="http://schemas.microsoft.com/office/powerpoint/2010/main" val="1175673725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8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4FB2146-EA56-4E7F-9321-ECF80EBB1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"/>
            <a:ext cx="10668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rPr>
              <a:t>2G + ONE-STOP INTEGRATION  /  HOST PROTOTYPE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883A57E-8436-4D6A-A5CD-B9C80AD0B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10763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One signed FIT can carry both operating modes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2C56207-505D-445F-A255-F735FD56D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9065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EEAAF6E-9218-4D38-86AC-4BBE35950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0"/>
            <a:ext cx="1066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MSU-2  ·  Task 2 evidence review  ·  17 Oct 2026                                      18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92A92F4-7265-48BB-98D7-2C71A0C0A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28775"/>
            <a:ext cx="10620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7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7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U-Boot sandbox selected Linux or the standalone SPI-test image from one required-key FIT.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3AB2AB2-E674-4886-B781-5F4D5247D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43150"/>
            <a:ext cx="3238500" cy="1847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1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F21D660-BADE-46D1-B339-BB8FD7423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43150"/>
            <a:ext cx="3238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46B9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DADEF90-2555-4A76-970E-3A53596F6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609850"/>
            <a:ext cx="2895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650" b="1">
                <a:solidFill>
                  <a:srgbClr val="446B9E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446B9E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650" b="1">
                <a:solidFill>
                  <a:srgbClr val="446B9E"/>
                </a:solidFill>
                <a:latin typeface="Liberation Sans"/>
                <a:ea typeface="Liberation Sans"/>
                <a:cs typeface="Liberation Sans"/>
              </a:rPr>
              <a:t>Linux configuration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896B4E2-F82A-4A49-BE4B-BD7D99BBB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05150"/>
            <a:ext cx="28956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425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Signed kernel + FDT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425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Sandbox accepted bootm selection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2197241-7AF3-4C51-8E94-B53212B2A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343150"/>
            <a:ext cx="3238500" cy="1847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BBB1B05-847F-4446-B132-160EB51D0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343150"/>
            <a:ext cx="3238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6E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79AA351-D453-4B7B-8F5B-A06EC84A8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609850"/>
            <a:ext cx="2895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650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650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rPr>
              <a:t>Standalone SPI-test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B7A5D8B-48AF-4182-B9A8-2629DB6F4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105150"/>
            <a:ext cx="28956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425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Signed firmware entry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425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Sandbox loaded it with execution disabled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62DEDF3-19F1-4EF3-80A4-7C8D2EB27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343150"/>
            <a:ext cx="3238500" cy="1847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719E0D3-3143-44D6-8EA9-6F2497013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343150"/>
            <a:ext cx="3238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93F3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67AC92C-1CFD-4687-86BE-EB4B0302A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609850"/>
            <a:ext cx="2895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650" b="1">
                <a:solidFill>
                  <a:srgbClr val="A93F3F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A93F3F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650" b="1">
                <a:solidFill>
                  <a:srgbClr val="A93F3F"/>
                </a:solidFill>
                <a:latin typeface="Liberation Sans"/>
                <a:ea typeface="Liberation Sans"/>
                <a:cs typeface="Liberation Sans"/>
              </a:rPr>
              <a:t>Modified payload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7EC90B5-CC70-4D26-93B4-6490E1B5F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105150"/>
            <a:ext cx="28956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425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One byte changed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425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Sandbox rejected it before transfer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E5192D2-4184-4E8F-A219-C03DFDA2E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57700"/>
            <a:ext cx="10620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00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00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rPr>
              <a:t>Both configurations passed required-key signature verification; the altered SPI-test payload failed closed.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D414B69-09B0-43E3-996A-ED7677287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81600"/>
            <a:ext cx="106203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350" b="0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 b="0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rPr>
              <a:t>Still open: fixed authenticated boot menu, signed Linux console package, target boot, physical SPI test, and BootROM-rooted trust. The SD card was backed up read-only and left unchanged.</a:t>
            </a:r>
          </a:p>
        </p:txBody>
      </p:sp>
    </p:spTree>
    <p:extLst>
      <p:ext uri="{BB962C8B-B14F-4D97-AF65-F5344CB8AC3E}">
        <p14:creationId xmlns:p14="http://schemas.microsoft.com/office/powerpoint/2010/main" val="141672503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2026-10-17T17:33:31.9260000Z</dcterms:created>
  <dcterms:modified xsi:type="dcterms:W3CDTF">2026-10-17T17:33:31.9260000Z</dcterms:modified>
</coreProperties>
</file>
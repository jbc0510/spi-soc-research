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0ef4e4e1f045ed" /><Relationship Type="http://schemas.openxmlformats.org/officeDocument/2006/relationships/extended-properties" Target="/docProps/app.xml" Id="R68f442164fde4bc4" /><Relationship Type="http://schemas.openxmlformats.org/officeDocument/2006/relationships/officeDocument" Target="/ppt/presentation.xml" Id="R3c74c5df78b344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ed1470ad9c4125"/>
  </p:sldMasterIdLst>
  <p:notesMasterIdLst>
    <p:notesMasterId xmlns:r="http://schemas.openxmlformats.org/officeDocument/2006/relationships" r:id="R8d63311550144d7d"/>
  </p:notesMasterIdLst>
  <p:sldIdLst>
    <p:sldId xmlns:r="http://schemas.openxmlformats.org/officeDocument/2006/relationships" id="256" r:id="Re437df64453d4136"/>
    <p:sldId xmlns:r="http://schemas.openxmlformats.org/officeDocument/2006/relationships" id="257" r:id="R5fbd16e9a04e43d5"/>
    <p:sldId xmlns:r="http://schemas.openxmlformats.org/officeDocument/2006/relationships" id="258" r:id="Ra2e5cf2e2ab84e97"/>
    <p:sldId xmlns:r="http://schemas.openxmlformats.org/officeDocument/2006/relationships" id="259" r:id="R1af17ccb68ad45f3"/>
    <p:sldId xmlns:r="http://schemas.openxmlformats.org/officeDocument/2006/relationships" id="260" r:id="Rf4bc6b339d6e44a8"/>
    <p:sldId xmlns:r="http://schemas.openxmlformats.org/officeDocument/2006/relationships" id="261" r:id="R66095d02c4b6420b"/>
    <p:sldId xmlns:r="http://schemas.openxmlformats.org/officeDocument/2006/relationships" id="262" r:id="R5243cb61bbe843a9"/>
    <p:sldId xmlns:r="http://schemas.openxmlformats.org/officeDocument/2006/relationships" id="263" r:id="R2ed41f7e887f4dec"/>
    <p:sldId xmlns:r="http://schemas.openxmlformats.org/officeDocument/2006/relationships" id="264" r:id="Ra8ecfef3295b4cd7"/>
    <p:sldId xmlns:r="http://schemas.openxmlformats.org/officeDocument/2006/relationships" id="265" r:id="Rf12b0f45ba0e4e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039c206df4479d" /><Relationship Type="http://schemas.openxmlformats.org/officeDocument/2006/relationships/slideMaster" Target="/ppt/slideMasters/slideMaster1.xml" Id="R52ed1470ad9c4125" /><Relationship Type="http://schemas.openxmlformats.org/officeDocument/2006/relationships/notesMaster" Target="/ppt/notesMasters/notesMaster1.xml" Id="R8d63311550144d7d" /><Relationship Type="http://schemas.openxmlformats.org/officeDocument/2006/relationships/presProps" Target="/ppt/presProps.xml" Id="R76b45184362745b7" /><Relationship Type="http://schemas.openxmlformats.org/officeDocument/2006/relationships/tableStyles" Target="/ppt/tableStyles.xml" Id="Rd6ba4de66f9b4bfd" /><Relationship Type="http://schemas.openxmlformats.org/officeDocument/2006/relationships/slide" Target="/ppt/slides/slide1.xml" Id="Re437df64453d4136" /><Relationship Type="http://schemas.openxmlformats.org/officeDocument/2006/relationships/slide" Target="/ppt/slides/slide2.xml" Id="R5fbd16e9a04e43d5" /><Relationship Type="http://schemas.openxmlformats.org/officeDocument/2006/relationships/slide" Target="/ppt/slides/slide3.xml" Id="Ra2e5cf2e2ab84e97" /><Relationship Type="http://schemas.openxmlformats.org/officeDocument/2006/relationships/slide" Target="/ppt/slides/slide4.xml" Id="R1af17ccb68ad45f3" /><Relationship Type="http://schemas.openxmlformats.org/officeDocument/2006/relationships/slide" Target="/ppt/slides/slide5.xml" Id="Rf4bc6b339d6e44a8" /><Relationship Type="http://schemas.openxmlformats.org/officeDocument/2006/relationships/slide" Target="/ppt/slides/slide6.xml" Id="R66095d02c4b6420b" /><Relationship Type="http://schemas.openxmlformats.org/officeDocument/2006/relationships/slide" Target="/ppt/slides/slide7.xml" Id="R5243cb61bbe843a9" /><Relationship Type="http://schemas.openxmlformats.org/officeDocument/2006/relationships/slide" Target="/ppt/slides/slide8.xml" Id="R2ed41f7e887f4dec" /><Relationship Type="http://schemas.openxmlformats.org/officeDocument/2006/relationships/slide" Target="/ppt/slides/slide9.xml" Id="Ra8ecfef3295b4cd7" /><Relationship Type="http://schemas.openxmlformats.org/officeDocument/2006/relationships/slide" Target="/ppt/slides/slide10.xml" Id="Rf12b0f45ba0e4e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801dc22904a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c45441fe094466" /><Relationship Type="http://schemas.openxmlformats.org/officeDocument/2006/relationships/notesMaster" Target="/ppt/notesMasters/notesMaster1.xml" Id="R0be14d81b51244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54591a9e9642d9" /><Relationship Type="http://schemas.openxmlformats.org/officeDocument/2006/relationships/notesMaster" Target="/ppt/notesMasters/notesMaster1.xml" Id="R22f146a7eb2c47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6bb097ff32478c" /><Relationship Type="http://schemas.openxmlformats.org/officeDocument/2006/relationships/notesMaster" Target="/ppt/notesMasters/notesMaster1.xml" Id="Rcfd2283502064f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ac0e708fca40c6" /><Relationship Type="http://schemas.openxmlformats.org/officeDocument/2006/relationships/notesMaster" Target="/ppt/notesMasters/notesMaster1.xml" Id="R8f7696bbf05047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bf2e3698bb45f2" /><Relationship Type="http://schemas.openxmlformats.org/officeDocument/2006/relationships/notesMaster" Target="/ppt/notesMasters/notesMaster1.xml" Id="Rbe58398d895549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27fd82fd1e4d42" /><Relationship Type="http://schemas.openxmlformats.org/officeDocument/2006/relationships/notesMaster" Target="/ppt/notesMasters/notesMaster1.xml" Id="R4f6308247aaf46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11457acace40b0" /><Relationship Type="http://schemas.openxmlformats.org/officeDocument/2006/relationships/notesMaster" Target="/ppt/notesMasters/notesMaster1.xml" Id="Rc05dcfadef2e46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22ac0440504937" /><Relationship Type="http://schemas.openxmlformats.org/officeDocument/2006/relationships/notesMaster" Target="/ppt/notesMasters/notesMaster1.xml" Id="Ra4d051aeaa4d45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d307cf69a84874" /><Relationship Type="http://schemas.openxmlformats.org/officeDocument/2006/relationships/notesMaster" Target="/ppt/notesMasters/notesMaster1.xml" Id="Rbc342e8228324b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0e91f7cd514938" /><Relationship Type="http://schemas.openxmlformats.org/officeDocument/2006/relationships/notesMaster" Target="/ppt/notesMasters/notesMaster1.xml" Id="Rdba52d9402e24f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SOW source: /home/opentitan/Downloads/MSU-2_SOW_Final (1).docx, revision 2026-02-23.</a:t>
            </a:r>
          </a:p>
          <a:p xmlns:a="http://schemas.openxmlformats.org/drawingml/2006/main">
            <a:r>
              <a:t>2d/2e audit basis: results/SOW_2E_HARDENED_BOARD_VALIDATION_20260922.md and results/linux_axi_spi_bringup_20261013/SOW_2A_FINAL_COMPARISON_20261014.md.</a:t>
            </a:r>
          </a:p>
          <a:p xmlns:a="http://schemas.openxmlformats.org/drawingml/2006/main">
            <a:r>
              <a:t>2f source: results/SOW_2F_FREQSWEEP_20260908.md. 2g sources: results/SOW_2G_RECOVERY_20260909.md and results/SOW_2G_FWENV_20260908.md.</a:t>
            </a:r>
          </a:p>
          <a:p xmlns:a="http://schemas.openxmlformats.org/drawingml/2006/main">
            <a:r>
              <a:t>Historical file labels do not exactly mirror the SOW’s unlettered activity list. This slide maps 2d–2g by the SOW’s wording and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results/SOW_2G_HARDENING_CONTRAST_20261015.md.</a:t>
            </a:r>
          </a:p>
          <a:p xmlns:a="http://schemas.openxmlformats.org/drawingml/2006/main">
            <a:r>
              <a:t>Reproduction: python3 linux/appliance/hardening_contrast_demo.py. Captured output: results/task2g_hardening_contrast_20261015/demo_run.log.</a:t>
            </a:r>
          </a:p>
          <a:p xmlns:a="http://schemas.openxmlformats.org/drawingml/2006/main">
            <a:r>
              <a:t>The hardened column invokes linux/appliance/ab_update_prototype.py using temporary host files. The baseline is an intentionally unsafe in-memory illustration.</a:t>
            </a:r>
          </a:p>
          <a:p xmlns:a="http://schemas.openxmlformats.org/drawingml/2006/main">
            <a:r>
              <a:t>Tests: tests/test_task2g_hardening_contrast.py and tests/test_task2g_ab_update.py. Passing tests are model evidence only, not target secure-boot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1383bdad34b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731ee741f4a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9c45a3b7b4b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3c7db917743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bf3706f1e4c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516f7bc0540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91E9D5-8A73-4FD5-A497-BAB8496214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CED50C5-2776-4999-B425-4EAE922AD2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F50A71-B893-48DA-98E7-4AFEC663A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C1FFE9-8338-4FAA-9BD6-81A9C7889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B57FF2-5E67-4995-9099-546348C3D1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E338C0-69AA-42CA-80E9-A2E129A941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BFB098-59A3-4E27-80A5-800A7776D2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2439B0-7F9C-4A3C-BC72-D281386120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EAE9B2-E99C-463C-B07E-CCD80620E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2845A5-4935-448A-9C73-D43638DCB3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9f39db8234572" /><Relationship Type="http://schemas.openxmlformats.org/officeDocument/2006/relationships/slideLayout" Target="/ppt/slideLayouts/slideLayout1.xml" Id="R55aeb1c8111544cd" /><Relationship Type="http://schemas.openxmlformats.org/officeDocument/2006/relationships/slideLayout" Target="/ppt/slideLayouts/slideLayout2.xml" Id="R7a2b2c2c1924476e" /><Relationship Type="http://schemas.openxmlformats.org/officeDocument/2006/relationships/slideLayout" Target="/ppt/slideLayouts/slideLayout3.xml" Id="Rcaaee6f2cd67415d" /><Relationship Type="http://schemas.openxmlformats.org/officeDocument/2006/relationships/slideLayout" Target="/ppt/slideLayouts/slideLayout4.xml" Id="Raf9a3ed7d3cb4d36" /><Relationship Type="http://schemas.openxmlformats.org/officeDocument/2006/relationships/slideLayout" Target="/ppt/slideLayouts/slideLayout5.xml" Id="Rf190cfee512c4a5b" /><Relationship Type="http://schemas.openxmlformats.org/officeDocument/2006/relationships/slideLayout" Target="/ppt/slideLayouts/slideLayout6.xml" Id="R839c66a93b4f4a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aeb1c8111544cd"/>
    <p:sldLayoutId xmlns:r="http://schemas.openxmlformats.org/officeDocument/2006/relationships" id="2147483650" r:id="R7a2b2c2c1924476e"/>
    <p:sldLayoutId xmlns:r="http://schemas.openxmlformats.org/officeDocument/2006/relationships" id="2147483651" r:id="Rcaaee6f2cd67415d"/>
    <p:sldLayoutId xmlns:r="http://schemas.openxmlformats.org/officeDocument/2006/relationships" id="2147483652" r:id="Raf9a3ed7d3cb4d36"/>
    <p:sldLayoutId xmlns:r="http://schemas.openxmlformats.org/officeDocument/2006/relationships" id="2147483653" r:id="Rf190cfee512c4a5b"/>
    <p:sldLayoutId xmlns:r="http://schemas.openxmlformats.org/officeDocument/2006/relationships" id="2147483654" r:id="R839c66a93b4f4a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dd63e229c4efb" /><Relationship Type="http://schemas.openxmlformats.org/officeDocument/2006/relationships/notesSlide" Target="/ppt/notesSlides/notesSlide1.xml" Id="Rabaa40e2ca1a4c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f8c1488794917" /><Relationship Type="http://schemas.openxmlformats.org/officeDocument/2006/relationships/chart" Target="/ppt/slides/charts/chart1.xml" Id="Rfb36236b7d3e46c2" /><Relationship Type="http://schemas.openxmlformats.org/officeDocument/2006/relationships/notesSlide" Target="/ppt/notesSlides/notesSlide2.xml" Id="R85eb9da493cc4f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75e28749b4453" /><Relationship Type="http://schemas.openxmlformats.org/officeDocument/2006/relationships/chart" Target="/ppt/slides/charts/chart2.xml" Id="R539894ef4de549b8" /><Relationship Type="http://schemas.openxmlformats.org/officeDocument/2006/relationships/notesSlide" Target="/ppt/notesSlides/notesSlide3.xml" Id="R48e23d8c8d4049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f10f3d8c14a8d" /><Relationship Type="http://schemas.openxmlformats.org/officeDocument/2006/relationships/chart" Target="/ppt/slides/charts/chart3.xml" Id="Ra09fdae6d26146bf" /><Relationship Type="http://schemas.openxmlformats.org/officeDocument/2006/relationships/notesSlide" Target="/ppt/notesSlides/notesSlide4.xml" Id="R7b49df2fbc104c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d2c83afce4844" /><Relationship Type="http://schemas.openxmlformats.org/officeDocument/2006/relationships/notesSlide" Target="/ppt/notesSlides/notesSlide5.xml" Id="Rfba8bbfba31140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5573ef8444801" /><Relationship Type="http://schemas.openxmlformats.org/officeDocument/2006/relationships/notesSlide" Target="/ppt/notesSlides/notesSlide6.xml" Id="Rb878b40e59a344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208c7555147dc" /><Relationship Type="http://schemas.openxmlformats.org/officeDocument/2006/relationships/chart" Target="/ppt/slides/charts/chart4.xml" Id="R1ae13216c5b9413c" /><Relationship Type="http://schemas.openxmlformats.org/officeDocument/2006/relationships/notesSlide" Target="/ppt/notesSlides/notesSlide7.xml" Id="Ra614e0bcc6b246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c2f7d1b754e80" /><Relationship Type="http://schemas.openxmlformats.org/officeDocument/2006/relationships/notesSlide" Target="/ppt/notesSlides/notesSlide8.xml" Id="R6757ade2376d4a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3a30561f14039" /><Relationship Type="http://schemas.openxmlformats.org/officeDocument/2006/relationships/notesSlide" Target="/ppt/notesSlides/notesSlide9.xml" Id="R8ee0eb80212647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8f5fa91b64a1e" /><Relationship Type="http://schemas.openxmlformats.org/officeDocument/2006/relationships/notesSlide" Target="/ppt/notesSlides/notesSlide10.xml" Id="R80d1f0ba776f48a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21B70-59A0-4CDD-A266-C5CF216B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60933-99E3-4928-9DC3-059ADC5A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FEF63-C94E-4D5E-8604-17BE1877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7A382-71F7-4B97-AAE4-B10D6CD5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83F42-458D-4DF4-81FF-BFFC1626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527173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7EA98-42E6-428A-AD16-BC636CEF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0D17A-47DA-4621-AE89-B566881A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4DF8E-3A6C-41B0-925F-028950C6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47F43-C78A-4100-853C-E45D3CB0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BD61D95-002D-4812-918A-1F23A69AF01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36236b7d3e46c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B1183-F33A-4697-BF90-F379BAAC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A463F-082B-4074-98B5-F7C044A2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631D1-0445-4372-9DCC-9A4D1022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9A1FE-30A3-4EAB-ABAC-E6F23284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164AB-A3A3-419E-B83F-38EE0BB3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93405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1FF44-4B48-4EA2-BAFC-A92BB58A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970D8-7EA0-4BFC-881D-12F7CF0B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9770A-6835-415E-85D1-59CE4EF8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45B56-0955-4184-913F-4EA47DB8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5D24512-B488-47A4-9D73-9482D37E5B6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9894ef4de549b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81925-EBCD-4EEA-9314-0E34D26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AC1EB-A5EA-4D5D-8721-F68C90E8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A5EB8-FCEA-4706-BD4A-FF4D4EB2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91446-ED35-4958-AF57-E175D40E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4CB29-6122-4F49-AE79-BA8682D8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2125287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F4F19-A8C8-41F2-88CB-8152FE4E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8EE2F-AC58-4C09-A480-F4AF335E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A54A0-C0A0-4C78-A114-D40FBADF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900CA-4F30-4D17-A44D-5E10B1D8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8FF8260-8B43-41A2-B02D-6CEC2939852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9fdae6d26146b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51D8C-0221-4296-84E2-56950967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E2A07-8CC3-4A8E-B027-371D0036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0BBE4-918A-4E3F-B0EF-6F473395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1B2CE-9C85-4CFB-BCCE-90859C0B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335064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7B6D9-3C3F-4436-BD8E-AEC6AEA4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14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90570-9515-4566-899A-72B63A5A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Remaining Task 2 work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F98D8-D666-4CFF-9F21-CCE064D3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C9A58-1D80-4857-A558-D0DCA979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27277-59C9-4F31-A602-A76C4282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91D88-162D-4E28-8461-F64CF93C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B4F89-48C4-4B7D-A834-286CE1FB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49841-32A0-4DA6-A8B3-C4DB5405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Verified boot and signed update implementation remain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4FC67-E67B-4290-9899-BD574C66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5690C-D149-4394-A367-12188EC4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BBC0A-BB17-49A3-8CEF-F073C36A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9D0C8-68B5-499F-8F58-F6A65B4F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Paired contract and CPU analysis exist; bare-metal CPU measurement and sustained-throughput test remain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54647-C4E6-48AB-9B91-EAED275F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E9301-5A0A-445D-AD81-26880D39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C2C98-6D16-40A8-8E22-129BCD3A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82272-42B4-449F-A52E-6FCA9572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719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axis measured; preemption-model and physical DMA driver comparisons remain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41853-2A81-4925-B544-843D1240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3797F-2327-4086-9AC9-9209E8F6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9AD13-C6A9-44EA-90EE-F6588711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1059A-98A0-49CD-8E61-D47FAD8F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A/B updater prototype passes host fault tests; U-Boot integration and target secure boot/recovery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B7294-E15E-4ACC-96EE-8BD46E8A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Status labels follow the SOW activity wording; partial evidence is not presented as criterion closure.</a:t>
            </a:r>
          </a:p>
        </p:txBody>
      </p:sp>
    </p:spTree>
    <p:extLst>
      <p:ext uri="{BB962C8B-B14F-4D97-AF65-F5344CB8AC3E}">
        <p14:creationId xmlns:p14="http://schemas.microsoft.com/office/powerpoint/2010/main" val="1768576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D5428-7647-4DF3-840A-DD66F9EC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3A87B-0FC5-4C48-9CD6-1D7E32D1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D0FE0-6EA2-4038-A5F7-082FD6B7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FF00F-CC74-4E4C-9F0C-B91EC975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A7293-9163-4B58-9CA6-BCA727CE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0A6AD-3806-4C28-A21D-1536FFA6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57C21-8A12-45BA-AA3F-07A02F4E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EC933-34A8-4773-B0B6-5307030B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BDA98-8DF3-441B-A306-E203C26B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CA525-3835-42FD-B9A4-B6A72E39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37FF6-2043-46AF-B289-4C9FC5B1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885CE-DB59-4676-AC1D-823C18B2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4B84C-C02D-47F7-9720-D66C3AE8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4DF12-8FFB-45B5-A865-422DEF9A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070DE-5321-4D7C-93EC-953A14E6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DFB94-E13E-490D-9CB0-21C7543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A0EE0-0B1E-4E85-8281-0875514C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90798-E281-4854-AFDC-E68DC90E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D9B27-D081-49E4-9FD1-3293170F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30736-1839-491F-A893-C19F9041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D285E-4206-4B94-98DA-D4EE2922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F4195-4B17-47C6-99DF-89D7CF62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B71E9-6BE6-4754-8038-846721B9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7DE7F6-7CA5-4190-B84E-CDAAA39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5E23B-46EB-40F9-936C-D0B23D04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491D8-7385-4DD7-9529-DB41163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1097729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AD4E8-6BB9-483B-B271-3D17246F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DE9C5-0F80-41A2-8CF6-0227DDDC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AEEA6-D8B1-4F02-AB52-837F336A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430DE-01D9-47E1-B76D-D53FB3BA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63E9CE6-96EE-48C5-B36E-7A1BB5CF28F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e13216c5b9413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20663-D346-4A41-8401-6F18D750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2D9B3-9C4F-4C7E-8BD5-C15C2A31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F7B58-94D3-47EC-A7BE-E1B3197D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1032E-0886-48B7-9484-5B9A18A5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86892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B7467-D2E7-472E-820B-447FD6D3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94B22-1990-4243-806D-AA4A5E10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EF7A9-B156-4436-83EF-BD3502D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50A7F-384F-41C3-B639-983F8AA0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3FFD9-588E-4899-9F2B-504661FF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FC7C7-E111-4506-8519-A73B4C67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81C81-E27B-409A-AFAE-0827E244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12BE9-8FD0-4B80-8EF6-9AC7F266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0919C-5BD2-47A9-AF42-64E9D7E3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41BD7-9019-48BB-8B3A-1377D882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9FCA2-AFF7-483F-A1D7-B4A66B6C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62F9A-744B-413D-80DB-9D8FEEB7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7D938-2922-4621-970C-11EEF023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2CF4B-61EF-4097-83EE-6873780D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8E81E-2D69-47FC-BE2B-68DC11F7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6F088-BEA5-4DFC-B906-FE6D5E50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D5315-4CF3-42B3-BFC3-0233961B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242746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023DE-DEC1-4CA1-8418-E8EA3E26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3EE78-5142-46AF-B80A-C84554CE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CC3D5-1E5A-4E08-83ED-E34CBA45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2688B-B2CE-4128-8C5C-D332C245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6B632-3FCD-40FA-BF99-6633E7B1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371E5-9DEE-44D0-B0D8-29AD4F8F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FCFCE-156D-41C9-A2F2-32D29903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430BE-8AF4-4476-8EE4-D2B7B49F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3E903-EEE0-408C-9510-B108DB5C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BA63A-A65A-4F8F-BFEB-6D3540D9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FF712-77E0-4F1A-A9CA-480009F4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324152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6F173E-FA5D-4415-A14C-0B742DB5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HOST FAULT-INJECTION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AD189-3776-406A-8122-1E9F6E90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Update fault handling: baseline vs A/B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AE987-91C4-4DCA-9849-48750B32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AE593-C3ED-4C30-BA9E-2A0BA5F2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48E07-3831-4FE4-B8B2-3881AF76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ACB4C-3055-41FC-9340-9C504551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3F95B-3A91-434A-A2C8-88F89A4F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51B08-71B5-4FB7-BE4C-7555CDA5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008C8-ECC7-4C2E-BCAF-214BE32F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6B51F-D8E0-47AA-BFD5-6EE64157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4F255-1AB8-4544-8D6D-2CE9A4B3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2AF76-26DA-4E6C-BE4D-95F59989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B623C-35F3-414B-8748-163F3080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615D6-C574-44A8-84C2-E75AF3E7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9D629-F534-44E8-A714-858BB25C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7EF3E-7112-48B9-8E2E-59E3B676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27DD4-D20F-4467-95C9-A520CF08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51F72-EC45-4488-933E-BB906B0D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44BD0-6EDE-4788-8426-CDF5CBBA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5FE85-E915-4515-9056-DDDFDDDC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AE8BB-27FC-4511-B9BA-6C77EA4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35921-50D7-4EC6-A7A9-2D641703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93C7A-83EB-4CA7-A618-259BBF13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BD2C7-684A-4A9B-8821-1934E7F4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model checks passed. This proves updater behavior in a host reference model; it does not verify ZCU102 secure boot, SD-card power-loss recovery, or hardware key provisioning.</a:t>
            </a:r>
          </a:p>
        </p:txBody>
      </p:sp>
    </p:spTree>
    <p:extLst>
      <p:ext uri="{BB962C8B-B14F-4D97-AF65-F5344CB8AC3E}">
        <p14:creationId xmlns:p14="http://schemas.microsoft.com/office/powerpoint/2010/main" val="719710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2026-10-15T17:38:10.6910000Z</dcterms:created>
  <dcterms:modified xsi:type="dcterms:W3CDTF">2026-10-15T17:38:10.6910000Z</dcterms:modified>
</coreProperties>
</file>
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4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5483e1282e4c2f" /><Relationship Type="http://schemas.openxmlformats.org/officeDocument/2006/relationships/extended-properties" Target="/docProps/app.xml" Id="Rc0d4bb1ae12e4d6b" /><Relationship Type="http://schemas.openxmlformats.org/officeDocument/2006/relationships/officeDocument" Target="/ppt/presentation.xml" Id="Rb18330c9db09468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b7c58f4bb74f9b"/>
  </p:sldMasterIdLst>
  <p:notesMasterIdLst>
    <p:notesMasterId xmlns:r="http://schemas.openxmlformats.org/officeDocument/2006/relationships" r:id="R79fac74c47ee4c59"/>
  </p:notesMasterIdLst>
  <p:sldIdLst>
    <p:sldId xmlns:r="http://schemas.openxmlformats.org/officeDocument/2006/relationships" id="256" r:id="Rf04f483d7a0f4c8d"/>
    <p:sldId xmlns:r="http://schemas.openxmlformats.org/officeDocument/2006/relationships" id="257" r:id="Rd9178c038d514568"/>
    <p:sldId xmlns:r="http://schemas.openxmlformats.org/officeDocument/2006/relationships" id="258" r:id="R1bbe2c685e314aca"/>
    <p:sldId xmlns:r="http://schemas.openxmlformats.org/officeDocument/2006/relationships" id="259" r:id="Re8dee0e91d0e41b0"/>
    <p:sldId xmlns:r="http://schemas.openxmlformats.org/officeDocument/2006/relationships" id="260" r:id="R51bc0a6de99246f6"/>
    <p:sldId xmlns:r="http://schemas.openxmlformats.org/officeDocument/2006/relationships" id="261" r:id="R1e20bc7bd13c492e"/>
    <p:sldId xmlns:r="http://schemas.openxmlformats.org/officeDocument/2006/relationships" id="262" r:id="R58070537d7774044"/>
    <p:sldId xmlns:r="http://schemas.openxmlformats.org/officeDocument/2006/relationships" id="263" r:id="R82d748c2922e44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64c5dfc6696428a" /><Relationship Type="http://schemas.openxmlformats.org/officeDocument/2006/relationships/slideMaster" Target="/ppt/slideMasters/slideMaster1.xml" Id="R88b7c58f4bb74f9b" /><Relationship Type="http://schemas.openxmlformats.org/officeDocument/2006/relationships/notesMaster" Target="/ppt/notesMasters/notesMaster1.xml" Id="R79fac74c47ee4c59" /><Relationship Type="http://schemas.openxmlformats.org/officeDocument/2006/relationships/presProps" Target="/ppt/presProps.xml" Id="Rd361ad34770447d4" /><Relationship Type="http://schemas.openxmlformats.org/officeDocument/2006/relationships/tableStyles" Target="/ppt/tableStyles.xml" Id="R6e21ff2da75e421f" /><Relationship Type="http://schemas.openxmlformats.org/officeDocument/2006/relationships/slide" Target="/ppt/slides/slide1.xml" Id="Rf04f483d7a0f4c8d" /><Relationship Type="http://schemas.openxmlformats.org/officeDocument/2006/relationships/slide" Target="/ppt/slides/slide2.xml" Id="Rd9178c038d514568" /><Relationship Type="http://schemas.openxmlformats.org/officeDocument/2006/relationships/slide" Target="/ppt/slides/slide3.xml" Id="R1bbe2c685e314aca" /><Relationship Type="http://schemas.openxmlformats.org/officeDocument/2006/relationships/slide" Target="/ppt/slides/slide4.xml" Id="Re8dee0e91d0e41b0" /><Relationship Type="http://schemas.openxmlformats.org/officeDocument/2006/relationships/slide" Target="/ppt/slides/slide5.xml" Id="R51bc0a6de99246f6" /><Relationship Type="http://schemas.openxmlformats.org/officeDocument/2006/relationships/slide" Target="/ppt/slides/slide6.xml" Id="R1e20bc7bd13c492e" /><Relationship Type="http://schemas.openxmlformats.org/officeDocument/2006/relationships/slide" Target="/ppt/slides/slide7.xml" Id="R58070537d7774044" /><Relationship Type="http://schemas.openxmlformats.org/officeDocument/2006/relationships/slide" Target="/ppt/slides/slide8.xml" Id="R82d748c2922e44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f8877b669a44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027460dade045d5" /><Relationship Type="http://schemas.openxmlformats.org/officeDocument/2006/relationships/notesMaster" Target="/ppt/notesMasters/notesMaster1.xml" Id="R167b94c420e3409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1b777618e74fcb" /><Relationship Type="http://schemas.openxmlformats.org/officeDocument/2006/relationships/notesMaster" Target="/ppt/notesMasters/notesMaster1.xml" Id="R78324a1361b947e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6920abadc304828" /><Relationship Type="http://schemas.openxmlformats.org/officeDocument/2006/relationships/notesMaster" Target="/ppt/notesMasters/notesMaster1.xml" Id="R177896f7d43041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59ae50b9d44831" /><Relationship Type="http://schemas.openxmlformats.org/officeDocument/2006/relationships/notesMaster" Target="/ppt/notesMasters/notesMaster1.xml" Id="R2e979a24d52544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977966650942c4" /><Relationship Type="http://schemas.openxmlformats.org/officeDocument/2006/relationships/notesMaster" Target="/ppt/notesMasters/notesMaster1.xml" Id="R0c5bebacf7f640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a5cee67f964c3a" /><Relationship Type="http://schemas.openxmlformats.org/officeDocument/2006/relationships/notesMaster" Target="/ppt/notesMasters/notesMaster1.xml" Id="R483eaf100fb04d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5365f3b434e4c7b" /><Relationship Type="http://schemas.openxmlformats.org/officeDocument/2006/relationships/notesMaster" Target="/ppt/notesMasters/notesMaster1.xml" Id="Rf63956e9aa084e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6bd8f52893b40c3" /><Relationship Type="http://schemas.openxmlformats.org/officeDocument/2006/relationships/notesMaster" Target="/ppt/notesMasters/notesMaster1.xml" Id="R427a47dcbbec40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Task 2a–2c findings and current status of remaining SOW activities.</a:t>
            </a:r>
          </a:p>
          <a:p xmlns:a="http://schemas.openxmlformats.org/drawingml/2006/main">
            <a:r>
              <a:t>Primary source: /home/opentitan/Downloads/MSU-2_SOW_Final (1).docx, revision 2026-02-23.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results/linux_axi_spi_bringup_20261013/linux_vs_baremetal_comparison_20261014.csv.</a:t>
            </a:r>
          </a:p>
          <a:p xmlns:a="http://schemas.openxmlformats.org/drawingml/2006/main">
            <a:r>
              <a:t>Method and limitations: results/linux_axi_spi_bringup_20261013/SOW_2A_FINAL_COMPARISON_20261014.md.</a:t>
            </a:r>
          </a:p>
          <a:p xmlns:a="http://schemas.openxmlformats.org/drawingml/2006/main">
            <a:r>
              <a:t>Both paths used the same AXI Quad SPI hardware, J55 external loopback, payload vectors and 1,000 trials per size. Linux used CLOCK_MONOTONIC_RAW; bare metal used XTime_GetTime. No timer cross-calibration was recorded.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results/task2b_cdma_sim_20261014/cdma_simulated_sweep.csv and results/task2b_cdma_sim_20261014/cdma_loopback_simulate.log.</a:t>
            </a:r>
          </a:p>
          <a:p xmlns:a="http://schemas.openxmlformats.org/drawingml/2006/main">
            <a:r>
              <a:t>Reproduction and test limits: results/task2b_cdma_sim_20261014/README.md; source testbench: hardware/sim/tb_keyhole.sv.</a:t>
            </a:r>
          </a:p>
          <a:p xmlns:a="http://schemas.openxmlformats.org/drawingml/2006/main">
            <a:r>
              <a:t>Optional physical follow-on experiment design and readiness gate: results/SOW_2B_PHYSICAL_DMA_EXPERIMENT_DESIGN_20261015.md. No CDMA-enabled bitstream is currently in the repository.</a:t>
            </a:r>
          </a:p>
          <a:p xmlns:a="http://schemas.openxmlformats.org/drawingml/2006/main">
            <a:r>
              <a:t>Vivado 2025.1 fresh build and XSim run passed with host IPC access. The chart shows model effective rate from the BTT write to TX FIFO empty plus the stated 2 us final-word allowance.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Frequency sweep source: results/SOW_2F_FREQSWEEP_20260908.md; raw capture: docs/environment/zcu102-2_2f_freqsweep_20260908.log.</a:t>
            </a:r>
          </a:p>
          <a:p xmlns:a="http://schemas.openxmlformats.org/drawingml/2006/main">
            <a:r>
              <a:t>Cross-OS timing source: results/linux_axi_spi_bringup_20261013/SOW_2A_FINAL_COMPARISON_20261014.md.</a:t>
            </a:r>
          </a:p>
          <a:p xmlns:a="http://schemas.openxmlformats.org/drawingml/2006/main">
            <a:r>
              <a:t>The 64 KiB standard deviations are 3.87, 5.17, 8.65 and 14.23 us at 1,200, 600, 400 and 300 MHz. The frequency-sweep report records zero errors and ivcsw=0; those results do not attribute a jitter mechanism.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SOW source: /home/opentitan/Downloads/MSU-2_SOW_Final (1).docx, revision 2026-02-23.</a:t>
            </a:r>
          </a:p>
          <a:p xmlns:a="http://schemas.openxmlformats.org/drawingml/2006/main">
            <a:r>
              <a:t>2d/2e audit basis: results/SOW_2E_HARDENED_BOARD_VALIDATION_20260922.md and results/linux_axi_spi_bringup_20261013/SOW_2A_FINAL_COMPARISON_20261014.md.</a:t>
            </a:r>
          </a:p>
          <a:p xmlns:a="http://schemas.openxmlformats.org/drawingml/2006/main">
            <a:r>
              <a:t>2f source: results/SOW_2F_FREQSWEEP_20260908.md. 2g sources: results/SOW_2G_RECOVERY_20260909.md and results/SOW_2G_FWENV_20260908.md.</a:t>
            </a:r>
          </a:p>
          <a:p xmlns:a="http://schemas.openxmlformats.org/drawingml/2006/main">
            <a:r>
              <a:t>Historical file labels do not exactly mirror the SOW’s unlettered activity list. This slide maps 2d–2g by the SOW’s wording and sequence.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Design source: results/SOW_2D_SYSTEM_HARDENING_DESIGN_20261014.md.</a:t>
            </a:r>
          </a:p>
          <a:p xmlns:a="http://schemas.openxmlformats.org/drawingml/2006/main">
            <a:r>
              <a:t>Existing U-Boot environment fallback evidence and limitations: results/SOW_2G_RECOVERY_20260909.md.</a:t>
            </a:r>
          </a:p>
          <a:p xmlns:a="http://schemas.openxmlformats.org/drawingml/2006/main">
            <a:r>
              <a:t>AMD Zynq UltraScale+ MPSoC Software Developer Guide, Boot Time Security: https://docs.amd.com/r/en-US/ug1137-zynq-ultrascale-mpsoc-swdev/Boot-Time-Security.</a:t>
            </a:r>
          </a:p>
          <a:p xmlns:a="http://schemas.openxmlformats.org/drawingml/2006/main">
            <a:r>
              <a:t>AMD Embedded Design Tutorial, Enabling Boot Header Authentication: https://docs.amd.com/r/en-US/ug1209-embedded-design-tutorial/Enabling-Boot-Header-Authentication. Boot-header authentication omits the eFUSE key-hash and revocation checks; it is a development mechanism, not the fielded trust anchor.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CSV: results/linux_axi_spi_bringup_20261013/task2e_framework_metrics_20261014.csv.</a:t>
            </a:r>
          </a:p>
          <a:p xmlns:a="http://schemas.openxmlformats.org/drawingml/2006/main">
            <a:r>
              <a:t>Derived from raw Linux CLOCK_THREAD_CPUTIME_ID and CLOCK_MONOTONIC_RAW loop totals in results/linux_axi_spi_bringup_20261013/linux_benchmark_20261014.log.</a:t>
            </a:r>
          </a:p>
          <a:p xmlns:a="http://schemas.openxmlformats.org/drawingml/2006/main">
            <a:r>
              <a:t>Framework status and scope: results/SOW_2E_BENCHMARK_FRAMEWORK_STATUS_20261014.md. The utilization percentage is per benchmark thread normalized to one CPU core, not total system CPU utilization.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Report: results/SOW_2G_AB_UPDATE_PROTOTYPE_20261014.md.</a:t>
            </a:r>
          </a:p>
          <a:p xmlns:a="http://schemas.openxmlformats.org/drawingml/2006/main">
            <a:r>
              <a:t>Prototype: linux/appliance/ab_update_prototype.py. Tests: tests/test_task2g_ab_update.py.</a:t>
            </a:r>
          </a:p>
          <a:p xmlns:a="http://schemas.openxmlformats.org/drawingml/2006/main">
            <a:r>
              <a:t>Existing on-target U-Boot environment fallback evidence: results/SOW_2G_RECOVERY_20260909.md; it is a single-copy CRC fallback, not image/rootfs update recovery.</a:t>
            </a:r>
          </a:p>
          <a:p xmlns:a="http://schemas.openxmlformats.org/drawingml/2006/main">
            <a:r>
              <a:t>All four host tests passed on 2026-10-14. The diagram depicts reference logic, not an installed or hardware-rooted boot chain.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6b4b8c549f456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99958113d54bd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83071e3d147f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7f05fb056426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f0a42a3bcd41c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10cfd7fa9345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2DFEE9C-AA8A-4222-BD73-4068CCEBB2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2A9AE2E-E6D5-43CA-B47E-B2719EE70FB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FAD91B9-4ECA-4366-8FCE-8A879E3A4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D25F0C4-39EA-4665-9503-458BA2D0CE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CA2018A-F7C8-4E9A-BA8D-9D7A99D9EA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C26089D-9AEA-4B10-BC99-608DA472BE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51016017-9EE0-41AA-9B98-EC31D91B85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FBBEDB1-8A5F-4308-B8B9-A756905F71F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1CF966-65F7-4222-8214-D82A7B266A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CA09FB-3BFD-4717-B162-681C6083DC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3550124dfd488d" /><Relationship Type="http://schemas.openxmlformats.org/officeDocument/2006/relationships/slideLayout" Target="/ppt/slideLayouts/slideLayout1.xml" Id="R0e6afb7e235b4c34" /><Relationship Type="http://schemas.openxmlformats.org/officeDocument/2006/relationships/slideLayout" Target="/ppt/slideLayouts/slideLayout2.xml" Id="R15930dc652424ae9" /><Relationship Type="http://schemas.openxmlformats.org/officeDocument/2006/relationships/slideLayout" Target="/ppt/slideLayouts/slideLayout3.xml" Id="R5945abebce494b36" /><Relationship Type="http://schemas.openxmlformats.org/officeDocument/2006/relationships/slideLayout" Target="/ppt/slideLayouts/slideLayout4.xml" Id="Rb886d86580f44a87" /><Relationship Type="http://schemas.openxmlformats.org/officeDocument/2006/relationships/slideLayout" Target="/ppt/slideLayouts/slideLayout5.xml" Id="R0dadb7ff24d445ff" /><Relationship Type="http://schemas.openxmlformats.org/officeDocument/2006/relationships/slideLayout" Target="/ppt/slideLayouts/slideLayout6.xml" Id="Ra43ca0b92a6e4b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6afb7e235b4c34"/>
    <p:sldLayoutId xmlns:r="http://schemas.openxmlformats.org/officeDocument/2006/relationships" id="2147483650" r:id="R15930dc652424ae9"/>
    <p:sldLayoutId xmlns:r="http://schemas.openxmlformats.org/officeDocument/2006/relationships" id="2147483651" r:id="R5945abebce494b36"/>
    <p:sldLayoutId xmlns:r="http://schemas.openxmlformats.org/officeDocument/2006/relationships" id="2147483652" r:id="Rb886d86580f44a87"/>
    <p:sldLayoutId xmlns:r="http://schemas.openxmlformats.org/officeDocument/2006/relationships" id="2147483653" r:id="R0dadb7ff24d445ff"/>
    <p:sldLayoutId xmlns:r="http://schemas.openxmlformats.org/officeDocument/2006/relationships" id="2147483654" r:id="Ra43ca0b92a6e4b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de0b1e57ec45ed" /><Relationship Type="http://schemas.openxmlformats.org/officeDocument/2006/relationships/notesSlide" Target="/ppt/notesSlides/notesSlide1.xml" Id="R23f940228dd940f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7899ad680b401e" /><Relationship Type="http://schemas.openxmlformats.org/officeDocument/2006/relationships/chart" Target="/ppt/slides/charts/chart1.xml" Id="R493b425aa197432e" /><Relationship Type="http://schemas.openxmlformats.org/officeDocument/2006/relationships/notesSlide" Target="/ppt/notesSlides/notesSlide2.xml" Id="R0a6eb2dec23f41e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30b2341f14422d" /><Relationship Type="http://schemas.openxmlformats.org/officeDocument/2006/relationships/chart" Target="/ppt/slides/charts/chart2.xml" Id="R0e4388211f3c4e3f" /><Relationship Type="http://schemas.openxmlformats.org/officeDocument/2006/relationships/notesSlide" Target="/ppt/notesSlides/notesSlide3.xml" Id="R042e46638d9641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f4c53484474aeb" /><Relationship Type="http://schemas.openxmlformats.org/officeDocument/2006/relationships/chart" Target="/ppt/slides/charts/chart3.xml" Id="R2181bd1caa904c03" /><Relationship Type="http://schemas.openxmlformats.org/officeDocument/2006/relationships/notesSlide" Target="/ppt/notesSlides/notesSlide4.xml" Id="Re83e45af0f3040c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71b71e6d544ff7" /><Relationship Type="http://schemas.openxmlformats.org/officeDocument/2006/relationships/notesSlide" Target="/ppt/notesSlides/notesSlide5.xml" Id="R351681d022ad4d2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c81b7099ca47db" /><Relationship Type="http://schemas.openxmlformats.org/officeDocument/2006/relationships/notesSlide" Target="/ppt/notesSlides/notesSlide6.xml" Id="R37cdcad2b9814d6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627dc0e64394dd1" /><Relationship Type="http://schemas.openxmlformats.org/officeDocument/2006/relationships/chart" Target="/ppt/slides/charts/chart4.xml" Id="R70310b991178496c" /><Relationship Type="http://schemas.openxmlformats.org/officeDocument/2006/relationships/notesSlide" Target="/ppt/notesSlides/notesSlide7.xml" Id="Rd0ca267b5e1e48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86531634e04732" /><Relationship Type="http://schemas.openxmlformats.org/officeDocument/2006/relationships/notesSlide" Target="/ppt/notesSlides/notesSlide8.xml" Id="R1b3e3cae19ba4c34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Bare metal</c:v>
          </c:tx>
          <c:spPr>
            <a:ln xmlns:a="http://schemas.openxmlformats.org/drawingml/2006/main" w="28575">
              <a:solidFill>
                <a:srgbClr val="1B6E78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1B6E78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0.144473</c:v>
              </c:pt>
              <c:pt idx="1">
                <c:v>0.472995</c:v>
              </c:pt>
              <c:pt idx="2">
                <c:v>0.565012</c:v>
              </c:pt>
              <c:pt idx="3">
                <c:v>0.659972</c:v>
              </c:pt>
              <c:pt idx="4">
                <c:v>0.679065</c:v>
              </c:pt>
              <c:pt idx="5">
                <c:v>0.689037</c:v>
              </c:pt>
              <c:pt idx="6">
                <c:v>0.875261</c:v>
              </c:pt>
              <c:pt idx="7">
                <c:v>1.015504</c:v>
              </c:pt>
              <c:pt idx="8">
                <c:v>1.154327</c:v>
              </c:pt>
              <c:pt idx="9">
                <c:v>1.19514</c:v>
              </c:pt>
              <c:pt idx="10">
                <c:v>1.205804</c:v>
              </c:pt>
            </c:numLit>
          </c:val>
          <c:smooth val="0"/>
        </c:ser>
        <c:ser>
          <c:idx val="1"/>
          <c:order val="1"/>
          <c:tx>
            <c:v>Linux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0.0</c:formatCode>
              <c:ptCount val="11"/>
              <c:pt idx="0">
                <c:v>0.035675</c:v>
              </c:pt>
              <c:pt idx="1">
                <c:v>0.263393</c:v>
              </c:pt>
              <c:pt idx="2">
                <c:v>0.477724</c:v>
              </c:pt>
              <c:pt idx="3">
                <c:v>0.99107</c:v>
              </c:pt>
              <c:pt idx="4">
                <c:v>1.20376</c:v>
              </c:pt>
              <c:pt idx="5">
                <c:v>1.349884</c:v>
              </c:pt>
              <c:pt idx="6">
                <c:v>1.426504</c:v>
              </c:pt>
              <c:pt idx="7">
                <c:v>1.468349</c:v>
              </c:pt>
              <c:pt idx="8">
                <c:v>1.502335</c:v>
              </c:pt>
              <c:pt idx="9">
                <c:v>1.511506</c:v>
              </c:pt>
              <c:pt idx="10">
                <c:v>1.51398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.7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payload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50636B"/>
              </a:solidFill>
              <a:latin typeface="Liberation Sans"/>
              <a:ea typeface="Liberation Sans"/>
              <a:cs typeface="Liberation Sans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Simulated effective rate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6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</c:strLit>
          </c:cat>
          <c:val>
            <c:numLit>
              <c:formatCode>0.0</c:formatCode>
              <c:ptCount val="6"/>
              <c:pt idx="0">
                <c:v>0.346021</c:v>
              </c:pt>
              <c:pt idx="1">
                <c:v>0.688468</c:v>
              </c:pt>
              <c:pt idx="2">
                <c:v>0.735294</c:v>
              </c:pt>
              <c:pt idx="3">
                <c:v>0.76757</c:v>
              </c:pt>
              <c:pt idx="4">
                <c:v>0.775476</c:v>
              </c:pt>
              <c:pt idx="5">
                <c:v>0.778352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0.9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Effective simulated rate (MB/s)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64 KiB standard deviation</c:v>
          </c:tx>
          <c:spPr>
            <a:ln xmlns:a="http://schemas.openxmlformats.org/drawingml/2006/main" w="28575">
              <a:solidFill>
                <a:srgbClr val="C35A2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C35A2B"/>
              </a:solidFill>
            </c:spPr>
          </c:marker>
          <c:cat>
            <c:strLit>
              <c:ptCount val="4"/>
              <c:pt idx="0">
                <c:v>1,200 MHz</c:v>
              </c:pt>
              <c:pt idx="1">
                <c:v>600 MHz</c:v>
              </c:pt>
              <c:pt idx="2">
                <c:v>400 MHz</c:v>
              </c:pt>
              <c:pt idx="3">
                <c:v>300 MHz</c:v>
              </c:pt>
            </c:strLit>
          </c:cat>
          <c:val>
            <c:numLit>
              <c:formatCode>0</c:formatCode>
              <c:ptCount val="4"/>
              <c:pt idx="0">
                <c:v>3.87</c:v>
              </c:pt>
              <c:pt idx="1">
                <c:v>5.17</c:v>
              </c:pt>
              <c:pt idx="2">
                <c:v>8.65</c:v>
              </c:pt>
              <c:pt idx="3">
                <c:v>14.23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A53 CPU operating point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1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Latency standard deviation (µs)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4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Linux benchmark thread</c:v>
          </c:tx>
          <c:spPr>
            <a:ln xmlns:a="http://schemas.openxmlformats.org/drawingml/2006/main" w="28575">
              <a:solidFill>
                <a:srgbClr val="446B9E"/>
              </a:solidFill>
              <a:prstDash val="solid"/>
            </a:ln>
          </c:spPr>
          <c:marker>
            <c:symbol val="circle"/>
            <c:size val="6"/>
            <c:spPr>
              <a:solidFill xmlns:a="http://schemas.openxmlformats.org/drawingml/2006/main">
                <a:srgbClr val="446B9E"/>
              </a:solidFill>
            </c:spPr>
          </c:marker>
          <c:cat>
            <c:strLit>
              <c:ptCount val="11"/>
              <c:pt idx="0">
                <c:v>1 B</c:v>
              </c:pt>
              <c:pt idx="1">
                <c:v>8 B</c:v>
              </c:pt>
              <c:pt idx="2">
                <c:v>16 B</c:v>
              </c:pt>
              <c:pt idx="3">
                <c:v>64 B</c:v>
              </c:pt>
              <c:pt idx="4">
                <c:v>128 B</c:v>
              </c:pt>
              <c:pt idx="5">
                <c:v>256 B</c:v>
              </c:pt>
              <c:pt idx="6">
                <c:v>512 B</c:v>
              </c:pt>
              <c:pt idx="7">
                <c:v>1,024 B</c:v>
              </c:pt>
              <c:pt idx="8">
                <c:v>4,096 B</c:v>
              </c:pt>
              <c:pt idx="9">
                <c:v>16,384 B</c:v>
              </c:pt>
              <c:pt idx="10">
                <c:v>65,536 B</c:v>
              </c:pt>
            </c:strLit>
          </c:cat>
          <c:val>
            <c:numLit>
              <c:formatCode>0</c:formatCode>
              <c:ptCount val="11"/>
              <c:pt idx="0">
                <c:v>67.876</c:v>
              </c:pt>
              <c:pt idx="1">
                <c:v>68.199</c:v>
              </c:pt>
              <c:pt idx="2">
                <c:v>66.691</c:v>
              </c:pt>
              <c:pt idx="3">
                <c:v>46.809</c:v>
              </c:pt>
              <c:pt idx="4">
                <c:v>38.577</c:v>
              </c:pt>
              <c:pt idx="5">
                <c:v>32.88</c:v>
              </c:pt>
              <c:pt idx="6">
                <c:v>18.051</c:v>
              </c:pt>
              <c:pt idx="7">
                <c:v>10.002</c:v>
              </c:pt>
              <c:pt idx="8">
                <c:v>3.577</c:v>
              </c:pt>
              <c:pt idx="9">
                <c:v>1.912</c:v>
              </c:pt>
              <c:pt idx="10">
                <c:v>1.474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Liberation Sans"/>
                  <a:ea typeface="Liberation Sans"/>
                  <a:cs typeface="Liberation Sans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Payload size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72768"/>
      </c:catAx>
      <c:valAx>
        <c:axId val="48672768"/>
        <c:scaling>
          <c:orientation val="minMax"/>
          <c:max val="8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8E0E1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17252C"/>
                    </a:solidFill>
                    <a:latin typeface="Liberation Sans"/>
                    <a:ea typeface="Liberation Sans"/>
                    <a:cs typeface="Liberation Sans"/>
                  </a:rPr>
                  <a:t>Thread CPU time / loop wall time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17252C"/>
                  </a:solidFill>
                  <a:latin typeface="Liberation Sans"/>
                  <a:ea typeface="Liberation Sans"/>
                  <a:cs typeface="Liberation Sans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8E0E1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</a:p>
        </c:txPr>
        <c:crossAx val="48650112"/>
        <c:crossBetween val="between"/>
        <c:majorUnit val="20"/>
      </c:valAx>
      <c:spPr>
        <a:noFill xmlns:a="http://schemas.openxmlformats.org/drawingml/2006/main"/>
        <a:ln xmlns:a="http://schemas.openxmlformats.org/drawingml/2006/main" w="0">
          <a:noFill/>
          <a:prstDash val="solid"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244E9-0E65-43A8-8A6A-D677C1E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492BD-6D75-48E5-9A01-8A349560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5250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MORGAN STATE UNIVERSITY  /  MSU-2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5E300-4DF3-4B77-8E19-E9B7E451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9810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2: SPI performance,</a:t>
            </a:r>
          </a:p>
          <a:p xmlns:a="http://schemas.openxmlformats.org/drawingml/2006/main">
            <a:pPr algn="l">
              <a:def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40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determinism and secure integration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B17EE2-DFF2-431E-9BB9-AC72D306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20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Evidence review: completed comparisons, simulation findings, and remaining verification 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113893-6C7D-4AD2-9301-7EEBC0DA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ZCU102  ·  AXI Quad SPI  ·  J55 loopback  ·  Evidence through 15 October 2026</a:t>
            </a:r>
          </a:p>
        </p:txBody>
      </p:sp>
    </p:spTree>
    <p:extLst>
      <p:ext uri="{BB962C8B-B14F-4D97-AF65-F5344CB8AC3E}">
        <p14:creationId xmlns:p14="http://schemas.microsoft.com/office/powerpoint/2010/main" val="2765174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49F704-6D82-4CEC-809A-B1B7C0AF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2A  /  PERFORMANCE GAP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E8848E-8AD9-4419-9F60-A7534EC5A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and bare metal cross over by payload size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FDAA2B-2CBE-48B1-938D-F382C51F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171B9-1E70-46D1-BE67-321E05BF2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02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286163F-EC77-4211-8C4A-FF7F6956E775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93b425aa197432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EF1E2-22B7-4805-89FD-2D25FB209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transfers per 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FECD54-123C-4035-B107-07989720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00300"/>
            <a:ext cx="304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API errors and zero RX mismatches in both captured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9939AA-32E9-4384-82D6-2C120B1F8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7660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Crossover: 16–64 bytes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35A351-24C9-42AD-B9D3-F24DBDC6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86175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Linux is slower for 1–16 B and faster from 64 B upward in this run. Rates include end-to-end software cost; they are not wire throughput.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0FADB8-19C5-4750-917B-2B79CA416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482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Measured paths: SPI ioctl vs XSpi interrupt transfer.</a:t>
            </a:r>
          </a:p>
        </p:txBody>
      </p:sp>
    </p:spTree>
    <p:extLst>
      <p:ext uri="{BB962C8B-B14F-4D97-AF65-F5344CB8AC3E}">
        <p14:creationId xmlns:p14="http://schemas.microsoft.com/office/powerpoint/2010/main" val="375746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DCF563-9F65-4773-AD99-0E0A49BCE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2B  /  PIO AND DMA MECHANISMS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F5DD29-6993-4950-AC7F-62EAD06E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CDMA loopback simulation passes six payload sizes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B9BD8F-F769-41CC-A226-E06E02A1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229263-6DCB-4A4A-82BB-8E77FE1DA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03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69B5E928-6E6E-440D-B6FA-564FD2D6E9DF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4388211f3c4e3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76BF14-E696-48C2-8871-3A1B9E4A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2b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EB101B-FD4E-48E1-846E-FF71207C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57450"/>
            <a:ext cx="3048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6 / 6 simulated DMA sizes passed; every received byte matched.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F539FC-E199-4552-BCA0-0BB3655C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76625"/>
            <a:ext cx="3048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What this proves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58777-7001-47E5-8710-EE370A70C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86200"/>
            <a:ext cx="304800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The AXI CDMA keyhole path can feed the modeled AXI Quad SPI DTR and complete internal-loopback transfers.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79A4EC-EF56-4CA9-B08C-F5A95D51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953000"/>
            <a:ext cx="30480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PIO is physically measured on slide 2. DMA points here are simulation only; no physical DMA or crossover is claimed.</a:t>
            </a:r>
          </a:p>
        </p:txBody>
      </p:sp>
    </p:spTree>
    <p:extLst>
      <p:ext uri="{BB962C8B-B14F-4D97-AF65-F5344CB8AC3E}">
        <p14:creationId xmlns:p14="http://schemas.microsoft.com/office/powerpoint/2010/main" val="16608800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4A148A-1251-4B48-8020-50FBD270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2C  /  REAL-TIME SUITABILITY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45BB7-2A62-469F-94B4-F7302150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timing spread grows as CPU frequency falls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150EBB-8018-4BFB-A446-741C3B5A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F58BCD-AFA5-435D-A2D6-157CA829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04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F39A2693-0A9F-44FE-8A50-73613AB7592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181bd1caa904c0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80C95-345A-4299-8409-2F12A4B70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2c assessment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6C9CC5-AA4E-4D54-A468-9B0269A4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44,000 frequency-sweep transfers; zero reported errors.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09E7A9-56F6-41A8-8B48-A86F80BF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81375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C35A2B"/>
                </a:solidFill>
                <a:latin typeface="Liberation Sans"/>
                <a:ea typeface="Liberation Sans"/>
                <a:cs typeface="Liberation Sans"/>
              </a:rPr>
              <a:t>At 64 KiB, standard deviation rises 3.7× from 1,200 to 300 MHz.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A9B44D-C449-4F8E-A611-D5B833B2E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33875"/>
            <a:ext cx="3048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42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Observed timing is variable and frequency-sensitive. These captures do not define a deadline or establish hard real-time behavior; they do not identify the cause of the spread.</a:t>
            </a:r>
          </a:p>
        </p:txBody>
      </p:sp>
    </p:spTree>
    <p:extLst>
      <p:ext uri="{BB962C8B-B14F-4D97-AF65-F5344CB8AC3E}">
        <p14:creationId xmlns:p14="http://schemas.microsoft.com/office/powerpoint/2010/main" val="152989219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B59B2-C646-462E-B116-12436686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STATUS  /  14 OCTOBER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600747-2E39-4C34-843D-EB9C967F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Remaining Task 2 work and evidence boundary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99E7AE-3C82-43C2-B874-9A639EA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98E3C-5359-4F82-B61B-20CB74D8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0E1D78-8AD8-43B6-AA91-1B419CF4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3F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83CB3F-4FA8-464C-8066-6E4F1D8E9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2d  System hardening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5BAE73-491C-40E9-B272-CE10C4467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93F3F"/>
                </a:solidFill>
                <a:latin typeface="Liberation Sans"/>
                <a:ea typeface="Liberation Sans"/>
                <a:cs typeface="Liberation Sans"/>
              </a:rPr>
              <a:t>Design complete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86C121-9AF1-4F33-8035-715BE3168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8383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Verified boot and signed update implementation remain open.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512FA1-75E0-4D0C-9856-47E303B2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146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C78F48-24C8-4964-A69F-714F1C4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765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2e  Benchmark framework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FD6214-04CA-405B-AB4A-991BF581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480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791E4-4664-434F-B64C-D69FFD500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9051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Paired contract and CPU analysis exist; bare-metal CPU measurement and sustained-throughput test remain open.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78E6EA-ABEF-487F-9BA1-5E924DA5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12569-A536-40FD-AC7B-0ADD08649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433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2f  OS tuning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43D7E2-AFF2-42BE-BBB9-C6C6D1094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148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41320-5813-4FB0-8A90-1D2477FD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719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CPU-frequency axis measured; preemption-model and physical DMA driver comparisons remain open.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6AAA56-5B6E-4D0B-9B99-E8D1528C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5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443FE7-42CE-4A62-8425-37A85DE3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72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2g  Minimal appliance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0E3F2C-E006-48E0-82E6-262CF01C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81625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Partial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9B4CFE-E80C-4780-A4B8-00073C7C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38725"/>
            <a:ext cx="700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A/B updater prototype passes host fault tests; U-Boot integration and target secure boot/recovery remain open.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481E0F-9BAB-4738-BA6A-89AF72F50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10668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Status labels follow the SOW activity wording; partial evidence is not presented as criterion closure.</a:t>
            </a:r>
          </a:p>
        </p:txBody>
      </p:sp>
    </p:spTree>
    <p:extLst>
      <p:ext uri="{BB962C8B-B14F-4D97-AF65-F5344CB8AC3E}">
        <p14:creationId xmlns:p14="http://schemas.microsoft.com/office/powerpoint/2010/main" val="31414767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235AB9-F927-4EC6-9703-6EC0EB39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2D  /  SYSTEM HARDENING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0B7655-C989-48E1-ACC1-D3709517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Proposed boot trust and rollback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763AFA-6281-4636-ACE8-6FFF032A9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FD29BA-17B1-4E0B-B5F3-C6ABA319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08ABC-EB1B-4092-926F-DBA2ECCB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BOOT AUTHENTICATION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75A20-A1CB-4858-8984-2E8876CB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57350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r">
              <a:def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0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2d DESIGN CRITERION COMPLETE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63DBF8-9FD6-43A1-BF5D-C5C64B77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Immutable key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Approved PPK hash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held by device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D29ADB-2790-4AA0-AEF5-2C19647D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73B62E-2D02-47DA-951A-59CC920E8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BootROM + FSBL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 first-stage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5C8DC3-78F7-4287-A1B3-042CAA88F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ED5270-E3D5-40B5-94CF-C6FE3183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BOOT.BIN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PMUFW, PL,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ATF and U-Boot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F5D54B-16B7-4403-8C5E-CAE2B9B21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F1E542-3443-4BED-8849-194674C0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Signed FIT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kernel, DTB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and root filesystem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FA05AC-C091-4DB1-9C63-34C78E57C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3812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B6E78"/>
          </a:solidFill>
          <a:ln xmlns:a="http://schemas.openxmlformats.org/drawingml/2006/main" w="9525">
            <a:solidFill>
              <a:srgbClr val="1B6E7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F8758-62B2-4E4F-824F-116F8FE4C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19812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B6E78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Read-only OS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Run only the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authenticated release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4A6663-D3A4-4255-9EA6-DFAFDB6DB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10810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275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UPDATE TRANSACTION AND AUTOMATIC ROLLBACK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831B31-BBEB-4A43-BAAB-2BF552C43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Stage inactive slot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Keep confirmed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slot untouched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E3CFE6-2A4A-48B4-8B9E-05F80A1F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492E15-147F-452F-8929-D8730E3AC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Verify release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Check signature,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and image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CDCEA-B30B-41A6-BAFB-6F76BA22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D7E153-1C0D-4520-BCA5-F7642AD3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Bounded attempt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count and logs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0287A-5121-4C6C-9084-1ACFC472C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4F5F16-02C7-47F5-B87B-CA5E75B4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start + SPI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loopback smoke test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98267C-7019-4A3A-8C98-0E8DF7C10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057650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B5EFEB-627B-4A6F-BE46-69EFA539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657600"/>
            <a:ext cx="18669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85725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Mark good or return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to prior slot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8D4873-95CB-4E1D-BA9B-6AD5EF61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29200"/>
            <a:ext cx="10810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Design only: no signed boot image or A/B update is deployed. Development boot-header authentication is not fielded eFUSE-rooted trust. No eFUSE was programmed.</a:t>
            </a:r>
          </a:p>
        </p:txBody>
      </p:sp>
    </p:spTree>
    <p:extLst>
      <p:ext uri="{BB962C8B-B14F-4D97-AF65-F5344CB8AC3E}">
        <p14:creationId xmlns:p14="http://schemas.microsoft.com/office/powerpoint/2010/main" val="7429728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A6EE7-19C4-4F6B-B917-97D62F10E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2E  /  COMPARATIVE FRAMEWORK STATUS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7A8DFF-0AF5-4492-B613-4AF8894F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Linux thread CPU share declines as payload grows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52D1A4-849F-4CFB-B55B-6330B513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075FEC-1C55-4633-8E62-3CD488E00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07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1F197179-0B7A-4009-98A7-3F9EC401024B}"/>
              </a:ext>
            </a:extLst>
          </p:cNvPr>
          <p:cNvGraphicFramePr/>
          <p:nvPr/>
        </p:nvGraphicFramePr>
        <p:xfrm>
          <a:off xmlns:a="http://schemas.openxmlformats.org/drawingml/2006/main" x="533400" y="1676400"/>
          <a:ext xmlns:a="http://schemas.openxmlformats.org/drawingml/2006/main" cx="7524750" cy="4143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0310b991178496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5DC30-32DF-439A-8D82-E1F3A4164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3048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8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11,000 paired transfers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9CF249-2A2E-425D-BA9C-75B6AD7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28875"/>
            <a:ext cx="304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Zero transfer errors and RX mismatches in both recorded runs.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E145D5-9BC7-4FDC-9544-F38B911D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304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650" b="1">
                <a:solidFill>
                  <a:srgbClr val="446B9E"/>
                </a:solidFill>
                <a:latin typeface="Liberation Sans"/>
                <a:ea typeface="Liberation Sans"/>
                <a:cs typeface="Liberation Sans"/>
              </a:rPr>
              <a:t>Linux thread CPU share: 67.9% at 1 B → 1.5% at 64 KiB.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348BF6-FFFF-4C84-B4FC-6114E6B1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343400"/>
            <a:ext cx="304800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Scope: benchmark thread over the 1,000-transfer loop. Bare-metal CPU use was not instrumented, and this fixed ladder does not establish maximum sustainable throughput.</a:t>
            </a:r>
          </a:p>
        </p:txBody>
      </p:sp>
    </p:spTree>
    <p:extLst>
      <p:ext uri="{BB962C8B-B14F-4D97-AF65-F5344CB8AC3E}">
        <p14:creationId xmlns:p14="http://schemas.microsoft.com/office/powerpoint/2010/main" val="14633781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1D595C-3844-4014-BF47-BE71208E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10668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125" b="1">
                <a:solidFill>
                  <a:srgbClr val="1B6E78"/>
                </a:solidFill>
                <a:latin typeface="Liberation Sans"/>
                <a:ea typeface="Liberation Sans"/>
                <a:cs typeface="Liberation Sans"/>
              </a:rPr>
              <a:t>2G  /  MINIMAL STACK AND ROBUST UPDATE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E4DF0-F2FE-4D52-BBB9-016487DC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3150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A/B update prototype preserves the confirmed slot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06CCE8-9BE0-4E99-8E35-CFE7A03F8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1085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E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E52EA6-FD47-46BD-A8F6-7054050BF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668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975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MSU-2  ·  Task 2 evidence review  ·  15 Oct 2026                                     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8C046-AB49-46BA-A99C-D81D9B5A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Authenticate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RSA/SHA-256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signature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77CCB6-D251-4C70-BCF4-9E2967739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4C28C-9348-47A2-9539-8A7F9AE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Write inactive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Chunked write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+ fsync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3ABDD-0656-4983-A825-128F4AD0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9D5E11-6AC8-4DB0-8116-15926DD8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Readback check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Digest + signature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re-verified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5BE6F4-EB20-4D06-9F93-5F2C8407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BDF253-BB09-4335-B3F6-561DBCF31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Trial boot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Two bounded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attempts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D2FB38-498C-45CA-8003-9F9C532F0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809875"/>
            <a:ext cx="2476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46B9E"/>
          </a:solidFill>
          <a:ln xmlns:a="http://schemas.openxmlformats.org/drawingml/2006/main" w="9525">
            <a:solidFill>
              <a:srgbClr val="446B9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B5B2C1-2EDA-43E4-B8F2-AF64970F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381250"/>
            <a:ext cx="18669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446B9E"/>
            </a:solidFill>
            <a:prstDash val="solid"/>
          </a:ln>
        </p:spPr>
        <p:txBody>
          <a:bodyPr xmlns:a="http://schemas.openxmlformats.org/drawingml/2006/main" lIns="76200" tIns="95250" rIns="76200" bIns="76200"/>
          <a:lstStyle xmlns:a="http://schemas.openxmlformats.org/drawingml/2006/main">
            <a:def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Confirm / rollback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Health result selects</a:t>
            </a:r>
          </a:p>
          <a:p xmlns:a="http://schemas.openxmlformats.org/drawingml/2006/main">
            <a:pPr algn="ctr">
              <a:def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350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new or known-good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DEA97-4ED3-46BE-805A-8A3B41C7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950" b="1">
                <a:solidFill>
                  <a:srgbClr val="247A56"/>
                </a:solidFill>
                <a:latin typeface="Liberation Sans"/>
                <a:ea typeface="Liberation Sans"/>
                <a:cs typeface="Liberation Sans"/>
              </a:rPr>
              <a:t>4 / 4 HOST FAULT-INJECTION TESTS PASSED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3AD9B7-AA6F-49B8-82FF-F299896E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5048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0">
                <a:solidFill>
                  <a:srgbClr val="50636B"/>
                </a:solidFill>
                <a:latin typeface="Liberation Sans"/>
                <a:ea typeface="Liberation Sans"/>
                <a:cs typeface="Liberation Sans"/>
              </a:rPr>
              <a:t>Confirmed slot A stayed selected after invalid signatures, interrupted writes, boot-limit expiry, and an explicit failed health check.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22732C-9FC1-41E5-A642-B76507979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2400"/>
            <a:ext cx="5048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00" b="1">
                <a:solidFill>
                  <a:srgbClr val="A75B1A"/>
                </a:solidFill>
                <a:latin typeface="Liberation Sans"/>
                <a:ea typeface="Liberation Sans"/>
                <a:cs typeface="Liberation Sans"/>
              </a:rPr>
              <a:t>Prototype boundary: host files and JSON control state. No U-Boot, SD-card, signed target image, hardware trust anchor, or ZCU102 power-loss test.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E554D3-4F84-4C95-A8D5-E0FFF106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1575" b="1">
                <a:solidFill>
                  <a:srgbClr val="17252C"/>
                </a:solidFill>
                <a:latin typeface="Liberation Sans"/>
                <a:ea typeface="Liberation Sans"/>
                <a:cs typeface="Liberation Sans"/>
              </a:rPr>
              <a:t>Task 2g remains partial until target integration, boot authentication, and recovery fault tests pass.</a:t>
            </a:r>
          </a:p>
        </p:txBody>
      </p:sp>
    </p:spTree>
    <p:extLst>
      <p:ext uri="{BB962C8B-B14F-4D97-AF65-F5344CB8AC3E}">
        <p14:creationId xmlns:p14="http://schemas.microsoft.com/office/powerpoint/2010/main" val="2824334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2026-10-15T15:57:54.7500000Z</dcterms:created>
  <dcterms:modified xsi:type="dcterms:W3CDTF">2026-10-15T15:57:54.7500000Z</dcterms:modified>
</coreProperties>
</file>
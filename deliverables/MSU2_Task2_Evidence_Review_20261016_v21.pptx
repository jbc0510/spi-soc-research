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93602dc55e4353" /><Relationship Type="http://schemas.openxmlformats.org/officeDocument/2006/relationships/extended-properties" Target="/docProps/app.xml" Id="R7c6b0e19c1a84952" /><Relationship Type="http://schemas.openxmlformats.org/officeDocument/2006/relationships/officeDocument" Target="/ppt/presentation.xml" Id="R109b148944f64a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c60968c3164b30"/>
  </p:sldMasterIdLst>
  <p:notesMasterIdLst>
    <p:notesMasterId xmlns:r="http://schemas.openxmlformats.org/officeDocument/2006/relationships" r:id="R62e254a0df9c401e"/>
  </p:notesMasterIdLst>
  <p:sldIdLst>
    <p:sldId xmlns:r="http://schemas.openxmlformats.org/officeDocument/2006/relationships" id="256" r:id="R72beee60e81c493a"/>
    <p:sldId xmlns:r="http://schemas.openxmlformats.org/officeDocument/2006/relationships" id="257" r:id="R9e32501c6ce346e2"/>
    <p:sldId xmlns:r="http://schemas.openxmlformats.org/officeDocument/2006/relationships" id="258" r:id="Rd853e12375ba409a"/>
    <p:sldId xmlns:r="http://schemas.openxmlformats.org/officeDocument/2006/relationships" id="259" r:id="Rd8cdb3cbe5b643d4"/>
    <p:sldId xmlns:r="http://schemas.openxmlformats.org/officeDocument/2006/relationships" id="260" r:id="Rae5034cc2a32439e"/>
    <p:sldId xmlns:r="http://schemas.openxmlformats.org/officeDocument/2006/relationships" id="261" r:id="R2e36772962884ae6"/>
    <p:sldId xmlns:r="http://schemas.openxmlformats.org/officeDocument/2006/relationships" id="262" r:id="R9cecfa270a994930"/>
    <p:sldId xmlns:r="http://schemas.openxmlformats.org/officeDocument/2006/relationships" id="263" r:id="R76dc3a1a94684b81"/>
    <p:sldId xmlns:r="http://schemas.openxmlformats.org/officeDocument/2006/relationships" id="264" r:id="R421f0b119a3b4081"/>
    <p:sldId xmlns:r="http://schemas.openxmlformats.org/officeDocument/2006/relationships" id="265" r:id="Rc843abee38234ee7"/>
    <p:sldId xmlns:r="http://schemas.openxmlformats.org/officeDocument/2006/relationships" id="266" r:id="Rf1b97f3853d341d5"/>
    <p:sldId xmlns:r="http://schemas.openxmlformats.org/officeDocument/2006/relationships" id="267" r:id="R6301ef8842504764"/>
    <p:sldId xmlns:r="http://schemas.openxmlformats.org/officeDocument/2006/relationships" id="268" r:id="Rb778c8cd4b674b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844484377d41fc" /><Relationship Type="http://schemas.openxmlformats.org/officeDocument/2006/relationships/slideMaster" Target="/ppt/slideMasters/slideMaster1.xml" Id="R1fc60968c3164b30" /><Relationship Type="http://schemas.openxmlformats.org/officeDocument/2006/relationships/notesMaster" Target="/ppt/notesMasters/notesMaster1.xml" Id="R62e254a0df9c401e" /><Relationship Type="http://schemas.openxmlformats.org/officeDocument/2006/relationships/presProps" Target="/ppt/presProps.xml" Id="Re899ad8932784b70" /><Relationship Type="http://schemas.openxmlformats.org/officeDocument/2006/relationships/tableStyles" Target="/ppt/tableStyles.xml" Id="Ra9aca6b5aa4c475a" /><Relationship Type="http://schemas.openxmlformats.org/officeDocument/2006/relationships/slide" Target="/ppt/slides/slide1.xml" Id="R72beee60e81c493a" /><Relationship Type="http://schemas.openxmlformats.org/officeDocument/2006/relationships/slide" Target="/ppt/slides/slide2.xml" Id="R9e32501c6ce346e2" /><Relationship Type="http://schemas.openxmlformats.org/officeDocument/2006/relationships/slide" Target="/ppt/slides/slide3.xml" Id="Rd853e12375ba409a" /><Relationship Type="http://schemas.openxmlformats.org/officeDocument/2006/relationships/slide" Target="/ppt/slides/slide4.xml" Id="Rd8cdb3cbe5b643d4" /><Relationship Type="http://schemas.openxmlformats.org/officeDocument/2006/relationships/slide" Target="/ppt/slides/slide5.xml" Id="Rae5034cc2a32439e" /><Relationship Type="http://schemas.openxmlformats.org/officeDocument/2006/relationships/slide" Target="/ppt/slides/slide6.xml" Id="R2e36772962884ae6" /><Relationship Type="http://schemas.openxmlformats.org/officeDocument/2006/relationships/slide" Target="/ppt/slides/slide7.xml" Id="R9cecfa270a994930" /><Relationship Type="http://schemas.openxmlformats.org/officeDocument/2006/relationships/slide" Target="/ppt/slides/slide8.xml" Id="R76dc3a1a94684b81" /><Relationship Type="http://schemas.openxmlformats.org/officeDocument/2006/relationships/slide" Target="/ppt/slides/slide9.xml" Id="R421f0b119a3b4081" /><Relationship Type="http://schemas.openxmlformats.org/officeDocument/2006/relationships/slide" Target="/ppt/slides/slide10.xml" Id="Rc843abee38234ee7" /><Relationship Type="http://schemas.openxmlformats.org/officeDocument/2006/relationships/slide" Target="/ppt/slides/slide11.xml" Id="Rf1b97f3853d341d5" /><Relationship Type="http://schemas.openxmlformats.org/officeDocument/2006/relationships/slide" Target="/ppt/slides/slide12.xml" Id="R6301ef8842504764" /><Relationship Type="http://schemas.openxmlformats.org/officeDocument/2006/relationships/slide" Target="/ppt/slides/slide13.xml" Id="Rb778c8cd4b674b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df6321304743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448c7a0989493d" /><Relationship Type="http://schemas.openxmlformats.org/officeDocument/2006/relationships/notesMaster" Target="/ppt/notesMasters/notesMaster1.xml" Id="R8b83998d373840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3c694e8f794982" /><Relationship Type="http://schemas.openxmlformats.org/officeDocument/2006/relationships/notesMaster" Target="/ppt/notesMasters/notesMaster1.xml" Id="Reb6f57e2201645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9817c8d37144b6" /><Relationship Type="http://schemas.openxmlformats.org/officeDocument/2006/relationships/notesMaster" Target="/ppt/notesMasters/notesMaster1.xml" Id="R721d77a4bbce4b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baed5a3e3f43ed" /><Relationship Type="http://schemas.openxmlformats.org/officeDocument/2006/relationships/notesMaster" Target="/ppt/notesMasters/notesMaster1.xml" Id="Ref236fd84f8142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a07f24dc314e3d" /><Relationship Type="http://schemas.openxmlformats.org/officeDocument/2006/relationships/notesMaster" Target="/ppt/notesMasters/notesMaster1.xml" Id="R27e9d7594a5e49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69da101c054966" /><Relationship Type="http://schemas.openxmlformats.org/officeDocument/2006/relationships/notesMaster" Target="/ppt/notesMasters/notesMaster1.xml" Id="R358e2c7979b849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19c2a6be0f407b" /><Relationship Type="http://schemas.openxmlformats.org/officeDocument/2006/relationships/notesMaster" Target="/ppt/notesMasters/notesMaster1.xml" Id="R3fd1b0e7f0fd42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abb2fb761a4641" /><Relationship Type="http://schemas.openxmlformats.org/officeDocument/2006/relationships/notesMaster" Target="/ppt/notesMasters/notesMaster1.xml" Id="R24031f921bc849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83fc5fe7614abb" /><Relationship Type="http://schemas.openxmlformats.org/officeDocument/2006/relationships/notesMaster" Target="/ppt/notesMasters/notesMaster1.xml" Id="R7f00f126a4c342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a90d3661d549dc" /><Relationship Type="http://schemas.openxmlformats.org/officeDocument/2006/relationships/notesMaster" Target="/ppt/notesMasters/notesMaster1.xml" Id="R665a969ce2f844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a6a38fb215490c" /><Relationship Type="http://schemas.openxmlformats.org/officeDocument/2006/relationships/notesMaster" Target="/ppt/notesMasters/notesMaster1.xml" Id="Ra4f4f641ab914f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bd5489c01240c7" /><Relationship Type="http://schemas.openxmlformats.org/officeDocument/2006/relationships/notesMaster" Target="/ppt/notesMasters/notesMaster1.xml" Id="R18c904f54afe46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5dff6d97504556" /><Relationship Type="http://schemas.openxmlformats.org/officeDocument/2006/relationships/notesMaster" Target="/ppt/notesMasters/notesMaster1.xml" Id="R6814fc8cbf4044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Governing source: /home/opentitan/Downloads/MSU-2_SOW_Final (1).docx, revision 2026-02-23. The seven activity names are quoted or closely abbreviated from Task 2; internal labels 2a–2g are mapped in sequence.</a:t>
            </a:r>
          </a:p>
          <a:p xmlns:a="http://schemas.openxmlformats.org/drawingml/2006/main">
            <a:r>
              <a:t>Evidence basis: results/MSU2_TASK2_SOW_STATUS_20261016.md and the source reports in results/ for Task 2a–2g.</a:t>
            </a:r>
          </a:p>
          <a:p xmlns:a="http://schemas.openxmlformats.org/drawingml/2006/main">
            <a:r>
              <a:t>Task 2a comparison is bounded and does not identify a universal causal Linux-only cost. Task 2b has simulation but no valid physical DMA sweep. Task 2c supports best-effort suitability only. Task 2d is design-only. Task 2e has one passing one-second Linux loopback smoke (15,354 transfers, zero mismatches), but no physical sustained-run data. Task 2f lacks a changed preemption configuration and valid physical optimized-DMA comparison. Task 2g lacks integrated target verified boot and persistent recovery.</a:t>
            </a:r>
          </a:p>
          <a:p xmlns:a="http://schemas.openxmlformats.org/drawingml/2006/main">
            <a:r>
              <a:t>The SOW also requires separate Task 1 work and formal monthly, interim, simulation/emulation, OS/appliance, and final-report deliverables; this Task 2 status slide does not certify those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  <a:p xmlns:a="http://schemas.openxmlformats.org/drawingml/2006/main">
            <a:r>
              <a:t>Physical closure experiment and remaining metric definitions: results/SOW_2E_BENCHMARK_CLOSURE_EXPERIMENT_20261015.md.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Diagnostic report: results/vivado_license_diagnostic_20261015/README.md.</a:t>
            </a:r>
          </a:p>
          <a:p xmlns:a="http://schemas.openxmlformats.org/drawingml/2006/main">
            <a:r>
              <a:t>Successful Vivado 2025.1 synthesis transcript: results/vivado_license_diagnostic_20261015/zcu9eg_license_synthesis.log.</a:t>
            </a:r>
          </a:p>
          <a:p xmlns:a="http://schemas.openxmlformats.org/drawingml/2006/main">
            <a:r>
              <a:t>AMD Vivado 2025.1 UG973, Supported Devices: https://docs.amd.com/r/2025.1-English/ug973-vivado-release-notes-install-license/Supported-Devices. The Enterprise edition supports all Zynq UltraScale+ MPSoC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report: results/SOW_2G_ZCU102_HARDENING_DEMO_20261015.md.</a:t>
            </a:r>
          </a:p>
          <a:p xmlns:a="http://schemas.openxmlformats.org/drawingml/2006/main">
            <a:r>
              <a:t>Target source/build: linux/appliance/hardening_contrast_board.c and scripts/build_task2g_board_demo.py. The application ran on newQspi, Linux 6.12.10-xilinx, and verified its RSA/SHA-256 fixture through target libcrypto.so.3.</a:t>
            </a:r>
          </a:p>
          <a:p xmlns:a="http://schemas.openxmlformats.org/drawingml/2006/main">
            <a:r>
              <a:t>Target executable SHA-256: 0ca6af020d16ea8174ec3d2f7ff625b1dd727870b1f28753898f51a98646f8e8. Captured output: results/task2g_board_contrast_20261015/target_run.log.</a:t>
            </a:r>
          </a:p>
          <a:p xmlns:a="http://schemas.openxmlformats.org/drawingml/2006/main">
            <a:r>
              <a:t>All file slots were in /tmp and removed by the application. The baseline intentionally lacks signature verification and recovery. The health failure and interrupted write are injected software cases, not a physical reset or boot test.</a:t>
            </a:r>
          </a:p>
          <a:p xmlns:a="http://schemas.openxmlformats.org/drawingml/2006/main">
            <a:r>
              <a:t>Tests: tests/test_task2g_board_demo_host.py and tests/test_task2g_ab_update.py. Target execution proves the user-space demo on the board, not its BootROM/FSBL/TF-A/U-Boot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results/SOW_2G_PETALINUX_FIT_20261015.md. Build configuration templates: linux/appliance/verified_update/petalinux/.</a:t>
            </a:r>
          </a:p>
          <a:p xmlns:a="http://schemas.openxmlformats.org/drawingml/2006/main">
            <a:r>
              <a:t>Raw evidence, signed FIT, control DTB, tampered FIT, logs, metadata, and SHA-256 manifest: results/task2g_petalinux_fit_20261015/. Reproduce validation with scripts/task2g_verify_petalinux_fit.py.</a:t>
            </a:r>
          </a:p>
          <a:p xmlns:a="http://schemas.openxmlformats.org/drawingml/2006/main">
            <a:r>
              <a:t>PetaLinux project XSA SHA-256 exactly matches the validated 2026-09-29 XSA (e8b4626edb5949bc8adb14ae259802cdd24b16ea3f02daf0dd8fdbeb1cc0e7d7); deployed bitstream SHA-256 also matches (90f93479dd47c505b8f9e4fe6f4f18e853f8923d081f4b2037401ed3cb46994a). FIT DTB hash matches the regenerated system DTB.</a:t>
            </a:r>
          </a:p>
          <a:p xmlns:a="http://schemas.openxmlformats.org/drawingml/2006/main">
            <a:r>
              <a:t>U-Boot compiled and deployed. PetaLinux wrapper returned nonzero due unrelated exit-139 package tasks; relevant U-Boot, FIT, device-tree, and bitstream outputs were present and individually verified.</a:t>
            </a:r>
          </a:p>
          <a:p xmlns:a="http://schemas.openxmlformats.org/drawingml/2006/main">
            <a:r>
              <a:t>Signing key is disposable and remains outside the repository under the local PetaLinux build tree; it is not a production key. The valid image build is host-side evidence only and was not flashed to the target.</a:t>
            </a:r>
          </a:p>
          <a:p xmlns:a="http://schemas.openxmlformats.org/drawingml/2006/main">
            <a:r>
              <a:t>The embedded key node is required; signature algorithm is sha256,rsa2048. On payload modification, fit_check_sign reported “Bad hash value” and “Bad Data Hash”.</a:t>
            </a:r>
          </a:p>
          <a:p xmlns:a="http://schemas.openxmlformats.org/drawingml/2006/main">
            <a:r>
              <a:t>This is not hardware-rooted secure boot: BootROM/FSBL/TF-A/U-Boot authentication, protected key provisioning, persistent A/B slots and bootcount, Linux health confirmation, and target interruption testing remain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target audit report and raw serial capture: results/task2g_live_board_audit_20261015/README.md and serial_session.log. Generated boot-script audit: results/task2g_bootflow_audit_20261015/.</a:t>
            </a:r>
          </a:p>
          <a:p xmlns:a="http://schemas.openxmlformats.org/drawingml/2006/main">
            <a:r>
              <a:t>Live SD boot.scr SHA-256 6c555e630e15ae1c7446f606cb99cfe5c52a0fde4e9deb2fa4e418c5d598b608 matches the captured generated script. The live image.ub SHA-256 is 446dd4756b4be2c29d513594e42adf45f0c90a362d2714dcc56f9ddbd5292bf0; required-key fit_check_sign failed because it has no signature subnode.</a:t>
            </a:r>
          </a:p>
          <a:p xmlns:a="http://schemas.openxmlformats.org/drawingml/2006/main">
            <a:r>
              <a:t>The kernel log reports firmware msu2_ratio2_j55_c27bb684.bit.bin loaded; its SHA-256 is c27bb684ca843e173585aed50096f95692530444b808ec948006dbb0d67f56fd, matching the validated Sep 29 bit.bin artifact. The FPGA manager reports operating.</a:t>
            </a:r>
          </a:p>
          <a:p xmlns:a="http://schemas.openxmlformats.org/drawingml/2006/main">
            <a:r>
              <a:t>Read-only fw_printenv from the SD copy showed bootcmd=run distro_bootcmd, broad boot_targets (mmc0 jtag mmc0 mmc1 qspi0 nand0 usb0 usb1 scsi0 pxe dhcp), bootdelay=5, bootseq=0, and unset bootlimit/upgrade_available. Rootfs is ram0 and the SD card has only mmcblk0p1. fw_setenv is not present in the running rootfs.</a:t>
            </a:r>
          </a:p>
          <a:p xmlns:a="http://schemas.openxmlformats.org/drawingml/2006/main">
            <a:r>
              <a:t>The signed FIT built with PetaLinux 2025.2 remains host-side and was not installed or booted. The boot-chain is not trusted until the running U-Boot and earlier BootROM/FSBL chain authenticate policy and image. No board media, FPGA, or persistent environment was modified; only temporary fw_env config/symlinks were created under /tmp.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 2e runner report: results/SOW_2E_SUSTAINED_RUNNER_20261016.md.</a:t>
            </a:r>
          </a:p>
          <a:p xmlns:a="http://schemas.openxmlformats.org/drawingml/2006/main">
            <a:r>
              <a:t>Build artifacts, AArch64 Linux runner, live target preflight, and one-second smoke transcript: results/task2e_sustainable_runner_20261016/. SHA-256 manifest: results/task2e_sustainable_runner_20261016/SHA256SUMS.</a:t>
            </a:r>
          </a:p>
          <a:p xmlns:a="http://schemas.openxmlformats.org/drawingml/2006/main">
            <a:r>
              <a:t>The Linux smoke used mode 0, 8-bit words, 1 MHz requested/read-back speed, and produced 15,354 verified 64-byte transfers with no API errors or mismatches. Physical SCK was not measured; this is not sustained throughput evidence. Host mocks remain software tests only.</a:t>
            </a:r>
          </a:p>
          <a:p xmlns:a="http://schemas.openxmlformats.org/drawingml/2006/main">
            <a:r>
              <a:t>Bare-metal ELF is a build artifact, not a target execution result. The plan and closure criteria are in results/SOW_2E_BENCHMARK_CLOSURE_EXPERIMENT_20261015.md.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7c2df11eb643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282f5e62c49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967d7ed01c49a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6d8bc380704b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9e203a23f141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80f0137e84a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2A57D7-180E-4099-AAF3-2E538EC90D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769FA4-A50A-44F8-8CBC-226268D055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3BD1996-EF50-4521-AC97-F10382810F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E95C26-067B-4FF5-B3CB-0D486E6E16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FB893B9-0418-4B9F-95E2-931970AAF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5444D08-E128-4F0F-A26A-4AA6A8BDAF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BF8D9B-D2FB-4046-83D7-2FB03518B3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525B02-CD7B-40A3-A6AD-CF627CB409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438D7E-A316-4F97-B656-960839A9C8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255ADF-1DDC-4CC2-A748-5D21FED6FD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05881aee0d4804" /><Relationship Type="http://schemas.openxmlformats.org/officeDocument/2006/relationships/slideLayout" Target="/ppt/slideLayouts/slideLayout1.xml" Id="Rc5e98ae3697542d3" /><Relationship Type="http://schemas.openxmlformats.org/officeDocument/2006/relationships/slideLayout" Target="/ppt/slideLayouts/slideLayout2.xml" Id="R9fef1bcf402f4928" /><Relationship Type="http://schemas.openxmlformats.org/officeDocument/2006/relationships/slideLayout" Target="/ppt/slideLayouts/slideLayout3.xml" Id="R0dfbb3a9d58b46ac" /><Relationship Type="http://schemas.openxmlformats.org/officeDocument/2006/relationships/slideLayout" Target="/ppt/slideLayouts/slideLayout4.xml" Id="Rfec97af72fe049bb" /><Relationship Type="http://schemas.openxmlformats.org/officeDocument/2006/relationships/slideLayout" Target="/ppt/slideLayouts/slideLayout5.xml" Id="Rc4c5d2ec6b6247bc" /><Relationship Type="http://schemas.openxmlformats.org/officeDocument/2006/relationships/slideLayout" Target="/ppt/slideLayouts/slideLayout6.xml" Id="Rd78cfb4f8f7540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e98ae3697542d3"/>
    <p:sldLayoutId xmlns:r="http://schemas.openxmlformats.org/officeDocument/2006/relationships" id="2147483650" r:id="R9fef1bcf402f4928"/>
    <p:sldLayoutId xmlns:r="http://schemas.openxmlformats.org/officeDocument/2006/relationships" id="2147483651" r:id="R0dfbb3a9d58b46ac"/>
    <p:sldLayoutId xmlns:r="http://schemas.openxmlformats.org/officeDocument/2006/relationships" id="2147483652" r:id="Rfec97af72fe049bb"/>
    <p:sldLayoutId xmlns:r="http://schemas.openxmlformats.org/officeDocument/2006/relationships" id="2147483653" r:id="Rc4c5d2ec6b6247bc"/>
    <p:sldLayoutId xmlns:r="http://schemas.openxmlformats.org/officeDocument/2006/relationships" id="2147483654" r:id="Rd78cfb4f8f7540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c2b6d8bcd0477f" /><Relationship Type="http://schemas.openxmlformats.org/officeDocument/2006/relationships/notesSlide" Target="/ppt/notesSlides/notesSlide1.xml" Id="R5c9315c7ab5b42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fda146c95b408a" /><Relationship Type="http://schemas.openxmlformats.org/officeDocument/2006/relationships/chart" Target="/ppt/slides/charts/chart1.xml" Id="Rf41a57b2c56543e9" /><Relationship Type="http://schemas.openxmlformats.org/officeDocument/2006/relationships/notesSlide" Target="/ppt/notesSlides/notesSlide2.xml" Id="R0fb1542ecdf440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bf4744db914721" /><Relationship Type="http://schemas.openxmlformats.org/officeDocument/2006/relationships/chart" Target="/ppt/slides/charts/chart2.xml" Id="R01d5499e50b54468" /><Relationship Type="http://schemas.openxmlformats.org/officeDocument/2006/relationships/notesSlide" Target="/ppt/notesSlides/notesSlide3.xml" Id="Rf090a259458041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eeb5bf02f741a6" /><Relationship Type="http://schemas.openxmlformats.org/officeDocument/2006/relationships/chart" Target="/ppt/slides/charts/chart3.xml" Id="Re489a119ddc44f07" /><Relationship Type="http://schemas.openxmlformats.org/officeDocument/2006/relationships/notesSlide" Target="/ppt/notesSlides/notesSlide4.xml" Id="Ra2c9ca5e35194f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de32da3e0b4757" /><Relationship Type="http://schemas.openxmlformats.org/officeDocument/2006/relationships/notesSlide" Target="/ppt/notesSlides/notesSlide5.xml" Id="R69747fdd8c874a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47dbbb5bf84946" /><Relationship Type="http://schemas.openxmlformats.org/officeDocument/2006/relationships/notesSlide" Target="/ppt/notesSlides/notesSlide6.xml" Id="R7abb99981f0448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7fc796122142b4" /><Relationship Type="http://schemas.openxmlformats.org/officeDocument/2006/relationships/chart" Target="/ppt/slides/charts/chart4.xml" Id="R0d7c8fbf773e40d4" /><Relationship Type="http://schemas.openxmlformats.org/officeDocument/2006/relationships/notesSlide" Target="/ppt/notesSlides/notesSlide7.xml" Id="Rf4f305e874bb41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3e43da43cc4162" /><Relationship Type="http://schemas.openxmlformats.org/officeDocument/2006/relationships/notesSlide" Target="/ppt/notesSlides/notesSlide8.xml" Id="Reab6ca15678f47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8288f6649e460e" /><Relationship Type="http://schemas.openxmlformats.org/officeDocument/2006/relationships/notesSlide" Target="/ppt/notesSlides/notesSlide9.xml" Id="R2b1d862ddd8946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923f5068ab4656" /><Relationship Type="http://schemas.openxmlformats.org/officeDocument/2006/relationships/notesSlide" Target="/ppt/notesSlides/notesSlide10.xml" Id="Re26dd6c3a7054f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8545cd07fd4af9" /><Relationship Type="http://schemas.openxmlformats.org/officeDocument/2006/relationships/notesSlide" Target="/ppt/notesSlides/notesSlide11.xml" Id="Rda5d143662314d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6a3a12a735482f" /><Relationship Type="http://schemas.openxmlformats.org/officeDocument/2006/relationships/notesSlide" Target="/ppt/notesSlides/notesSlide12.xml" Id="R21d651df5cf049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e231813f764f65" /><Relationship Type="http://schemas.openxmlformats.org/officeDocument/2006/relationships/notesSlide" Target="/ppt/notesSlides/notesSlide13.xml" Id="R104405374c2e41fd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A6E1D-D3B1-4C0E-81B9-6C28C8D9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C608C-501B-4741-8E62-C25430E7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08694-9E66-44BD-B2EB-E2F76B69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41C49-DD29-425B-99DF-9E41C065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680D9-E211-4E60-B18C-3EBE3556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16 October 2026</a:t>
            </a:r>
          </a:p>
        </p:txBody>
      </p:sp>
    </p:spTree>
    <p:extLst>
      <p:ext uri="{BB962C8B-B14F-4D97-AF65-F5344CB8AC3E}">
        <p14:creationId xmlns:p14="http://schemas.microsoft.com/office/powerpoint/2010/main" val="8078147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D394A-BFE1-4357-AB49-3830CE45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2A080-EFAB-4391-814F-D1C57C4F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247B0-5B5B-479D-B047-F143F45E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52CB9-EE14-41ED-80E8-A42656E4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7CF3556-7C55-41E4-A6B9-204141021D5D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1a57b2c56543e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787BA-BF36-4056-9B17-A54CB3DB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B66C1-5030-41F5-B483-289821FD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D6EE5-4E2E-4090-9E73-2746650B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3A512-3541-42ED-B463-470E4645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5AEE9-E2CF-4C3C-8A9E-03D2D0A2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8149419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7A14D-F476-4770-A013-156F0BAC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03EDA-AD62-4F2C-875A-96DCCCC7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12273-1A90-47C0-974D-0D8470AD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B5B09-C095-4B07-9E41-97044A25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4F7E7EB-F47E-432E-8150-CC9A88B58E98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d5499e50b5446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562A7-47EA-40A0-BEAD-88245795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0CBF3-9D7E-408E-A8CE-BE2BF3AE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AD275-0639-419A-A03D-279D3793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ED335-9515-4B52-B351-E9B12563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1B6F9-D494-4120-88E5-42AF29CF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529820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8F4B7-8ABB-4D2E-8B9F-3C2FA7D2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C1255-8B02-43CA-947B-10605B41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23C11-D2C9-41FE-B9CC-C6EDB0C9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C9D2C-3AE8-4CD2-9F5B-128C164E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3B1BE98-5349-440E-BE6A-54BCFECF2F7B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89a119ddc44f0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57170-A420-44EF-9B95-6DBC8603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995BE-7369-449A-B5AA-53568BE6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FEFD9-8B17-4C68-8B32-7898063C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5B894-08CA-4BD6-979C-2E4AAB79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21062317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29B22D-01E1-4A17-8B72-7243FA27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16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B3825-F76B-4B08-BC9E-0A2CF8E5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 status against the SOW activity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8C796-6ABA-4027-B601-1018E893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0A2C7-42BA-4265-9E1A-32124BA3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71766-48C8-41E7-9AC2-CD388E83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3FADC-51D9-4174-8DAB-BB37ECA5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2a  Performance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F6F15-6508-48E7-A408-490FD8D3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5FBDE-5FF5-41AC-8880-F600FE4F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573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11 sizes × 1,000 on Linux and bare metal; no errors. Bounded comparison, not causal kernel-only attribution.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50B22-1A75-4BCE-9935-FC8DC9ED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C0B54-BF69-4D25-8D7A-4952A3C5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2b  PIO and DMA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848DF-06EC-438A-943C-02BD0C1B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60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B201D6-5D96-4644-8510-CD9DEDC0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860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Physical PIO; six-size CDMA simulation; ZDMA result invalid for performance. No physical DMA crossover.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2A53F-B35B-4817-AAAC-4008B672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55498-5B43-4C1D-B604-E30FD3C5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2c  Real-time suitability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3EA6D-341D-4592-BBF8-4A14EB1F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77E264-AC72-4245-A2D4-0E4BBFE3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Best-effort latency and jitter characterized; no hard deadline or deterministic guarantee established.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5E514-3296-43C9-872D-29077DEA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FB7618-BA55-4403-9AE0-110FC5D2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BF501F-A0B8-48BF-B567-B08419B9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433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4E789F-D20A-4AFC-9A9B-4DE3AD6C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Design documented. Verified boot, reliable updates and automatic recovery are not deployed.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920AE3-E58E-4B0C-89D0-3412AA69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87B41D-48EF-41C8-9747-036333B9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E4CB85-FF86-4097-A6F5-80C162DF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629A0A-8B2E-4F66-8901-D11468F2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Shared contract and both sustained runners built; one-second Linux loopback smoke passes, sustained paired runs remain open.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CD4549-AFDF-4C45-9BC7-93374B61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CF9BF4-8E9F-4293-97AB-AD59F917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5C3729-5CEE-4E30-BEB6-E48208BB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006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449CA5-5B94-42AC-AEBA-AC6B494C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006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sweep done; preemption-model and physical optimized-DMA comparison remain open.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BCF405-CAF1-4629-8DDB-AE49C2D5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A2B410-5C9F-468D-AE40-CF78E330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appliance/security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E80463-88E6-49D5-9C22-A65768DB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292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D7091A-BF8A-4608-9A8C-17B36C74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292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Prototypes pass defined tests; active boot is unsigned and integrated target recovery remains open.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821844-3712-447B-9914-CBFC8CE4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SOW wording is authoritative; 2a–2g are internal labels. Task 1 and formal reporting deliverables are assessed separately.</a:t>
            </a:r>
          </a:p>
        </p:txBody>
      </p:sp>
    </p:spTree>
    <p:extLst>
      <p:ext uri="{BB962C8B-B14F-4D97-AF65-F5344CB8AC3E}">
        <p14:creationId xmlns:p14="http://schemas.microsoft.com/office/powerpoint/2010/main" val="17928107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BE7306-80AC-46FB-B8BA-7AFD4FCC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97B04-BB5D-420D-942D-32F335D0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0C5FF-46F6-4D11-A996-EBDE49F4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52827-ECA6-4622-BBEF-4374BE6D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5D975-C98E-4B14-BB21-B213A25A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74F3C-04B7-443F-B083-1AF834BA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2d DESIGN CRITERION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883A3-F6E1-4DC4-92BE-A9821B69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354F2-5757-4285-B493-A619FB8D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CF10D-BE28-4256-BD0A-71DBD73C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BAE90-9BBE-4877-B822-F32B28D9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02F5A-539B-4BAF-A497-87DCE80B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2C12E6-458B-4C0F-8FAD-F47D7886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26257-0975-4380-904A-362A4315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4941C5-323F-4DE7-B398-BA08F056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5BAD8-E0A9-4613-8DEF-049E0C10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B190F-35FB-4F1F-A4A7-6669DF01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1E53A-9397-4D6E-A5F3-6D2F5EDB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D59508-D0CA-44FB-A278-EC13D9DF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FF6DCE-A7A3-4958-A4B8-AF138356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77C5C4-EC29-4E24-B2BA-207BFB27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77A9FB-25CE-4C69-A1D8-5EE0708D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852037-1A7A-419F-AB3A-38E13EFC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7019F0-894E-4E7B-924B-148A2D82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8A691D-2D84-462B-AD8C-45DB263E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59451F-3F99-4B12-9394-46830365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CA462C-1933-49E1-A5F0-583DBC9F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19010198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F15C9-93D9-43A5-BB18-E99C81DB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BC70E-924D-4A75-8050-3774A63D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F7C69-EFD9-491E-BEBE-B7C74EB2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A6548-E098-4B7E-8C75-BE314308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14EB9A4-ABB8-4C50-95F0-CD26D2520F97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7c8fbf773e40d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509AE-67E6-4EF5-A730-B1E963AC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0E18C-705E-441B-B4B1-9E4510C3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9FD8E-7EBB-4839-9023-924BE232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7879A-2B9F-4BD9-A828-C6AB523A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Scope: benchmark thread over the 1,000-transfer loop. Bare-metal CPU use was not instrumented, and this fixed ladder does not establish maximum sustainable throughput.</a:t>
            </a:r>
          </a:p>
        </p:txBody>
      </p:sp>
    </p:spTree>
    <p:extLst>
      <p:ext uri="{BB962C8B-B14F-4D97-AF65-F5344CB8AC3E}">
        <p14:creationId xmlns:p14="http://schemas.microsoft.com/office/powerpoint/2010/main" val="3193769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B962B8-9133-4581-A875-D6D6725F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41E03-2228-462A-AF70-D4EA7951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95477-C7A3-4504-9544-8C4F47A7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CC160-844F-4FB1-BE69-3A0EA9E8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3F060-D378-494F-A749-A2D238E8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8A90D-558B-4335-88D6-2D2ADBF9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57C30-7187-485A-B350-B461C829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BF31D-BB22-4276-BA8F-3DB73981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967AA-8DAC-49AE-AADC-D0083B3B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58FEC-FB1A-42CE-B536-244EE577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E8B92-7F0C-46AA-8DFD-E4269B00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B78FF-488C-467A-AE8A-B6723B24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F722C-3240-4A39-87BF-F6D810CC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3ACFF9-C0BE-4A3B-8F5A-94A38602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2C6FA2-1021-44B3-BDCE-AC9F2694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51BE0D-DD56-4C3C-B825-68573188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6E1B59-E8F5-4164-A394-81C3E13D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12967959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F03297-2A78-4029-A49C-7970B87F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TOOLCHAIN  /  LICENSE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1E72E-7189-4D5F-B842-7E9A8BAA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Enterprise license passes ZCU9EG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59BF1-1449-41A8-9A01-58369721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BA6BF-39A3-47FA-9F96-AF73AD91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9FF51-9233-4510-B8A4-E41AF60E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Sandboxed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02830-9DB6-48A7-9E6C-59714087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FlexNet could not read the workstation network-interface ID. It reported the node-locked license as invalid; Vivado then surfaced the failed checkout as an expired Synthesis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7823E-9D83-455D-A756-2F1CC72A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Normal host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D0DD7-6458-42B7-B93D-614D8232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permanent Enterprise license matched the active workstation NIC. FlexNet approved the node, and Vivado granted Synthesis for xczu9eg.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08346-CFE3-4707-8FA9-E6B0B75E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5CE62-D728-4A8C-9252-B3C765EC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38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A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>
            <a:def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Fresh synthesis for xczu9eg-ffvb1156-2-e completed with 0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437E6-AFB7-4BEB-B6C6-6D809418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This was a small license-check design, not the project build. Synthesis uses the selected FPGA part; it does not communicate with the physical ZCU102 board.</a:t>
            </a:r>
          </a:p>
        </p:txBody>
      </p:sp>
    </p:spTree>
    <p:extLst>
      <p:ext uri="{BB962C8B-B14F-4D97-AF65-F5344CB8AC3E}">
        <p14:creationId xmlns:p14="http://schemas.microsoft.com/office/powerpoint/2010/main" val="1810382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D42DE4-0EDB-41A8-847F-9A10A4DD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TARGET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95DA8-8155-4487-A7A2-BD241449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ZCU102 Linux update-control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2C871-0A37-4E23-80ED-909B4EC3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1FC1B-9F04-47B1-9027-AFB9F53B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C4F4A-8030-4D97-B753-F239DF4B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TEST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03301-CBBF-451A-A7BF-A4FD414F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76400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UNSAFE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E7049-3602-4F78-AF00-084143B1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764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A/B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D4EAC-6EB8-47FC-92AD-A19E2960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CB950-A5C0-4392-ABD0-5E4D6424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BB441-F9FB-47A3-BB2B-EA3750F7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in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E672A-7887-4FE7-8649-0964A7E3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7170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Verified; staged to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5500A0-3040-4A93-9233-47C7399B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3FB60-4DDF-49A1-995F-D39380C9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Tampered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280C6-3AD6-4CA9-9E02-D7432C32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702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altered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7A758B-6842-4191-913C-B30E7F7B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6702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Rejected; A unchanged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28755E-CD1D-42CB-A936-319564A8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BFF74-0184-44D5-A549-A59A94DC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Interrupted 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0142F6-4231-434A-AF09-E5BEEDAC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6235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Active A partially overwritten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68CF0F-1ED7-48CA-BE82-298516B7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6235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 retained; no trial published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5378EF-4BA9-48B0-9F71-B182FAF1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764DE5-4658-4A9F-9FE0-484B9951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Failed trial health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4AB7F-7908-4372-8851-08D28DF0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5767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Bad image remains 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105CF6-1F05-463F-9B28-8AE571E8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5767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Pending cleared; A selected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6275D4-44D0-4D03-84F7-D7298EFC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All four checks passed on the ZCU102 AArch64 Linux system using its OpenSSL runtime and temporary /tmp slots. This did not test BootROM/U-Boot, persistent boot state, or physical power-loss recovery.</a:t>
            </a:r>
          </a:p>
        </p:txBody>
      </p:sp>
    </p:spTree>
    <p:extLst>
      <p:ext uri="{BB962C8B-B14F-4D97-AF65-F5344CB8AC3E}">
        <p14:creationId xmlns:p14="http://schemas.microsoft.com/office/powerpoint/2010/main" val="784769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363158-A726-4BE4-A2A1-6E5D8D17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SIGNED IMAGE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AD3D2-346D-42E1-B226-A65E2B0A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FIT signature rejects tampering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6EA9E-405C-48D0-A7DD-2273E1BA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B5011-B9A1-48D4-9498-ADE29545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5691E-6715-44C0-BC40-4C4A1EE2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2025.01-XILINX  ·  PETALINUX 2025.2  ·  VALIDATED XSA + BITSTREAM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2C67A-0DF7-464C-85B5-D2B68BDF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C5821-10AE-4C28-A496-F452F8C8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Kernel + DTB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initrd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383D8-A355-41CB-A811-92D3CBB3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PetaLinux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0923E-07BB-4BEB-B205-180E5C5A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0B2E8-83CA-471B-BFF1-C4B22CC4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97216-281A-449B-8671-7B6B45D2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RSA-2048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BC0D7-930F-44DC-A8C9-E10B5F82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sha256 · msu2-test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70FB3-2CD0-480E-AFD7-3ECC9937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4BBBE-DAA9-4117-954E-7CA8D2C2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35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193CE-A0DF-4F10-BC3C-7B01D6D8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 key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 U-Boot DTB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BBC84-7FD9-4F05-8E6C-D2B253BF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key-msu2-test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9C57A-6E07-4B80-BD34-23B54A38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244021-16D2-4CB2-BD72-59973F79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A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3549FF-6EAC-4397-B4FE-9B34B5C8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before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07E97F-E5F3-47F9-9C66-630A8667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fit_check_sign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6C38EA-97D9-4C30-9FC3-CD35D59C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BUILD  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F998B5-CE0E-4573-9901-02B73C01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fit_check_sign accepted the PetaLinux configuration; FIT SHA-256: ca498597…e37222.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5C5C66-A494-4F86-B363-F1E2D3EF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KERNEL BYTE FLIPPED  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12716C-3F87-43B7-9ABF-411E9B6A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Signature/hash check failed with “Bad Data Hash” before kernel load. Zero altered payload was accepted.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6BB81A-0330-4512-A4D3-E7A19118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FIT build and tamper test passed; exact validated XSA/bitstream matched. No ZCU102 boot, trusted BootROM key, A/B rollback, or power-loss test.</a:t>
            </a:r>
          </a:p>
        </p:txBody>
      </p:sp>
    </p:spTree>
    <p:extLst>
      <p:ext uri="{BB962C8B-B14F-4D97-AF65-F5344CB8AC3E}">
        <p14:creationId xmlns:p14="http://schemas.microsoft.com/office/powerpoint/2010/main" val="17247848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B3D11-A13C-47AF-8313-241D5A76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BOOT-CHAIN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4B30A-D2BA-4625-BF0C-D01B6341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Generated boot policy can bypass FIT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649EE-4801-4FFC-A20E-61A913B0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D4C9B-8064-4236-B923-71698D32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D1896-3361-4519-9AA1-757284AC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LIVE ZCU102  /  newQspi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3A889-EFF8-4D91-9EC4-3370759D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ACTIVE U-BOOT AND SD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5F165-3958-402F-B03D-84967BE4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6.12.10-xilinx</a:t>
            </a:r>
          </a:p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2025.1  ·  root=/dev/ram0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C8D36-BEE2-48DC-A0D8-EDE04B02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SD image.ub (446dd475…) fails required-key verification: no signature node. boot.scr (6c555e63…) matches audited raw-boot fallback.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90B35-7109-4F8B-8424-2E64D553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FPGA manager: operating. Loaded bitstream hash c27bb684… matches the validated Sep 29 .bit.bin.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806D5-7674-4D2B-898C-700F7934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bootcmd = run distro_bootcmd</a:t>
            </a:r>
          </a:p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boot_targets = mmc0, JTAG, QSPI, NAND, USB, SCSI, PXE, DHCP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598F5-3CF6-49E5-A67C-D257AF2A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bootdelay = 5 s. No bootlimit or upgrade_available. One SD partition; Linux root is 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65F39-5B58-4E96-B246-D9D740BA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Host-built signed PetaLinux 2025.2 FIT is not installed or booted.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AE766-E359-4D72-8A54-99354CFF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D4FEB-C7B0-4225-9A43-CA948492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Conclusion: the SPI bitstream is validated, but the live board still runs an unsigned FIT through generic fail-open boot policy. Task 2g remains open until a trusted FIT-only chain and A/B recovery are tested.</a:t>
            </a:r>
          </a:p>
        </p:txBody>
      </p:sp>
    </p:spTree>
    <p:extLst>
      <p:ext uri="{BB962C8B-B14F-4D97-AF65-F5344CB8AC3E}">
        <p14:creationId xmlns:p14="http://schemas.microsoft.com/office/powerpoint/2010/main" val="2396533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D8286-101F-4F3E-8B55-9E21377D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SUSTAINED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FAD1B-6A6E-4295-92CB-FBE00DB7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2e runners are built; Linux loopback smoke passes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16A2B-004B-4552-94BB-7A99EC2B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C8D2E-DB27-4140-8C67-70789971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2FBC8-6AB9-49B0-97CE-4A1E8136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runner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80A15-00B2-4A4E-95BF-4CF3E643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AArch64 executable built against the target ABI. Four host tests pass, including echo, API-error, mismatch, and invalid-input cases.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4CAA3-2EF3-48AF-BA02-E6D66C00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One-second 64-byte J55 loopback: 15,354 transfers, 982,656 verified bytes, zero API errors and mismatches. 0.9826 MB/s is a smoke result, not sustained performance.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3D138-A233-4EA8-A048-22BEF83D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Bare-metal runner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312A1-1A90-4600-BD61-29DDD712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514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Vitis 2025.1 build against the pinned 29 September XSA completed. The ELF and build manifests are preserved.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06FDF-A446-4226-9684-7A2F3451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5143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Not yet run on the board. No sustained-throughput or new CPU-utilization comparison is claimed.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673A9-B526-4420-9601-8123B5F3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C858D-9EE2-4628-AF35-9CF75419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Next: measure physical SCK and CPU point, then execute the paired 60-second × 11-size × 3-repeat plan on Linux and bare metal.</a:t>
            </a:r>
          </a:p>
        </p:txBody>
      </p:sp>
    </p:spTree>
    <p:extLst>
      <p:ext uri="{BB962C8B-B14F-4D97-AF65-F5344CB8AC3E}">
        <p14:creationId xmlns:p14="http://schemas.microsoft.com/office/powerpoint/2010/main" val="15220342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2026-10-16T22:11:28.9500000Z</dcterms:created>
  <dcterms:modified xsi:type="dcterms:W3CDTF">2026-10-16T22:11:28.9500000Z</dcterms:modified>
</coreProperties>
</file>
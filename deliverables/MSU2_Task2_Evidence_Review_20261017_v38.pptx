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7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000f92cda647ca" /><Relationship Type="http://schemas.openxmlformats.org/officeDocument/2006/relationships/extended-properties" Target="/docProps/app.xml" Id="Rb3f3913eb2a14d0a" /><Relationship Type="http://schemas.openxmlformats.org/officeDocument/2006/relationships/officeDocument" Target="/ppt/presentation.xml" Id="Rd75ded9e76e840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2522ac131a4787"/>
  </p:sldMasterIdLst>
  <p:notesMasterIdLst>
    <p:notesMasterId xmlns:r="http://schemas.openxmlformats.org/officeDocument/2006/relationships" r:id="R5a41741fb1e34d70"/>
  </p:notesMasterIdLst>
  <p:sldIdLst>
    <p:sldId xmlns:r="http://schemas.openxmlformats.org/officeDocument/2006/relationships" id="256" r:id="Rbd1cdb459cd34875"/>
    <p:sldId xmlns:r="http://schemas.openxmlformats.org/officeDocument/2006/relationships" id="257" r:id="Rc61be8630b0c466b"/>
    <p:sldId xmlns:r="http://schemas.openxmlformats.org/officeDocument/2006/relationships" id="258" r:id="R1a928e19be8a4bd0"/>
    <p:sldId xmlns:r="http://schemas.openxmlformats.org/officeDocument/2006/relationships" id="259" r:id="R4bd720e1fc884f2c"/>
    <p:sldId xmlns:r="http://schemas.openxmlformats.org/officeDocument/2006/relationships" id="260" r:id="R1f38299460ec4076"/>
    <p:sldId xmlns:r="http://schemas.openxmlformats.org/officeDocument/2006/relationships" id="261" r:id="R2aabee3b0fbd4875"/>
    <p:sldId xmlns:r="http://schemas.openxmlformats.org/officeDocument/2006/relationships" id="262" r:id="R905c1dac368f4852"/>
    <p:sldId xmlns:r="http://schemas.openxmlformats.org/officeDocument/2006/relationships" id="263" r:id="Rc8161037bada4bd8"/>
    <p:sldId xmlns:r="http://schemas.openxmlformats.org/officeDocument/2006/relationships" id="264" r:id="R1f44baa09d3b4ab0"/>
    <p:sldId xmlns:r="http://schemas.openxmlformats.org/officeDocument/2006/relationships" id="265" r:id="R2d751d037f2a4223"/>
    <p:sldId xmlns:r="http://schemas.openxmlformats.org/officeDocument/2006/relationships" id="266" r:id="R2dabf54b61b44db1"/>
    <p:sldId xmlns:r="http://schemas.openxmlformats.org/officeDocument/2006/relationships" id="267" r:id="R2916313d70124a8a"/>
    <p:sldId xmlns:r="http://schemas.openxmlformats.org/officeDocument/2006/relationships" id="268" r:id="R40eceb641c464119"/>
    <p:sldId xmlns:r="http://schemas.openxmlformats.org/officeDocument/2006/relationships" id="269" r:id="R62f6d832f6ea4420"/>
    <p:sldId xmlns:r="http://schemas.openxmlformats.org/officeDocument/2006/relationships" id="270" r:id="R05dbe9f6f0374efb"/>
    <p:sldId xmlns:r="http://schemas.openxmlformats.org/officeDocument/2006/relationships" id="271" r:id="R452b820f1ef24872"/>
    <p:sldId xmlns:r="http://schemas.openxmlformats.org/officeDocument/2006/relationships" id="272" r:id="R6271fdab68454e0b"/>
    <p:sldId xmlns:r="http://schemas.openxmlformats.org/officeDocument/2006/relationships" id="273" r:id="Rf015224747df49ed"/>
    <p:sldId xmlns:r="http://schemas.openxmlformats.org/officeDocument/2006/relationships" id="274" r:id="Rdfcd9781fcff40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c07a6203854684" /><Relationship Type="http://schemas.openxmlformats.org/officeDocument/2006/relationships/slideMaster" Target="/ppt/slideMasters/slideMaster1.xml" Id="R032522ac131a4787" /><Relationship Type="http://schemas.openxmlformats.org/officeDocument/2006/relationships/notesMaster" Target="/ppt/notesMasters/notesMaster1.xml" Id="R5a41741fb1e34d70" /><Relationship Type="http://schemas.openxmlformats.org/officeDocument/2006/relationships/presProps" Target="/ppt/presProps.xml" Id="Ree9ced48915a4094" /><Relationship Type="http://schemas.openxmlformats.org/officeDocument/2006/relationships/tableStyles" Target="/ppt/tableStyles.xml" Id="R08953ff0b03f4db5" /><Relationship Type="http://schemas.openxmlformats.org/officeDocument/2006/relationships/slide" Target="/ppt/slides/slide1.xml" Id="Rbd1cdb459cd34875" /><Relationship Type="http://schemas.openxmlformats.org/officeDocument/2006/relationships/slide" Target="/ppt/slides/slide2.xml" Id="Rc61be8630b0c466b" /><Relationship Type="http://schemas.openxmlformats.org/officeDocument/2006/relationships/slide" Target="/ppt/slides/slide3.xml" Id="R1a928e19be8a4bd0" /><Relationship Type="http://schemas.openxmlformats.org/officeDocument/2006/relationships/slide" Target="/ppt/slides/slide4.xml" Id="R4bd720e1fc884f2c" /><Relationship Type="http://schemas.openxmlformats.org/officeDocument/2006/relationships/slide" Target="/ppt/slides/slide5.xml" Id="R1f38299460ec4076" /><Relationship Type="http://schemas.openxmlformats.org/officeDocument/2006/relationships/slide" Target="/ppt/slides/slide6.xml" Id="R2aabee3b0fbd4875" /><Relationship Type="http://schemas.openxmlformats.org/officeDocument/2006/relationships/slide" Target="/ppt/slides/slide7.xml" Id="R905c1dac368f4852" /><Relationship Type="http://schemas.openxmlformats.org/officeDocument/2006/relationships/slide" Target="/ppt/slides/slide8.xml" Id="Rc8161037bada4bd8" /><Relationship Type="http://schemas.openxmlformats.org/officeDocument/2006/relationships/slide" Target="/ppt/slides/slide9.xml" Id="R1f44baa09d3b4ab0" /><Relationship Type="http://schemas.openxmlformats.org/officeDocument/2006/relationships/slide" Target="/ppt/slides/slide10.xml" Id="R2d751d037f2a4223" /><Relationship Type="http://schemas.openxmlformats.org/officeDocument/2006/relationships/slide" Target="/ppt/slides/slide11.xml" Id="R2dabf54b61b44db1" /><Relationship Type="http://schemas.openxmlformats.org/officeDocument/2006/relationships/slide" Target="/ppt/slides/slide12.xml" Id="R2916313d70124a8a" /><Relationship Type="http://schemas.openxmlformats.org/officeDocument/2006/relationships/slide" Target="/ppt/slides/slide13.xml" Id="R40eceb641c464119" /><Relationship Type="http://schemas.openxmlformats.org/officeDocument/2006/relationships/slide" Target="/ppt/slides/slide14.xml" Id="R62f6d832f6ea4420" /><Relationship Type="http://schemas.openxmlformats.org/officeDocument/2006/relationships/slide" Target="/ppt/slides/slide15.xml" Id="R05dbe9f6f0374efb" /><Relationship Type="http://schemas.openxmlformats.org/officeDocument/2006/relationships/slide" Target="/ppt/slides/slide16.xml" Id="R452b820f1ef24872" /><Relationship Type="http://schemas.openxmlformats.org/officeDocument/2006/relationships/slide" Target="/ppt/slides/slide17.xml" Id="R6271fdab68454e0b" /><Relationship Type="http://schemas.openxmlformats.org/officeDocument/2006/relationships/slide" Target="/ppt/slides/slide18.xml" Id="Rf015224747df49ed" /><Relationship Type="http://schemas.openxmlformats.org/officeDocument/2006/relationships/slide" Target="/ppt/slides/slide19.xml" Id="Rdfcd9781fcff40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977898f5a04f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7e482e7d334712" /><Relationship Type="http://schemas.openxmlformats.org/officeDocument/2006/relationships/notesMaster" Target="/ppt/notesMasters/notesMaster1.xml" Id="R84ac021dc6784f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41e5e35a4e469e" /><Relationship Type="http://schemas.openxmlformats.org/officeDocument/2006/relationships/notesMaster" Target="/ppt/notesMasters/notesMaster1.xml" Id="Rc778351c7a0840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28fbc40f7e4370" /><Relationship Type="http://schemas.openxmlformats.org/officeDocument/2006/relationships/notesMaster" Target="/ppt/notesMasters/notesMaster1.xml" Id="Rdf5ceb2158234a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c3862746f24b7d" /><Relationship Type="http://schemas.openxmlformats.org/officeDocument/2006/relationships/notesMaster" Target="/ppt/notesMasters/notesMaster1.xml" Id="R339b431d8a5748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8254d5f7964c42" /><Relationship Type="http://schemas.openxmlformats.org/officeDocument/2006/relationships/notesMaster" Target="/ppt/notesMasters/notesMaster1.xml" Id="Ra5fd838c8e724b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b5e00bffdb4173" /><Relationship Type="http://schemas.openxmlformats.org/officeDocument/2006/relationships/notesMaster" Target="/ppt/notesMasters/notesMaster1.xml" Id="R31f6836bd63f4d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5c252ffaa74df4" /><Relationship Type="http://schemas.openxmlformats.org/officeDocument/2006/relationships/notesMaster" Target="/ppt/notesMasters/notesMaster1.xml" Id="R72be1aec03f041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92bdc2f0c94ec1" /><Relationship Type="http://schemas.openxmlformats.org/officeDocument/2006/relationships/notesMaster" Target="/ppt/notesMasters/notesMaster1.xml" Id="R9abb5ea874cf49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fac0c42fce48af" /><Relationship Type="http://schemas.openxmlformats.org/officeDocument/2006/relationships/notesMaster" Target="/ppt/notesMasters/notesMaster1.xml" Id="R2b6671cba2204c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2a90f8e095419c" /><Relationship Type="http://schemas.openxmlformats.org/officeDocument/2006/relationships/notesMaster" Target="/ppt/notesMasters/notesMaster1.xml" Id="R5d87bf85af0248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77c5a9267c4cf9" /><Relationship Type="http://schemas.openxmlformats.org/officeDocument/2006/relationships/notesMaster" Target="/ppt/notesMasters/notesMaster1.xml" Id="R8c6ccd85229345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03d4d406ee4876" /><Relationship Type="http://schemas.openxmlformats.org/officeDocument/2006/relationships/notesMaster" Target="/ppt/notesMasters/notesMaster1.xml" Id="R44a69c96ead248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6dfcca5c7c473c" /><Relationship Type="http://schemas.openxmlformats.org/officeDocument/2006/relationships/notesMaster" Target="/ppt/notesMasters/notesMaster1.xml" Id="Rfed6a91749a144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3130d20a35429a" /><Relationship Type="http://schemas.openxmlformats.org/officeDocument/2006/relationships/notesMaster" Target="/ppt/notesMasters/notesMaster1.xml" Id="R220dbe03d7d24e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36e819354d4441" /><Relationship Type="http://schemas.openxmlformats.org/officeDocument/2006/relationships/notesMaster" Target="/ppt/notesMasters/notesMaster1.xml" Id="Rd17bbbb2e93246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7964936bac4a63" /><Relationship Type="http://schemas.openxmlformats.org/officeDocument/2006/relationships/notesMaster" Target="/ppt/notesMasters/notesMaster1.xml" Id="Rf0f227f812404e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cbae35ad98449d" /><Relationship Type="http://schemas.openxmlformats.org/officeDocument/2006/relationships/notesMaster" Target="/ppt/notesMasters/notesMaster1.xml" Id="Rd962c524a4da43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d089f250b74957" /><Relationship Type="http://schemas.openxmlformats.org/officeDocument/2006/relationships/notesMaster" Target="/ppt/notesMasters/notesMaster1.xml" Id="R94f286e9c8624e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25da218a9394548" /><Relationship Type="http://schemas.openxmlformats.org/officeDocument/2006/relationships/notesMaster" Target="/ppt/notesMasters/notesMaster1.xml" Id="Redfa9c3c0be44b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Governing source: /home/opentitan/Downloads/MSU-2_SOW_Final (1).docx, revision 2026-02-23. The seven activity names are quoted or closely abbreviated from Task 2; internal labels 2a–2g are mapped in sequence.</a:t>
            </a:r>
          </a:p>
          <a:p xmlns:a="http://schemas.openxmlformats.org/drawingml/2006/main">
            <a:r>
              <a:t>Evidence basis: results/MSU2_TASK2_SOW_STATUS_20261016.md and the source reports in results/ for Task 2a–2g.</a:t>
            </a:r>
          </a:p>
          <a:p xmlns:a="http://schemas.openxmlformats.org/drawingml/2006/main">
            <a:r>
              <a:t>Task 2a has a fixed-workload comparison revalidated on 16 October, but timer sources and CPU-point differences limit causal attribution. Task 2b has simulation but no valid physical DMA sweep. Task 2c supports best-effort suitability only. Task 2d is design-only. Task 2e has a complete fixed-trial comparison and 33/33 sustained points per backend, with CPU-metric bases and clock readback documented. Task 2e remains partial because the reliable clock/payload stress envelope has not yet been measured. Task 2f lacks a changed preemption configuration and valid physical optimized-DMA comparison. Task 2g lacks integrated target verified boot and persistent recovery.</a:t>
            </a:r>
          </a:p>
          <a:p xmlns:a="http://schemas.openxmlformats.org/drawingml/2006/main">
            <a:r>
              <a:t>The SOW also requires separate Task 1 work and formal monthly, interim, simulation/emulation, OS/appliance, and final-report deliverables; this Task 2 status slide does not certify those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  <a:p xmlns:a="http://schemas.openxmlformats.org/drawingml/2006/main">
            <a:r>
              <a:t>Physical closure experiment and remaining metric definitions: results/SOW_2E_BENCHMARK_CLOSURE_EXPERIMENT_20261015.md.</a:t>
            </a:r>
          </a:p>
          <a:p xmlns:a="http://schemas.openxmlformats.org/drawingml/2006/main">
            <a:r>
              <a:t>Paired sustained observations and clock/CPU limitations: results/task2e_sustainable_runner_20261016/SOW_2E_PAIRED_SUSTAINED_RESULTS_20261017.md and clock_readback_20261017.md.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Diagnostic report: results/vivado_license_diagnostic_20261015/README.md.</a:t>
            </a:r>
          </a:p>
          <a:p xmlns:a="http://schemas.openxmlformats.org/drawingml/2006/main">
            <a:r>
              <a:t>Successful Vivado 2025.1 synthesis transcript: results/vivado_license_diagnostic_20261015/zcu9eg_license_synthesis.log.</a:t>
            </a:r>
          </a:p>
          <a:p xmlns:a="http://schemas.openxmlformats.org/drawingml/2006/main">
            <a:r>
              <a:t>AMD Vivado 2025.1 UG973, Supported Devices: https://docs.amd.com/r/2025.1-English/ug973-vivado-release-notes-install-license/Supported-Devices. The Enterprise edition supports all Zynq UltraScale+ MPSoC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report: results/SOW_2G_ZCU102_HARDENING_DEMO_20261015.md.</a:t>
            </a:r>
          </a:p>
          <a:p xmlns:a="http://schemas.openxmlformats.org/drawingml/2006/main">
            <a:r>
              <a:t>Target source/build: linux/appliance/hardening_contrast_board.c and scripts/build_task2g_board_demo.py. The application ran on newQspi, Linux 6.12.10-xilinx, and verified its RSA/SHA-256 fixture through target libcrypto.so.3.</a:t>
            </a:r>
          </a:p>
          <a:p xmlns:a="http://schemas.openxmlformats.org/drawingml/2006/main">
            <a:r>
              <a:t>Target executable SHA-256: 0ca6af020d16ea8174ec3d2f7ff625b1dd727870b1f28753898f51a98646f8e8. Captured output: results/task2g_board_contrast_20261015/target_run.log.</a:t>
            </a:r>
          </a:p>
          <a:p xmlns:a="http://schemas.openxmlformats.org/drawingml/2006/main">
            <a:r>
              <a:t>All file slots were in /tmp and removed by the application. The baseline intentionally lacks signature verification and recovery. The health failure and interrupted write are injected software cases, not a physical reset or boot test.</a:t>
            </a:r>
          </a:p>
          <a:p xmlns:a="http://schemas.openxmlformats.org/drawingml/2006/main">
            <a:r>
              <a:t>Tests: tests/test_task2g_board_demo_host.py and tests/test_task2g_ab_update.py. Target execution proves the user-space demo on the board, not its BootROM/FSBL/TF-A/U-Boot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results/SOW_2G_PETALINUX_FIT_20261015.md. Build configuration templates: linux/appliance/verified_update/petalinux/.</a:t>
            </a:r>
          </a:p>
          <a:p xmlns:a="http://schemas.openxmlformats.org/drawingml/2006/main">
            <a:r>
              <a:t>Raw evidence, signed FIT, control DTB, tampered FIT, logs, metadata, and SHA-256 manifest: results/task2g_petalinux_fit_20261015/. Reproduce validation with scripts/task2g_verify_petalinux_fit.py.</a:t>
            </a:r>
          </a:p>
          <a:p xmlns:a="http://schemas.openxmlformats.org/drawingml/2006/main">
            <a:r>
              <a:t>PetaLinux project XSA SHA-256 exactly matches the validated 2026-09-29 XSA (e8b4626edb5949bc8adb14ae259802cdd24b16ea3f02daf0dd8fdbeb1cc0e7d7); deployed bitstream SHA-256 also matches (90f93479dd47c505b8f9e4fe6f4f18e853f8923d081f4b2037401ed3cb46994a). FIT DTB hash matches the regenerated system DTB.</a:t>
            </a:r>
          </a:p>
          <a:p xmlns:a="http://schemas.openxmlformats.org/drawingml/2006/main">
            <a:r>
              <a:t>U-Boot compiled and deployed. PetaLinux wrapper returned nonzero due unrelated exit-139 package tasks; relevant U-Boot, FIT, device-tree, and bitstream outputs were present and individually verified.</a:t>
            </a:r>
          </a:p>
          <a:p xmlns:a="http://schemas.openxmlformats.org/drawingml/2006/main">
            <a:r>
              <a:t>Signing key is disposable and remains outside the repository under the local PetaLinux build tree; it is not a production key. The valid image build is host-side evidence only and was not flashed to the target.</a:t>
            </a:r>
          </a:p>
          <a:p xmlns:a="http://schemas.openxmlformats.org/drawingml/2006/main">
            <a:r>
              <a:t>The embedded key node is required; signature algorithm is sha256,rsa2048. On payload modification, fit_check_sign reported “Bad hash value” and “Bad Data Hash”.</a:t>
            </a:r>
          </a:p>
          <a:p xmlns:a="http://schemas.openxmlformats.org/drawingml/2006/main">
            <a:r>
              <a:t>This is not hardware-rooted secure boot: BootROM/FSBL/TF-A/U-Boot authentication, protected key provisioning, persistent A/B slots and bootcount, Linux health confirmation, and target interruption testing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target audit report and raw serial capture: results/task2g_live_board_audit_20261015/README.md and serial_session.log. Generated boot-script audit: results/task2g_bootflow_audit_20261015/.</a:t>
            </a:r>
          </a:p>
          <a:p xmlns:a="http://schemas.openxmlformats.org/drawingml/2006/main">
            <a:r>
              <a:t>Live SD boot.scr SHA-256 6c555e630e15ae1c7446f606cb99cfe5c52a0fde4e9deb2fa4e418c5d598b608 matches the captured generated script. The live image.ub SHA-256 is 446dd4756b4be2c29d513594e42adf45f0c90a362d2714dcc56f9ddbd5292bf0; required-key fit_check_sign failed because it has no signature subnode.</a:t>
            </a:r>
          </a:p>
          <a:p xmlns:a="http://schemas.openxmlformats.org/drawingml/2006/main">
            <a:r>
              <a:t>The kernel log reports firmware msu2_ratio2_j55_c27bb684.bit.bin loaded; its SHA-256 is c27bb684ca843e173585aed50096f95692530444b808ec948006dbb0d67f56fd, matching the validated Sep 29 bit.bin artifact. The FPGA manager reports operating.</a:t>
            </a:r>
          </a:p>
          <a:p xmlns:a="http://schemas.openxmlformats.org/drawingml/2006/main">
            <a:r>
              <a:t>Read-only fw_printenv from the SD copy showed bootcmd=run distro_bootcmd, broad boot_targets (mmc0 jtag mmc0 mmc1 qspi0 nand0 usb0 usb1 scsi0 pxe dhcp), bootdelay=5, bootseq=0, and unset bootlimit/upgrade_available. Rootfs is ram0 and the SD card has only mmcblk0p1. fw_setenv is not present in the running rootfs.</a:t>
            </a:r>
          </a:p>
          <a:p xmlns:a="http://schemas.openxmlformats.org/drawingml/2006/main">
            <a:r>
              <a:t>The signed FIT built with PetaLinux 2025.2 remains host-side and was not installed or booted. The boot-chain is not trusted until the running U-Boot and earlier BootROM/FSBL chain authenticate policy and image. No board media, FPGA, or persistent environment was modified; only temporary fw_env config/symlinks were created under /tmp.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Revalidation report: results/linux_axi_spi_revalidation_20261016/README.md. Fixed-trial Linux log and rows are in that directory; the paired CSV is linux_vs_baremetal_fixed_trial_20261016.csv.</a:t>
            </a:r>
          </a:p>
          <a:p xmlns:a="http://schemas.openxmlformats.org/drawingml/2006/main">
            <a:r>
              <a:t>Bare-metal raw capture and metrics: results/task2e_sustainable_runner_20261016/baremetal_reboot_capture_20261016.raw.log and baremetal_reboot_metrics_20261016.csv. Both paths completed 11 sizes × 1,000 transfers with zero reported errors or receive mismatches.</a:t>
            </a:r>
          </a:p>
          <a:p xmlns:a="http://schemas.openxmlformats.org/drawingml/2006/main">
            <a:r>
              <a:t>The September 29 FPGA image hash was verified from the target SD source and staged Linux firmware file. FPGA Manager reported operating; it does not expose a bitstream readback hash. Linux clock framework showed IOPLL 1.49985 GHz and PL0 99.990 MHz. The 49.995 MHz SPI speed is the Linux requested/readback value; J55 SCK was measured at about 51 MHz previously for this exact image/configuration, but was not remeasured here.</a:t>
            </a:r>
          </a:p>
          <a:p xmlns:a="http://schemas.openxmlformats.org/drawingml/2006/main">
            <a:r>
              <a:t>The Linux benchmark uses CLOCK_MONOTONIC_RAW; bare metal uses XTime_GetTime. Post-run clock-register readback supports a derived 1.19988 GHz A53 full-rate clock and 99.990 MHz PL0. Effective payload rate is payload bytes divided by measured mean latency and is not physical wire throughput. The comparison is a same-workload board result, not causal attribution of kernel overhead.</a:t>
            </a:r>
          </a:p>
          <a:p xmlns:a="http://schemas.openxmlformats.org/drawingml/2006/main">
            <a:r>
              <a:t>Fixed-trial comparison report: results/linux_axi_spi_revalidation_20261016/README.md. Sustained Linux and bare-metal rates are presented on slide 14 and in results/task2e_sustainable_runner_20261016/SOW_2E_PAIRED_SUSTAINED_RESULTS_20261017.md. Physical J55 SCK about 51 MHz was measured previously for the same bitstream/configuration, not during sustained windows. Task 2e remains partial until the reliable clock/payload stress test is complete; backend ordering was not alternated and per-window clock sampling was not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report and interpretation: results/task2e_sustainable_runner_20261016/SOW_2E_PAIRED_SUSTAINED_RESULTS_20261017.md.</a:t>
            </a:r>
          </a:p>
          <a:p xmlns:a="http://schemas.openxmlformats.org/drawingml/2006/main">
            <a:r>
              <a:t>Editable chart source data: results/task2e_sustainable_runner_20261016/linux_baremetal_sustained_comparison_20261016.csv. Per-run raw-derived records: baremetal_sustained_runs_20261016.csv and linux_sustained_runs.csv.</a:t>
            </a:r>
          </a:p>
          <a:p xmlns:a="http://schemas.openxmlformats.org/drawingml/2006/main">
            <a:r>
              <a:t>Linux uses CLOCK_MONOTONIC_RAW; bare metal uses XTime_GetTime. Bare-metal occupancy is a busy-wait execution-model figure, not a PMU measure. Physical SCK (~51 MHz) was previously measured at J55 for the same bitstream/configuration but not remeasured during these windows. Clock readback detail: results/task2e_sustainable_runner_20261016/clock_readback_20261017.md. Linux ran before bare metal; order effects were not controlled.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proposed operator experience, not a completed implementation or board validation. The architecture and constraints are documented in docs/design/MSU2_ONE_STOP_DEMO_ARCHITECTURE.md.</a:t>
            </a:r>
          </a:p>
          <a:p xmlns:a="http://schemas.openxmlformats.org/drawingml/2006/main">
            <a:r>
              <a:t>The current Linux sustained runner accepts payload, window duration, requested speed, and repetition. The current bare-metal sustained application has fixed payload sizes, a 60-second window, and three repetitions: linux/src/spi_sustainable_benchmark.c and bare_metal/src/spi_sustainable_benchmark_bare_axi.c.</a:t>
            </a:r>
          </a:p>
          <a:p xmlns:a="http://schemas.openxmlformats.org/drawingml/2006/main">
            <a:r>
              <a:t>The September 29 validated hardware export records C_SCK_RATIO=2. The Linux xilinx_spi driver accepts but does not apply speed requests for this fixed-divider configuration. Physical SCK must be measured separately.</a:t>
            </a:r>
          </a:p>
          <a:p xmlns:a="http://schemas.openxmlformats.org/drawingml/2006/main">
            <a:r>
              <a:t>The Linux and bare-metal BOOT.BIN artifacts are separate today. A dual-mode SD boot menu/launcher has not been assembled; switching A53 software environments requires a reboot, while the PL image can remain the validated same image.</a:t>
            </a:r>
          </a:p>
          <a:p xmlns:a="http://schemas.openxmlformats.org/drawingml/2006/main">
            <a:r>
              <a:t>The current project demonstrates external J55 MOSI-to-MISO loopback. It does not yet define a separate end-product normal-operation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and interpretation: results/task2e_stress_envelope_20261017/BAREMETAL_SUSTAINED_REPEAT_REPORT_20261017.md.</a:t>
            </a:r>
          </a:p>
          <a:p xmlns:a="http://schemas.openxmlformats.org/drawingml/2006/main">
            <a:r>
              <a:t>The chart plots the percentage change between the new 17 Oct bare-metal 3-run median and the earlier 16 Oct median, by payload size. Raw operator-provided transcript: results/task2e_stress_envelope_20261017/baremetal_sustained_uart_capture_20261017.raw.log. Derived rows: results/task2e_stress_envelope_20261017/baremetal_sustained_runs_20261017.csv.</a:t>
            </a:r>
          </a:p>
          <a:p xmlns:a="http://schemas.openxmlformats.org/drawingml/2006/main">
            <a:r>
              <a:t>The new transcript reported 33 points, 46,240,175 verified transfers, 1,542,507,195 verified bytes, zero API errors, and zero mismatches. It reported timer_hz=99,990,005, IOPLL_CTRL=0x00015a00, and PL0_REF_CTRL=0x01010f00.</a:t>
            </a:r>
          </a:p>
          <a:p xmlns:a="http://schemas.openxmlformats.org/drawingml/2006/main">
            <a:r>
              <a:t>No target image or executable hash was reported in the live transcript. The benchmark itself reports topology=UNVERIFIED and physical_sck_hz=NOT_MEASURED. Prior SCK near 51 MHz was measured on 29 Sep for the matching design, not during this repeat.</a:t>
            </a:r>
          </a:p>
          <a:p xmlns:a="http://schemas.openxmlformats.org/drawingml/2006/main">
            <a:r>
              <a:t>The repeat uses the existing ladder through 65,536 bytes and does not test a stress boundary. The ratio-2 hardware divider is fixed; speed-request arguments cannot sweep physical SCK. Task 2e remains partial pending the larger payload/reliability experiment and physical SCK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Linux implementation: linux/appliance/msu2_demo.py. Bare-metal implementation: bare_metal/src/spi_sustainable_benchmark_bare_axi.c. Operator instructions: linux/appliance/MSU2_DEMO_CONSOLE.md. Progress report: results/MSU2_ONE_STOP_DEMO_PROGRESS_20261017.md.</a:t>
            </a:r>
          </a:p>
          <a:p xmlns:a="http://schemas.openxmlformats.org/drawingml/2006/main">
            <a:r>
              <a:t>The menu runs the existing Linux receive-verification/latency sweep and sustained runner. Each test invocation gets config.json, raw_output.log and manifest.json in a unique evidence folder. It records unknown for physical SCK, PL0 rate and bitstream hash because those values are not measured by the menu.</a:t>
            </a:r>
          </a:p>
          <a:p xmlns:a="http://schemas.openxmlformats.org/drawingml/2006/main">
            <a:r>
              <a:t>Linux verification: python3 linux/appliance/msu2_demo.py --self-test passed; choosing option 0 returned to the shell without executing a test; python3 -m py_compile passed; tests.test_sustainable_benchmark_host passed all four tests. Bare-metal verification: Vitis 2025.1 built an ELF with SHA-256 9a1b1455a0b4255429e9c767db2f8ab7d0a54bc1bfa8b2f67bce75a85794c067 against the pinned XSA.</a:t>
            </a:r>
          </a:p>
          <a:p xmlns:a="http://schemas.openxmlformats.org/drawingml/2006/main">
            <a:r>
              <a:t>The Vitis build is ELF-only. No BOOT.BIN packaging, board programming, UART menu test or SPI transfer was performed. Linux currently starts without a power-on OS chooser. A Linux/bare-metal selector remains unimplemented and must not weaken the Task 2g signed-boot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results/MSU2_ONE_STOP_SIGNED_SELECTOR_AND_SD_AUDIT_20261017.md. FIT build: python3 scripts/task2g_build_dualmode_fit.py with the SD FIT, unified SPI ELF, signing-key directory, control DTB, and U-Boot host tools as inputs.</a:t>
            </a:r>
          </a:p>
          <a:p xmlns:a="http://schemas.openxmlformats.org/drawingml/2006/main">
            <a:r>
              <a:t>The candidate reuses the card image.ub payloads (Linux kernel SHA-256 023ae2aa3f608f115f466d150383ea50d40a727cb79e4c1ec7c42b4f637dcb99; DTB 852b2591a8f1d095d2392f098fb547280a0e3cb71b6556e416aea1684a3d942e; initramfs 6eba38d56d5ab4fc5a5e359e07429269b25e94a2262f0a151cc806f817ba7fe0) and the unified menu ELF SHA-256 9a1b1455a0b4255429e9c767db2f8ab7d0a54bc1bfa8b2f67bce75a85794c067.</a:t>
            </a:r>
          </a:p>
          <a:p xmlns:a="http://schemas.openxmlformats.org/drawingml/2006/main">
            <a:r>
              <a:t>All three FIT configurations (linux, spi-test, pl-overlay) passed U-Boot fit_check_sign using a required sha256,rsa2048 key. Modifying the standalone SPI payload caused signature verification to fail. The bare-metal application did not execute during this host check.</a:t>
            </a:r>
          </a:p>
          <a:p xmlns:a="http://schemas.openxmlformats.org/drawingml/2006/main">
            <a:r>
              <a:t>A U-Boot 2025.01-Xilinx sandbox build with the fixed compiled environment displayed two choices plus Quit, omitted the U-Boot-console entry, and selected the requested benign option. A sandbox-compatible signed FIT made from the exact candidate payload bytes was accepted for Linux; the SPI menu firmware loaded with autostart=no; a tampered SPI payload was rejected before firmware loading. See results/task2g_dualmode_sandbox_20261017/.</a:t>
            </a:r>
          </a:p>
          <a:p xmlns:a="http://schemas.openxmlformats.org/drawingml/2006/main">
            <a:r>
              <a:t>The actual PetaLinux project built U-Boot with the fixed menu and FIT verification code. The target ELF SHA-256 is 70498b6e1dfe8392d6e1ca75b8384b9a21c61f668d34ad01a11e9b2d9ba120d3. Bootgen packaged it with the validated J55 bitstream SHA-256 c27bb684ca843e173585aed50096f95692530444b808ec948006dbb0d67f56fd and a required-key system DTB loaded at 0x100000.</a:t>
            </a:r>
          </a:p>
          <a:p xmlns:a="http://schemas.openxmlformats.org/drawingml/2006/main">
            <a:r>
              <a:t>Candidate BOOT_SIGNED_SELECTOR.bin SHA-256 is 8436f5ddad8143e48cae82fa9c375a831e16839172e81d3ebb9cf7e8fee6e718. Repeating packaging produced the same hash. The system DTB extracted from this package has required=conf; FIT checks against that extracted DTB accepted linux, spi-test, and pl-overlay, while the modified SPI FIT was rejected.</a:t>
            </a:r>
          </a:p>
          <a:p xmlns:a="http://schemas.openxmlformats.org/drawingml/2006/main">
            <a:r>
              <a:t>The card contains BOOT.BIN with SHA-256 8436f5ddad8143e48cae82fa9c375a831e16839172e81d3ebb9cf7e8fee6e718, the signed FIT with SHA-256 e6d065f82305e5216a3613e92b42d4749870f67c1df7b19bef950339d952a5ad, and the original BOOT.BIN backup. No target boot, A53 execution, Linux operations, or physical SPI transfer has been tested with this package. FIT verification only protects payloads after trusted U-Boot starts, and no BootROM/FSBL authentication or hardware key provisioning is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result report: results/linux_axi_spi_bringup_20261013/runtime_rebringup_20261017.md.</a:t>
            </a:r>
          </a:p>
          <a:p xmlns:a="http://schemas.openxmlformats.org/drawingml/2006/main">
            <a:r>
              <a:t>The target smoke executable was results/linux_axi_spi_bringup_20261013/linux_spi_smoke_aarch64, SHA-256 fb01baec3d451849bd147837491f0d63b62efd0e1a1f99389314d407582b8dcd. Target output: device=/dev/spidev1.0 mode=0x0 mode_readback=0x0 bits=8 speed_requested_hz=1000000 speed_readback_hz=1000000 tx=a5 rx=a5 ioctl_rc=1 errno=0 elapsed_ns=47655.</a:t>
            </a:r>
          </a:p>
          <a:p xmlns:a="http://schemas.openxmlformats.org/drawingml/2006/main">
            <a:r>
              <a:t>Validated bitstream SHA-256 c27bb684ca843e173585aed50096f95692530444b808ec948006dbb0d67f56fd; PL0 clock overlay SHA-256 00d3bd63dd926a41c3e8581c8d4ee8abb3e94307ad7e4ba345e500e45bb1bffa; reset overlay SHA-256 6ae01a4bddea4fe225e2fdee6c5da48df70ce68df7be14328326d7066a171255; AXI SPI overlay SHA-256 92416746eaba51248438fdca8be324ef2a0455ccb2caa64da74d75df96bee693.</a:t>
            </a:r>
          </a:p>
          <a:p xmlns:a="http://schemas.openxmlformats.org/drawingml/2006/main">
            <a:r>
              <a:t>The older spi_loopback_test benchmark did not compare RX bytes and emitted an obsolete SCK note. A new multi-payload RX-verifying benchmark was not staged on the target during this session. See the report for evidence scope and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0bf31302f41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9e0bdfed740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c911ce08c40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c60099f4048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8be66ab49840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09183b48349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344AD9-9605-4A0A-B5C2-C7FB96950B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01473D-A398-4F4C-8DBA-753A29E31E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15B94A-1BC7-4A0D-BB5B-190D3C35F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DC7236-3C9D-4058-B910-91FA024C6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C26587-70D9-466C-A27A-EB6DFB0817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3B81695-6350-4A8E-AEC5-C767AF2730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395CEB-0112-4BD8-AAAE-95C7B781E9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94D378-A862-4A8B-A237-3C5A3B597E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6378B7-FC07-4BFE-BF91-9983B9497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751569-39BE-4554-8A2F-83502F43FB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32cc11dd774de8" /><Relationship Type="http://schemas.openxmlformats.org/officeDocument/2006/relationships/slideLayout" Target="/ppt/slideLayouts/slideLayout1.xml" Id="R8214be4f75a1445b" /><Relationship Type="http://schemas.openxmlformats.org/officeDocument/2006/relationships/slideLayout" Target="/ppt/slideLayouts/slideLayout2.xml" Id="Rc48bcf436da445fb" /><Relationship Type="http://schemas.openxmlformats.org/officeDocument/2006/relationships/slideLayout" Target="/ppt/slideLayouts/slideLayout3.xml" Id="Rdb99afbd4dd64193" /><Relationship Type="http://schemas.openxmlformats.org/officeDocument/2006/relationships/slideLayout" Target="/ppt/slideLayouts/slideLayout4.xml" Id="R5d01cc54581147b2" /><Relationship Type="http://schemas.openxmlformats.org/officeDocument/2006/relationships/slideLayout" Target="/ppt/slideLayouts/slideLayout5.xml" Id="R10b29fa444c04f7a" /><Relationship Type="http://schemas.openxmlformats.org/officeDocument/2006/relationships/slideLayout" Target="/ppt/slideLayouts/slideLayout6.xml" Id="R8b0ceceaa77241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14be4f75a1445b"/>
    <p:sldLayoutId xmlns:r="http://schemas.openxmlformats.org/officeDocument/2006/relationships" id="2147483650" r:id="Rc48bcf436da445fb"/>
    <p:sldLayoutId xmlns:r="http://schemas.openxmlformats.org/officeDocument/2006/relationships" id="2147483651" r:id="Rdb99afbd4dd64193"/>
    <p:sldLayoutId xmlns:r="http://schemas.openxmlformats.org/officeDocument/2006/relationships" id="2147483652" r:id="R5d01cc54581147b2"/>
    <p:sldLayoutId xmlns:r="http://schemas.openxmlformats.org/officeDocument/2006/relationships" id="2147483653" r:id="R10b29fa444c04f7a"/>
    <p:sldLayoutId xmlns:r="http://schemas.openxmlformats.org/officeDocument/2006/relationships" id="2147483654" r:id="R8b0ceceaa77241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a8d34adc2b4cd5" /><Relationship Type="http://schemas.openxmlformats.org/officeDocument/2006/relationships/notesSlide" Target="/ppt/notesSlides/notesSlide1.xml" Id="R6beb691aa15146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93499a8fc40d8" /><Relationship Type="http://schemas.openxmlformats.org/officeDocument/2006/relationships/chart" Target="/ppt/slides/charts/chart1.xml" Id="Rea4eae80214445d5" /><Relationship Type="http://schemas.openxmlformats.org/officeDocument/2006/relationships/notesSlide" Target="/ppt/notesSlides/notesSlide2.xml" Id="Rdd3721e61de045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86ce384a8c4cbb" /><Relationship Type="http://schemas.openxmlformats.org/officeDocument/2006/relationships/chart" Target="/ppt/slides/charts/chart2.xml" Id="Rdb896a26db444178" /><Relationship Type="http://schemas.openxmlformats.org/officeDocument/2006/relationships/notesSlide" Target="/ppt/notesSlides/notesSlide3.xml" Id="R2b955173cbad4b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5c0796aaf408e" /><Relationship Type="http://schemas.openxmlformats.org/officeDocument/2006/relationships/chart" Target="/ppt/slides/charts/chart3.xml" Id="R0e65cec536584ffe" /><Relationship Type="http://schemas.openxmlformats.org/officeDocument/2006/relationships/notesSlide" Target="/ppt/notesSlides/notesSlide4.xml" Id="Rdf14fcab896946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5899316d74fb6" /><Relationship Type="http://schemas.openxmlformats.org/officeDocument/2006/relationships/notesSlide" Target="/ppt/notesSlides/notesSlide5.xml" Id="Re61b21fa8e0649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7a053b548c4c78" /><Relationship Type="http://schemas.openxmlformats.org/officeDocument/2006/relationships/notesSlide" Target="/ppt/notesSlides/notesSlide6.xml" Id="R8bb4c0659ca84a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a32ca24a84504" /><Relationship Type="http://schemas.openxmlformats.org/officeDocument/2006/relationships/chart" Target="/ppt/slides/charts/chart4.xml" Id="R8169a0430a2a4bc8" /><Relationship Type="http://schemas.openxmlformats.org/officeDocument/2006/relationships/notesSlide" Target="/ppt/notesSlides/notesSlide7.xml" Id="R00b4d39dcc5b49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64eaa73f746d7" /><Relationship Type="http://schemas.openxmlformats.org/officeDocument/2006/relationships/notesSlide" Target="/ppt/notesSlides/notesSlide8.xml" Id="Rc7aa98631bb84b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a116f3b1f453c" /><Relationship Type="http://schemas.openxmlformats.org/officeDocument/2006/relationships/notesSlide" Target="/ppt/notesSlides/notesSlide9.xml" Id="Red286a34c3b44f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67ac9ae80f4650" /><Relationship Type="http://schemas.openxmlformats.org/officeDocument/2006/relationships/notesSlide" Target="/ppt/notesSlides/notesSlide10.xml" Id="Rfa0cfb45ed9e48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305bc33c7b48e4" /><Relationship Type="http://schemas.openxmlformats.org/officeDocument/2006/relationships/notesSlide" Target="/ppt/notesSlides/notesSlide11.xml" Id="R3808590d26b947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cf0e1ba90f4ac4" /><Relationship Type="http://schemas.openxmlformats.org/officeDocument/2006/relationships/notesSlide" Target="/ppt/notesSlides/notesSlide12.xml" Id="R74d01acb68714f2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276cb661c4fc1" /><Relationship Type="http://schemas.openxmlformats.org/officeDocument/2006/relationships/chart" Target="/ppt/slides/charts/chart5.xml" Id="Rb47c44ecb8b140f9" /><Relationship Type="http://schemas.openxmlformats.org/officeDocument/2006/relationships/notesSlide" Target="/ppt/notesSlides/notesSlide13.xml" Id="Rd6208ad2858f48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465558d574de8" /><Relationship Type="http://schemas.openxmlformats.org/officeDocument/2006/relationships/chart" Target="/ppt/slides/charts/chart6.xml" Id="R77ec768b2de94ed0" /><Relationship Type="http://schemas.openxmlformats.org/officeDocument/2006/relationships/notesSlide" Target="/ppt/notesSlides/notesSlide14.xml" Id="Rf16e44588e574f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08e0390e847be" /><Relationship Type="http://schemas.openxmlformats.org/officeDocument/2006/relationships/notesSlide" Target="/ppt/notesSlides/notesSlide15.xml" Id="R5a44b479cc1f45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817c11901e4ee8" /><Relationship Type="http://schemas.openxmlformats.org/officeDocument/2006/relationships/chart" Target="/ppt/slides/charts/chart7.xml" Id="R2ee82a8a962c4aff" /><Relationship Type="http://schemas.openxmlformats.org/officeDocument/2006/relationships/notesSlide" Target="/ppt/notesSlides/notesSlide16.xml" Id="R3274b4136c3e4c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d50cb14254e51" /><Relationship Type="http://schemas.openxmlformats.org/officeDocument/2006/relationships/notesSlide" Target="/ppt/notesSlides/notesSlide17.xml" Id="R106e41f192ca42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0d28cb3eb4289" /><Relationship Type="http://schemas.openxmlformats.org/officeDocument/2006/relationships/notesSlide" Target="/ppt/notesSlides/notesSlide18.xml" Id="R791977b9d7fb498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2ed550d5054149" /><Relationship Type="http://schemas.openxmlformats.org/officeDocument/2006/relationships/notesSlide" Target="/ppt/notesSlides/notesSlide19.xml" Id="R0cc69e08910446cb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(latency-derived rate)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0.039606</c:v>
              </c:pt>
              <c:pt idx="1">
                <c:v>0.265803</c:v>
              </c:pt>
              <c:pt idx="2">
                <c:v>0.477591</c:v>
              </c:pt>
              <c:pt idx="3">
                <c:v>0.990138</c:v>
              </c:pt>
              <c:pt idx="4">
                <c:v>1.196483</c:v>
              </c:pt>
              <c:pt idx="5">
                <c:v>1.337257</c:v>
              </c:pt>
              <c:pt idx="6">
                <c:v>1.411314</c:v>
              </c:pt>
              <c:pt idx="7">
                <c:v>1.451632</c:v>
              </c:pt>
              <c:pt idx="8">
                <c:v>1.484795</c:v>
              </c:pt>
              <c:pt idx="9">
                <c:v>1.493652</c:v>
              </c:pt>
              <c:pt idx="10">
                <c:v>1.496068</c:v>
              </c:pt>
            </c:numLit>
          </c:val>
          <c:smooth val="0"/>
        </c:ser>
        <c:ser>
          <c:idx val="1"/>
          <c:order val="1"/>
          <c:tx>
            <c:v>Bare metal (latency-derived rate)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0.143845</c:v>
              </c:pt>
              <c:pt idx="1">
                <c:v>0.472271</c:v>
              </c:pt>
              <c:pt idx="2">
                <c:v>0.564728</c:v>
              </c:pt>
              <c:pt idx="3">
                <c:v>0.659896</c:v>
              </c:pt>
              <c:pt idx="4">
                <c:v>0.679004</c:v>
              </c:pt>
              <c:pt idx="5">
                <c:v>0.688989</c:v>
              </c:pt>
              <c:pt idx="6">
                <c:v>0.871459</c:v>
              </c:pt>
              <c:pt idx="7">
                <c:v>1.007844</c:v>
              </c:pt>
              <c:pt idx="8">
                <c:v>1.142011</c:v>
              </c:pt>
              <c:pt idx="9">
                <c:v>1.181295</c:v>
              </c:pt>
              <c:pt idx="10">
                <c:v>1.19155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Derived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median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0.057752521</c:v>
              </c:pt>
              <c:pt idx="1">
                <c:v>0.266413556</c:v>
              </c:pt>
              <c:pt idx="2">
                <c:v>0.472585093</c:v>
              </c:pt>
              <c:pt idx="3">
                <c:v>0.98231498</c:v>
              </c:pt>
              <c:pt idx="4">
                <c:v>1.191949759</c:v>
              </c:pt>
              <c:pt idx="5">
                <c:v>1.333201</c:v>
              </c:pt>
              <c:pt idx="6">
                <c:v>1.40799965</c:v>
              </c:pt>
              <c:pt idx="7">
                <c:v>1.449179768</c:v>
              </c:pt>
              <c:pt idx="8">
                <c:v>1.483122032</c:v>
              </c:pt>
              <c:pt idx="9">
                <c:v>1.492404617</c:v>
              </c:pt>
              <c:pt idx="10">
                <c:v>1.494882206</c:v>
              </c:pt>
            </c:numLit>
          </c:val>
          <c:smooth val="0"/>
        </c:ser>
        <c:ser>
          <c:idx val="1"/>
          <c:order val="1"/>
          <c:tx>
            <c:v>Bare-metal median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0.141829794</c:v>
              </c:pt>
              <c:pt idx="1">
                <c:v>0.467718099</c:v>
              </c:pt>
              <c:pt idx="2">
                <c:v>0.56064601</c:v>
              </c:pt>
              <c:pt idx="3">
                <c:v>0.655888606</c:v>
              </c:pt>
              <c:pt idx="4">
                <c:v>0.674999375</c:v>
              </c:pt>
              <c:pt idx="5">
                <c:v>0.684938151</c:v>
              </c:pt>
              <c:pt idx="6">
                <c:v>0.865134151</c:v>
              </c:pt>
              <c:pt idx="7">
                <c:v>0.999455378</c:v>
              </c:pt>
              <c:pt idx="8">
                <c:v>1.131240622</c:v>
              </c:pt>
              <c:pt idx="9">
                <c:v>1.169754492</c:v>
              </c:pt>
              <c:pt idx="10">
                <c:v>1.17969579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Verified application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Median rate change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0.23708065175640503</c:v>
              </c:pt>
              <c:pt idx="1">
                <c:v>0.08323432444292678</c:v>
              </c:pt>
              <c:pt idx="2">
                <c:v>0.0043908276454063255</c:v>
              </c:pt>
              <c:pt idx="3">
                <c:v>0.004336407087990324</c:v>
              </c:pt>
              <c:pt idx="4">
                <c:v>-0.003633632994104463</c:v>
              </c:pt>
              <c:pt idx="5">
                <c:v>-0.002961581271287983</c:v>
              </c:pt>
              <c:pt idx="6">
                <c:v>0.33217484209566717</c:v>
              </c:pt>
              <c:pt idx="7">
                <c:v>0.5846285015437713</c:v>
              </c:pt>
              <c:pt idx="8">
                <c:v>0.8289873805468861</c:v>
              </c:pt>
              <c:pt idx="9">
                <c:v>0.9030905264520994</c:v>
              </c:pt>
              <c:pt idx="10">
                <c:v>0.9239160716170591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-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Change from prior median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6A87F-18AC-4780-A68C-406AA299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E70FB-7367-4D2C-809E-B2E59B9B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92D13-C925-4F92-B75E-70AE4D73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53CFB-F3FD-4BF5-AE4E-17A46031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70B0E-DF25-4F2F-95FC-95618C7E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17 October 2026</a:t>
            </a:r>
          </a:p>
        </p:txBody>
      </p:sp>
    </p:spTree>
    <p:extLst>
      <p:ext uri="{BB962C8B-B14F-4D97-AF65-F5344CB8AC3E}">
        <p14:creationId xmlns:p14="http://schemas.microsoft.com/office/powerpoint/2010/main" val="8124604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E22FB-E9B7-4DB3-88F3-395558B4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A2E6F-362D-46C1-9964-7D4E34CD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34B8-7296-49BD-9F45-A52EB3B8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81725-5F1B-40A3-B9A9-1F5A2979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95C0156-BAB8-4D93-BD56-1981F62EE9C5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4eae80214445d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37193-D0C4-47C3-B6C3-2724C12F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6AF2C-202E-480C-BC06-E9DBB459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0CB79-67A2-4B64-908C-3A6D127F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60857-8DED-4D73-A560-87DAE2C3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9243B-2F3E-42DB-8119-EC339FD2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1584507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44E39-8636-45D5-A612-48F6F658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5D38B-EE0D-4717-8438-5F3CF50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470F2-8019-42CD-A75C-57CF0BA0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125E-9E1E-4DD5-871F-253C2688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07C17AA-317E-4E82-B693-B3C5187AA052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896a26db44417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87C9A-8747-4899-8753-6936EEC9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0EAC2-486F-4FF4-82A5-6F850ED0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534E7-6645-477B-AD17-33D193FD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32C2A-AD4B-43CB-B4B5-44175E63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83071-1CCF-47C1-8A1B-D6A63BF0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986437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3A437-EBA2-42CA-AD60-116B75AB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B4022-D0A5-468F-8E09-7B351A5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F837D-B6D9-4B7C-96EB-5819A270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38023-098E-4C9A-AE32-C5CEBF9E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37C3C3B-86E8-4EF9-9C16-D27871EFA50D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65cec536584ff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B6CE1-46E5-4592-A1BA-89058835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212EA-3265-45BB-9127-52795678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6A7AC-32D9-4F82-9A80-18DDB4C3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1D680-3570-446F-8EE1-5FAF531A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684201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008D30-7A21-4912-90D5-256B2D23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17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18C2F-6110-40F6-805A-5661AB14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 status against the SOW activity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950FF-1F55-4B22-87A5-33753879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8AA93-FC78-4FA5-8672-D97681E0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59B86-2825-462E-85DE-29E1132B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3403F-D6FC-473A-BD52-96D6CDF6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2a  Performance gaps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E8692-6A5E-4D31-87B4-530A189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516D4-43FE-4E01-9BF4-E39C64DD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Revalidated 11 sizes × 1,000 on both paths; zero errors. Bounded comparison, not causal kernel-only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962A5-E246-40CF-8516-ACC8E49C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11E7D-2676-447C-9783-892502C8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2b  PIO and DMA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7D57C-10D5-4F91-935C-AD4F9D94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860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9D528-E9CC-4FC8-9CE2-2694F9BF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Physical PIO; six-size CDMA simulation; ZDMA result invalid for performance. No physical DMA crossover.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22F5D-E20D-40E5-84CC-B99FC1BF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1672B-6FD1-4C05-9046-5C011E57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2c  Real-time suitability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3485DD-A278-468C-B437-7AAE636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Assessment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36EAD-276F-4796-BF36-CE5802D9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146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Best-effort latency and jitter characterized; no hard deadline or deterministic guarantee established.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92C02-3593-48DD-9CDF-7E1684C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E8DDF0-E02E-4EBF-A085-EABABA01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F0252-C823-4125-AF09-B29A9BC2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433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72C02-BDEE-4CC1-B154-916AEA2B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433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Design documented. Verified boot, reliable updates and automatic recovery are not deployed.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B4C24-48BD-4C9D-8D37-E3D3326A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6EDED-4C31-4A82-8516-314C601E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78FDFE-3995-404F-B875-CB2DD4F7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63EE7-8F4D-4C0D-B2BE-2B621A61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66/66 paired sustained points pass. Reliable clock/payload stress envelope remains to be measured before 2e closes.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054B4-A57C-4950-B331-7936479B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B6C03-582B-4DCF-90A6-15D6C071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B0BF3A-888A-49B0-8B05-2E1974E0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006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8FB05-3BF0-4077-B1AD-FB83E08F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0060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sweep done; preemption-model and physical optimized-DMA comparison remain open.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F814E-9B38-4D28-A9AB-90512436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667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18D586-4B9B-4923-BEFB-9285F630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appliance/security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D7879D-BB18-4E1D-B5A2-E3CDE699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4E812-6575-4603-BF1B-B4801D1F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53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Prototypes pass defined tests; active boot is unsigned and integrated target recovery remains open.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4396AA-09F2-404E-8A55-266A6506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SOW wording is authoritative; 2a–2g are internal labels. Task 1 and formal reporting deliverables are assessed separately.</a:t>
            </a:r>
          </a:p>
        </p:txBody>
      </p:sp>
    </p:spTree>
    <p:extLst>
      <p:ext uri="{BB962C8B-B14F-4D97-AF65-F5344CB8AC3E}">
        <p14:creationId xmlns:p14="http://schemas.microsoft.com/office/powerpoint/2010/main" val="981917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96889-1509-43EB-9930-37EE5F9D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53A8B-99F5-4040-BCAA-3DE414FD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EC18E-C989-4E8B-9E37-F12F5ADD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8BC6A-D36C-490C-AADA-A3DCFD81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7FD4F-A770-436B-8B44-573CE3B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50E57-F87F-4E9E-B4EE-387EA9C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DDA20-1521-44A5-A76F-96293DD2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8212C-C0D5-4BAB-8BA4-27C91542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07630-9DD5-430C-9B1D-9FD717B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8FF09-B768-4FE6-8DFB-9C21321C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92C51-95E2-45B1-8BC1-CF3C52B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81022-DA1D-462D-9623-BC94749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3D85B0-1D9B-4C73-8F60-45B1425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33FB5-4D78-4EC8-BA29-338760AD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6A338-5E47-48DC-9D6C-43ECCFA2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F5699-AD0C-4760-B53A-90698B92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F8C2C-D839-43D7-8EAA-B4AB997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A6A6A-DE11-46CD-869D-DD86D543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A7596-AE36-4369-B234-ADB9EA18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C6DC81-4587-4D64-989A-07204D8F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BA029-36D1-43EC-BB60-04DFF45B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290326-C131-4501-A867-56D33D45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7700A-8255-4268-B6E7-C510EBCA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28CB6-544F-41A5-AFDD-42D90CE3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8067E-AD2C-4964-A2AB-151C78C0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052F7-045E-4656-8FCD-F6457E7C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2545091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E6E76-80E7-4635-9FFE-166FFC15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6C198-F7F7-4CB8-82DB-1BFC135E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816D4-02EB-4210-8A2B-3687C664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041DB-1407-43BB-83E2-026A0DC6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0CA9E69-E368-497B-A92B-FB1B76B30AE5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69a0430a2a4bc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81F51-990F-48A3-8B48-7ED552F9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C5848-225E-434B-8890-4488057B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8AA0E-B214-4017-906E-236D2669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BA812-B053-4A0F-ABE3-21D71B26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Fixed-ladder Linux thread share is separate from sustained results. Bare metal reports 100% busy-wait core occupancy, not a PMU reading.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869767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B19E67-781B-4693-9033-3C0C68E4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201A4-8F17-4B4B-AC45-13C7F66B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FDF6-841E-4E89-A7E9-28D05E4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848E3-F097-4702-9CCE-6F2ADFCF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1D3D3-2B01-44D1-99C3-D4A93C8A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1B357-C6D2-4F03-84D7-38E762E8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A040A-D2FF-4FE7-97C6-B1660BDC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DC6CA-10EC-40D7-9B76-5F213F5C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908A1-BC34-44A7-9C57-9C61FF3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B9D01-1B01-4D8C-B2B0-3E64966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D961A-3403-45CE-8D37-3955346D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6E374-4252-4A16-8D39-07DC1A99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CD57E-2705-49B4-9328-18883315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B941C-62E5-49CE-8029-84AD8D0F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06920-211F-4997-88A8-0435E769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9AC51-BE13-4D9A-96FE-4FBE3EAF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87340-33C1-493F-9D7C-EC8837FF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948509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6EC1F-DBF5-4B2E-A87A-463DFE80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TOOLCHAIN  /  LICENSE DIAGNOSTIC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61DBE-20CE-418D-BC47-CDB63835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Enterprise license passes ZCU9EG 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FD976-12D3-4CB7-9859-014BCFC8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A6C9D2-0FE9-4F65-B9B6-26F0CDD0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EB8CE-CB68-4C3F-9BCC-CEFE40B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Sandboxed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09061-2558-43B6-8E80-3CA3D32D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FlexNet could not read the workstation network-interface ID. It reported the node-locked license as invalid; Vivado then surfaced the failed checkout as an expired Synthesis feature.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0E611-0821-4CD7-9563-34C573C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9545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Normal host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20718-6687-4609-8F69-F1B37523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permanent Enterprise license matched the active workstation NIC. FlexNet approved the node, and Vivado granted Synthesis for xczu9eg.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786A4-9D4B-4E07-B7E8-62F1E07B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A5A91-1A64-4F07-8BFB-D2EB622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A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171450" tIns="133350" rIns="171450" bIns="114300"/>
          <a:lstStyle xmlns:a="http://schemas.openxmlformats.org/drawingml/2006/main">
            <a:def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Fresh synthesis for xczu9eg-ffvb1156-2-e completed with 0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0D1A7-D5C2-4C74-8416-3B428AFC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This was a small license-check design, not the project build. Synthesis uses the selected FPGA part; it does not communicate with the physical ZCU102 board.</a:t>
            </a:r>
          </a:p>
        </p:txBody>
      </p:sp>
    </p:spTree>
    <p:extLst>
      <p:ext uri="{BB962C8B-B14F-4D97-AF65-F5344CB8AC3E}">
        <p14:creationId xmlns:p14="http://schemas.microsoft.com/office/powerpoint/2010/main" val="16976404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08A24-6B0B-4C6B-98DD-EA5ED137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TARGET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340B7-B518-44DE-A549-E71E5D93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ZCU102 Linux update-control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C2EEA-BA51-421D-BCFA-5F5A40C4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60A46-143A-4F02-9ED9-4B36D9BD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40B5E-9B30-459B-8452-CC67F024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52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TEST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37AB4-7B66-4E12-83EA-C2AA11E4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76400"/>
            <a:ext cx="3571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UNSAFE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A726E-DA33-479A-B738-EA491A67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764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A/B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96145-E710-44F6-960F-A7FA8319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BC623-1786-479A-AB0B-8B39FA7C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 release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FC463-AD5B-45FF-86B8-B3804AF9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in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05D24-C151-4EF1-8203-25C18D2A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7170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Verified; staged to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8C654-0188-43B8-A2BE-47471167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06DCA-A131-46D2-9E1F-6BF7A033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Tampered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FF1E8-DD25-4900-8CBB-60A9AB46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6702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Accepted altered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11F94-E72A-4604-AA87-99F61861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6702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Rejected; A unchanged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F20BB-2BA3-488D-B1B0-5278AE60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07C03-E202-4A05-9E36-A9663F87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Interrupted write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A0C21-8398-4BE7-A4D0-231A7241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62350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Active A partially overwritten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8B380-C60C-4102-9A52-CF2F299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62350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A retained; no trial published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58E7C-840F-4A0C-9E9C-04DD14BB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20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FD519-8C69-4AE9-A634-A02488E5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Failed trial health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53EB2-5D72-4910-8614-3C234998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57675"/>
            <a:ext cx="3571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Bad image remains active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BF954-11C7-4B70-9665-9A4DAB41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57675"/>
            <a:ext cx="381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Pending cleared; A selected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EA693-BCBF-4203-B255-76368870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All four checks passed on the ZCU102 AArch64 Linux system using its OpenSSL runtime and temporary /tmp slots. This did not test BootROM/U-Boot, persistent boot state, or physical power-loss recovery.</a:t>
            </a:r>
          </a:p>
        </p:txBody>
      </p:sp>
    </p:spTree>
    <p:extLst>
      <p:ext uri="{BB962C8B-B14F-4D97-AF65-F5344CB8AC3E}">
        <p14:creationId xmlns:p14="http://schemas.microsoft.com/office/powerpoint/2010/main" val="18866312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257991-826D-496F-B6E7-748BBF50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SIGNED IMAGE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730D8-3A74-4D67-BAD9-AAEB2E2C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FIT signature rejects tampering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A84DF-2BAD-48E8-92C1-3FE5B788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F6BA-F847-44CF-8EDB-FD7B43AC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0ECDC-5416-4A9F-BDC4-3D196D68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62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2025.01-XILINX  ·  PETALINUX 2025.2  ·  VALIDATED XSA + BITSTREAM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9A29A-DBEA-4C1F-AF9E-647B9761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396E5-48DA-4606-A814-2184405C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 + DTB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initrd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61B7A-4ABA-4046-8BCA-D2F134A2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PetaLinux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91179-D68D-42DB-ACAB-01BF5B3E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646DF-0851-4F34-BEBD-8201CE37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ED57C-5924-41D7-8517-33F3795F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RSA-2048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4B5D8-EBE3-4DD4-9600-8DEF6FED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sha256 · msu2-test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A3C15-C64A-4075-9B7C-5F16ACD2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EA0C2F-D011-4268-A1C0-A3955BE0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35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9D6EE-7447-4888-86A9-F7211377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 key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 U-Boot DTB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1C614-EE9F-4DAA-B07B-2115A54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key-msu2-test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38305-1637-4FAE-96B1-BC14F417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28900"/>
            <a:ext cx="3619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7612F-6D9F-4314-BFB2-9A9E309F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9800"/>
            <a:ext cx="2190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C9472-2F2A-4B5C-BBD0-DE710C6B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98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before</a:t>
            </a:r>
          </a:p>
          <a:p xmlns:a="http://schemas.openxmlformats.org/drawingml/2006/main">
            <a:pPr algn="ctr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268E0-1873-4775-895E-1E6D21AD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575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fit_check_sign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BBB2CD-3541-42AB-9F31-3E0C865B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SIGNED BUILD  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5A76F-3309-4B43-A8D4-DE162852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U-Boot fit_check_sign accepted the PetaLinux configuration; FIT SHA-256: ca498597…e37222.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41819-A40E-4E1E-8D1B-6A3D18B4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905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KERNEL BYTE FLIPPED  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81431-C7EC-4BAC-BB23-3D2C197B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4905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Signature/hash check failed with “Bad Data Hash” before kernel load. Zero altered payload was accepted.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384AB7-B509-410B-B385-49B7A973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FIT build and tamper test passed; exact validated XSA/bitstream matched. No ZCU102 boot, trusted BootROM key, A/B rollback, or power-loss test.</a:t>
            </a:r>
          </a:p>
        </p:txBody>
      </p:sp>
    </p:spTree>
    <p:extLst>
      <p:ext uri="{BB962C8B-B14F-4D97-AF65-F5344CB8AC3E}">
        <p14:creationId xmlns:p14="http://schemas.microsoft.com/office/powerpoint/2010/main" val="18085102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71202-846F-4FB1-AEB3-4965116A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BOOT-CHAIN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C648F-3ECF-4E1D-A5E3-EDD45AB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Generated boot policy can bypass FIT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ED0AF-3E3F-40DD-9093-D5049AA0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F233E-4825-41DC-97E9-281BDEE6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40EC3-9FF6-4EEA-99C7-52856B82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LIVE ZCU102  /  newQspi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F80E5-73CA-4C5A-B1CA-B6B73B8F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764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ACTIVE U-BOOT AND 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BC2DB-1FFB-4AFA-B7B1-03E439CB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6.12.10-xilinx</a:t>
            </a:r>
          </a:p>
          <a:p xmlns:a="http://schemas.openxmlformats.org/drawingml/2006/main">
            <a:pPr algn="l">
              <a:def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2025.1  ·  root=/dev/ram0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55A4B-56A6-4349-8BBC-205F8E35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SD image.ub (446dd475…) fails required-key verification: no signature node. boot.scr (6c555e63…) matches audited raw-boot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3DAAC-C8E1-445B-B1A7-DCDD43AE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FPGA manager: operating. Loaded bitstream hash c27bb684… matches the validated Sep 29 .bit.bin.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A8CEF-E132-4AD5-BD2F-0D159FC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145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bootcmd = run distro_bootcmd</a:t>
            </a:r>
          </a:p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boot_targets = mmc0, JTAG, QSPI, NAND, USB, SCSI, PXE, DHCP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9B4EF-9043-46DD-9D17-A8EE247A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81325"/>
            <a:ext cx="4905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bootdelay = 5 s. No bootlimit or upgrade_available. One SD partition; Linux root is 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5733D-404C-4F7E-9155-45C46B45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Host-built signed PetaLinux 2025.2 FIT is not installed or booted.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C688C-EA9A-4AC0-95A2-35A58864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0076D-0998-4D60-A9C5-4741AAD6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62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Conclusion: the SPI bitstream is validated, but the live board still runs an unsigned FIT through generic fail-open boot policy. Task 2g remains open until a trusted FIT-only chain and A/B recovery are tested.</a:t>
            </a:r>
          </a:p>
        </p:txBody>
      </p:sp>
    </p:spTree>
    <p:extLst>
      <p:ext uri="{BB962C8B-B14F-4D97-AF65-F5344CB8AC3E}">
        <p14:creationId xmlns:p14="http://schemas.microsoft.com/office/powerpoint/2010/main" val="7550022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FD178-E1B3-49F1-97ED-F8D435FA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/ 2E  /  ZCU102 J55 LOOPBACK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2FE4B-8BB5-4157-A375-B4CE384C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Fixed-trial Linux and bare-metal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9C68B-A9DE-45ED-8BA0-617D278B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891AD-AFD8-496E-875B-775F677C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929E7E6-037C-478C-8E7F-CF7B4129521E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7c44ecb8b140f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599AC-5342-4B73-BA37-0AB01D13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Linux: 11,000 / 11,000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1AEAB-13BC-4265-BC6C-4CD2EF7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 metal: 11,000 / 11,000 pass. Both used 11 payloads × 1,000 trials.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DD31D-9A0C-45A6-AFFF-71B22A50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Zero data errors. Linux was slower at 1–16 B, but had 20.4% lower latency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BD63C-C833-4268-ABB5-D79F6780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952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Same bitstream and 99.99 MHz PL0. Rates are derived from mean latency, not wire throughput. Linux uses CLOCK_MONOTONIC_RAW; bare metal uses XTime. Clock/CPU evidence supports a bounded comparison, not kernel-only attribution.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8AADF-28BA-43DC-A200-D3F79D5E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0D8B3-D376-4741-9FC5-2BF10605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open until the reliable clock/payload stress test is complete.</a:t>
            </a:r>
          </a:p>
        </p:txBody>
      </p:sp>
    </p:spTree>
    <p:extLst>
      <p:ext uri="{BB962C8B-B14F-4D97-AF65-F5344CB8AC3E}">
        <p14:creationId xmlns:p14="http://schemas.microsoft.com/office/powerpoint/2010/main" val="812193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B4557-4F1D-487E-ACFE-351122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PAIRED 60-SECOND SPI WINDOWS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E6B76-6E2E-4710-B14B-10A9246E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application throughput by payload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29043-C2C0-4EEC-9CF3-CDE97C41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31DA8-8929-4C38-B04C-C8FA5C1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97CD26E6-724D-4A06-81C9-FEF83C1076E2}"/>
              </a:ext>
            </a:extLst>
          </p:cNvPr>
          <p:cNvGraphicFramePr/>
          <p:nvPr/>
        </p:nvGraphicFramePr>
        <p:xfrm>
          <a:off xmlns:a="http://schemas.openxmlformats.org/drawingml/2006/main" x="514350" y="1695450"/>
          <a:ext xmlns:a="http://schemas.openxmlformats.org/drawingml/2006/main" cx="7524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ec768b2de94ed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54BFC-B1A0-4EF1-AFCD-F3708858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66 / 66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7C9BE-0A9F-4819-AF76-4E25B6F5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Each backend ran 11 sizes × 3 × 60 seconds. All transfers were byte-verified; zero API errors and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7D9B5-B462-4B63-A63C-76166BF1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Crossover: bare metal leads at 1–16 B; Linux leads from 64 B upward.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3C412-B2B7-4DDE-96F1-AAC4E08C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00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at this configuration: Linux 1.495 MB/s and bare metal 1.180 MB/s at 64 KiB. These are application rates, not wire limits. Clock readbacks support 1.2 GHz A53 / 99.99 MHz PL0; prior matching-setup J55 SCK was ~51 MHz.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2F2E3-6B0A-4D6E-9596-573D0162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Paired benchmark complete; Task 2e still needs the reliable clock/payload stress test.</a:t>
            </a:r>
          </a:p>
        </p:txBody>
      </p:sp>
    </p:spTree>
    <p:extLst>
      <p:ext uri="{BB962C8B-B14F-4D97-AF65-F5344CB8AC3E}">
        <p14:creationId xmlns:p14="http://schemas.microsoft.com/office/powerpoint/2010/main" val="11123391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AE57D9-60CD-44D5-9B25-E6750019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EXPERIENCE  /  PROPOSED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9CFAE-291F-4F59-A5E4-068D5647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One-stop ZCU102 demo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B24B8-F71E-4DB8-9FB7-964001C0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88EE1-D346-463A-8654-55E407DD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6E53F-A0DD-438E-8290-6F24E5D3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menu selects the run, accepts its parameters, and saves the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F16B7-4E83-4974-B71B-6075BD25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E13FA-3E69-4353-86FE-83B3B92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1  Choose a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F2FD4-A1ED-4D61-9696-2890FEE6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check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Integrity and latency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Sustained throughput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stress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/ bare-metal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5C4D3-8E46-4A53-9BC5-6E98167C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3CC7-9A6B-4604-A09D-A0A44E40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  Set parameters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7773A-39C4-468B-A6EB-E1A62017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Payload sizes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Trials or run time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Repetitions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Stop on first error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Review before starting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539CC-8C14-4458-B0A7-DB678038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5BD4D-2A0D-4483-9DBD-D435EA64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3  Select 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8C152-6691-460F-8705-1C586264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uses spidev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 metal uses XSpi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Same validated PL image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Backend switch requires reboot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BB1A7-3E5F-4E7D-8551-13D4AEFA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247900"/>
            <a:ext cx="2476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B1046B-2EA4-4597-8E29-88B7441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0982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4  Keep the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060FC-447C-44BD-A024-F940F4FD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86075"/>
            <a:ext cx="2171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CSV results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Raw UART log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settings and timestamps</a:t>
            </a:r>
          </a:p>
          <a:p xmlns:a="http://schemas.openxmlformats.org/drawingml/2006/main">
            <a:pPr algn="l">
              <a:def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Bitstream and software hashes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DB511A-D84E-4A81-9B65-6CD178E2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F36D2-71B4-4622-A28B-950C0A74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6DFCC-19F3-4FF3-B775-A3EC878F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86125"/>
            <a:ext cx="1238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35A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C2FFA-BEDE-4A29-9A34-0B9EDC16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D2359-CC86-4BB1-B600-2335EE26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6203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Clock limit: this image has a synthesized SCK ratio of 2. A speed request cannot change the physical clock.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13375-4C76-44D7-816E-77E84CCE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62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and bare metal need separate boot modes, but can share one SD card and the same PL image. “Normal operation” still needs a defined workload; today’s proven mode is J55 loopback.</a:t>
            </a:r>
          </a:p>
        </p:txBody>
      </p:sp>
    </p:spTree>
    <p:extLst>
      <p:ext uri="{BB962C8B-B14F-4D97-AF65-F5344CB8AC3E}">
        <p14:creationId xmlns:p14="http://schemas.microsoft.com/office/powerpoint/2010/main" val="3625471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28E2C-37B5-4038-9126-4AA2B671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ADDITIONAL 33-POINT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A9680-6376-44B1-991C-5532FD51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Bare-metal sustained-run repeatability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27A08-9662-4285-94A3-BF787D7A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B4E9B-C399-4537-948C-259888B3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16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4B6314F-F886-4BBA-9CAB-D77A5F5EF585}"/>
              </a:ext>
            </a:extLst>
          </p:cNvPr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752475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e82a8a962c4af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3FCD6-CB99-4E93-B0BB-A575D47F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0225"/>
            <a:ext cx="300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33 / 33 points passed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50156-7E2D-4ACE-93B1-96C91864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3000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46.24 million byte-verified transfers and 1.543 billion verified payload bytes. Zero API errors or receive mismatches.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941B2-E0F7-4190-9D00-EACEC6AF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9565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Median rates stayed within −0.004% to +0.924% of the earlier bare-metal set across all 11 payloads.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0A0DB-2194-4CBD-AEBB-D77EE5D1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003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Repeatability is supported through 64 KiB. This did not test larger payloads or a clock limit. The runner marked topology unverified; physical SCK was not measured.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70FFB-1767-4A14-817D-FF5959E0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620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Task 2e remains partial until the reliable payload/clock operating envelope is tested.</a:t>
            </a:r>
          </a:p>
        </p:txBody>
      </p:sp>
    </p:spTree>
    <p:extLst>
      <p:ext uri="{BB962C8B-B14F-4D97-AF65-F5344CB8AC3E}">
        <p14:creationId xmlns:p14="http://schemas.microsoft.com/office/powerpoint/2010/main" val="11342970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4B1AC-F1D1-43C7-8722-AB1B5B87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ONE-STOP PROGRAM  /  FIRST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0C9BA-7AD1-4C8B-AAD1-29E0568C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demo console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6956B-5C96-47F2-AB5C-452D87D9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4A9BA-6981-4EB6-AF37-A5878A9B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D881F-821E-4DA4-8273-145B9D72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Operator choices after Linux starts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EBE92-2D91-4336-9B36-3125171F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57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0  Normal Linux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  Integrity and latency sweep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11 payload sizes × 1,000 trials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  Sustained throughput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Choose sizes, duration and repeats</a:t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    Type RUN before a long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3  System and SPI interface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6C1F3-D762-41D6-B617-6B833EFF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6F14B-7CD4-4880-9D7A-38A96A3B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28775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Bare-metal has its own UART menu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3DDA6-712B-4D97-899C-E2A994DE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857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Full 11-payload baseline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Single payload with chosen duration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One-second smoke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Every mode waits for RUN</a:t>
            </a:r>
          </a:p>
          <a:p xmlns:a="http://schemas.openxmlformats.org/drawingml/2006/main">
            <a:pPr algn="l">
              <a:def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Vitis ELF build passed against pinned XSA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6B2E0-6221-4142-8201-52B22669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Linux host self-test and all four sustained-runner tests passed; bare-metal ELF build passed.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07F0A-1BF0-4F73-96BE-1A9718BB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2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Boundary: each menu is built, but there is no power-on OS chooser or shared boot image yet. The bare-metal menu has not run on board; boot integration must retain Task 2g signature enforcement.</a:t>
            </a:r>
          </a:p>
        </p:txBody>
      </p:sp>
    </p:spTree>
    <p:extLst>
      <p:ext uri="{BB962C8B-B14F-4D97-AF65-F5344CB8AC3E}">
        <p14:creationId xmlns:p14="http://schemas.microsoft.com/office/powerpoint/2010/main" val="4987599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8A40B-7CCE-4483-9549-B907D771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+ ONE-STOP INTEGRATION  /  ZCU102 PACKAGE CANDIDATE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B4054-4DC0-4FE2-9D00-BDED05DC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selector package passes artifact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7127B-0D2C-4322-B272-9FE7B1C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61783-3255-4728-A0D8-49D33EF8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40C78-3A03-4224-970E-0DDA240F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PetaLinux built the fixed U-Boot chooser; both choices use one required-key FIT.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45F5D-9284-42C5-B56F-7ABC0BCB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ADC5D-2C39-4942-9EFF-1FC81617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5B45E-AD1E-457B-B264-C224D90E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Existing Linux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110A6-410E-49FA-B96B-A38C95E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Kernel, FDT and initramfs extracted from the card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Required-key signature check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E5E7F-BC9E-4B09-898E-FDD270E9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0673A-2AA0-42C2-A3DC-D5E9168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7F4B1-5277-4798-8A03-9537B090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Unified SPI menu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4DC30C-6330-47ED-B719-987094C2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AArch64 standalone firmware in the same FIT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Required-key signature check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D19EC-F71C-4539-AED2-86F046EF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5346EA-DC56-483E-9087-AF51F9E9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3238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4884F-F239-4032-95A9-A3D3FE9E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9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Tamper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70351-320C-4B9E-A3E0-EB2138E7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05150"/>
            <a:ext cx="2895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One byte changed in SPI payload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 check rejected the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04747-E444-4F84-8AB5-E5DB9856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The packaged system DTB contains the required key; all three FIT configurations verify, and tampering fails.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BCB8C-C4EB-45CA-A84B-841A17E3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62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Candidate BOOT.BIN and FIT are installed; original BOOT.BIN is backed up. Board boot and J55 transfer remain untested. Bootgen reports no authenticated FSBL/U-Boot chain, so this is not hardware-rooted secure boot.</a:t>
            </a:r>
          </a:p>
        </p:txBody>
      </p:sp>
    </p:spTree>
    <p:extLst>
      <p:ext uri="{BB962C8B-B14F-4D97-AF65-F5344CB8AC3E}">
        <p14:creationId xmlns:p14="http://schemas.microsoft.com/office/powerpoint/2010/main" val="288442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00C5E-01C4-4F4E-9B3B-1C2C69E5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LIVE TARGET SMOKE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37208-47FD-46C3-B6C6-5CADAA84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AXI SPI re-bring-up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096A4-7965-4B77-B0C2-32143A9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47232-83E8-45A9-9283-ED91F0D8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17 Oct 2026                                      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CB95-54AE-487F-AD13-AA5D3A21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The controller registered only after the validated PL image and reset were established.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7B7D1-A73B-4D63-99C5-791908C2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035E9-7C40-4460-B8A8-B111F9E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PL0 clock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60878-82AA-4DFA-8585-6ED0659E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99.99 MHz</a:t>
            </a:r>
          </a:p>
          <a:p xmlns:a="http://schemas.openxmlformats.org/drawingml/2006/main">
            <a: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IOPLL unchanged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959DF-A518-4A88-9474-E4AB0D25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C4F56-86E3-4DA7-A254-67DE5F42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21024-93CF-4360-90C5-F58EED46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FPGA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69E30-1DEE-4DFC-874E-EB3292D8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Validated 29 Sep bitstream</a:t>
            </a:r>
          </a:p>
          <a:p xmlns:a="http://schemas.openxmlformats.org/drawingml/2006/main">
            <a: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Manager: operating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797F3-D300-4BCA-AB34-302BBF0B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32D54-E92C-4724-8D13-C52E213B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EA825-0410-4BB0-AF80-ADE040A9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PL reset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5C870-A41B-4648-9FB9-7207FA08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EMIO95 / GPIO 689</a:t>
            </a:r>
          </a:p>
          <a:p xmlns:a="http://schemas.openxmlformats.org/drawingml/2006/main">
            <a: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output 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11971-9FEE-4B13-9101-1870DFAB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02D1F-E859-40D6-8391-7C530E3A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30B00-EA9B-4701-9D89-9AE238A2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SPI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CDDF9-FDC1-46C2-9B23-32C6B2CD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AXI at 0xA0000000</a:t>
            </a:r>
          </a:p>
          <a:p xmlns:a="http://schemas.openxmlformats.org/drawingml/2006/main">
            <a: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spidev1.0 bound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ACFC1-0B5F-400B-B2EF-B12787D4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790825"/>
            <a:ext cx="190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0636B"/>
          </a:solidFill>
          <a:ln xmlns:a="http://schemas.openxmlformats.org/drawingml/2006/main" w="9525">
            <a:solidFill>
              <a:srgbClr val="5063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7E3CB-DA96-4EFB-9A81-ADCD776E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19431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A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A6AA5-FE06-4043-9AD0-6FB3DA72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28875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RX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F61C8-A0BD-40A8-99DB-2A8BF67F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4797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TX A5 → RX A5</a:t>
            </a:r>
          </a:p>
          <a:p xmlns:a="http://schemas.openxmlformats.org/drawingml/2006/main">
            <a:pPr algn="ctr">
              <a:def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ioctl result: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FD6357-4472-4ADC-A867-B34EE8F8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Evidence: TX 0xA5, RX 0xA5, mode 0, 8 bits, 1 MHz requested/read back, ioctl_rc=1, errno=0.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4A6489-4BC7-43EE-BF73-2C3C86EE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A prior probe stalled after reboot when the PL bitstream had not been reloaded. After loading and hash-checking the bitstream first, the same controller overlay applied and the smoke test passed. This points to an unconfigured-PL hazard; it does not isolate the sole root cause. One byte is verified here; a new multi-payload RX-verification sweep was not run.</a:t>
            </a:r>
          </a:p>
        </p:txBody>
      </p:sp>
    </p:spTree>
    <p:extLst>
      <p:ext uri="{BB962C8B-B14F-4D97-AF65-F5344CB8AC3E}">
        <p14:creationId xmlns:p14="http://schemas.microsoft.com/office/powerpoint/2010/main" val="1330530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2026-10-17T22:11:20.1900000Z</dcterms:created>
  <dcterms:modified xsi:type="dcterms:W3CDTF">2026-10-17T22:11:20.1900000Z</dcterms:modified>
</coreProperties>
</file>
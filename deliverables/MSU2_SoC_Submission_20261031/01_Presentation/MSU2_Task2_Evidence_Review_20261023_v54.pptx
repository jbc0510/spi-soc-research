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7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8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96891bc8b4bf0" /><Relationship Type="http://schemas.openxmlformats.org/officeDocument/2006/relationships/extended-properties" Target="/docProps/app.xml" Id="R907214acbfc04cf0" /><Relationship Type="http://schemas.openxmlformats.org/officeDocument/2006/relationships/officeDocument" Target="/ppt/presentation.xml" Id="R8697a1a3f527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2239e6743849e4"/>
  </p:sldMasterIdLst>
  <p:notesMasterIdLst>
    <p:notesMasterId xmlns:r="http://schemas.openxmlformats.org/officeDocument/2006/relationships" r:id="Ra3d0e135ae484d3d"/>
  </p:notesMasterIdLst>
  <p:sldIdLst>
    <p:sldId xmlns:r="http://schemas.openxmlformats.org/officeDocument/2006/relationships" id="256" r:id="Rc99da1b107934882"/>
    <p:sldId xmlns:r="http://schemas.openxmlformats.org/officeDocument/2006/relationships" id="257" r:id="R99215a3714554954"/>
    <p:sldId xmlns:r="http://schemas.openxmlformats.org/officeDocument/2006/relationships" id="258" r:id="R963ddd7dad9247c2"/>
    <p:sldId xmlns:r="http://schemas.openxmlformats.org/officeDocument/2006/relationships" id="259" r:id="Rfa2f81f057d944d7"/>
    <p:sldId xmlns:r="http://schemas.openxmlformats.org/officeDocument/2006/relationships" id="260" r:id="Ref293dcdd0dc4f2d"/>
    <p:sldId xmlns:r="http://schemas.openxmlformats.org/officeDocument/2006/relationships" id="261" r:id="R919b7629e9784988"/>
    <p:sldId xmlns:r="http://schemas.openxmlformats.org/officeDocument/2006/relationships" id="262" r:id="Rc68e1fedb4794ea2"/>
    <p:sldId xmlns:r="http://schemas.openxmlformats.org/officeDocument/2006/relationships" id="263" r:id="Ra72dea6552f14b73"/>
    <p:sldId xmlns:r="http://schemas.openxmlformats.org/officeDocument/2006/relationships" id="264" r:id="R3326cb41bc8c4b9e"/>
    <p:sldId xmlns:r="http://schemas.openxmlformats.org/officeDocument/2006/relationships" id="265" r:id="R4f2d4a42e0784044"/>
    <p:sldId xmlns:r="http://schemas.openxmlformats.org/officeDocument/2006/relationships" id="266" r:id="R6b03c83af20541a5"/>
    <p:sldId xmlns:r="http://schemas.openxmlformats.org/officeDocument/2006/relationships" id="267" r:id="Rc3486c1825464b2e"/>
    <p:sldId xmlns:r="http://schemas.openxmlformats.org/officeDocument/2006/relationships" id="268" r:id="R8e383a8f0b2c4e0e"/>
    <p:sldId xmlns:r="http://schemas.openxmlformats.org/officeDocument/2006/relationships" id="269" r:id="R55a4ecc0fc5b438c"/>
    <p:sldId xmlns:r="http://schemas.openxmlformats.org/officeDocument/2006/relationships" id="270" r:id="Rd94379b09ffe45d0"/>
    <p:sldId xmlns:r="http://schemas.openxmlformats.org/officeDocument/2006/relationships" id="271" r:id="Rd76b264ceb984c27"/>
    <p:sldId xmlns:r="http://schemas.openxmlformats.org/officeDocument/2006/relationships" id="272" r:id="R634dd11d56ad4ab6"/>
    <p:sldId xmlns:r="http://schemas.openxmlformats.org/officeDocument/2006/relationships" id="273" r:id="Rd0c48beac04e45bd"/>
    <p:sldId xmlns:r="http://schemas.openxmlformats.org/officeDocument/2006/relationships" id="274" r:id="R3b63f5782fdd4bf4"/>
    <p:sldId xmlns:r="http://schemas.openxmlformats.org/officeDocument/2006/relationships" id="275" r:id="Rb53bff00818f41f4"/>
    <p:sldId xmlns:r="http://schemas.openxmlformats.org/officeDocument/2006/relationships" id="276" r:id="R1aef2eb7d30142a3"/>
    <p:sldId xmlns:r="http://schemas.openxmlformats.org/officeDocument/2006/relationships" id="277" r:id="Rf6719d56eb1b43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cdb87e86934ac3" /><Relationship Type="http://schemas.openxmlformats.org/officeDocument/2006/relationships/slideMaster" Target="/ppt/slideMasters/slideMaster1.xml" Id="R842239e6743849e4" /><Relationship Type="http://schemas.openxmlformats.org/officeDocument/2006/relationships/notesMaster" Target="/ppt/notesMasters/notesMaster1.xml" Id="Ra3d0e135ae484d3d" /><Relationship Type="http://schemas.openxmlformats.org/officeDocument/2006/relationships/presProps" Target="/ppt/presProps.xml" Id="R3759613f552c46f0" /><Relationship Type="http://schemas.openxmlformats.org/officeDocument/2006/relationships/tableStyles" Target="/ppt/tableStyles.xml" Id="Rcaaba45482d846ba" /><Relationship Type="http://schemas.openxmlformats.org/officeDocument/2006/relationships/slide" Target="/ppt/slides/slide1.xml" Id="Rc99da1b107934882" /><Relationship Type="http://schemas.openxmlformats.org/officeDocument/2006/relationships/slide" Target="/ppt/slides/slide2.xml" Id="R99215a3714554954" /><Relationship Type="http://schemas.openxmlformats.org/officeDocument/2006/relationships/slide" Target="/ppt/slides/slide3.xml" Id="R963ddd7dad9247c2" /><Relationship Type="http://schemas.openxmlformats.org/officeDocument/2006/relationships/slide" Target="/ppt/slides/slide4.xml" Id="Rfa2f81f057d944d7" /><Relationship Type="http://schemas.openxmlformats.org/officeDocument/2006/relationships/slide" Target="/ppt/slides/slide5.xml" Id="Ref293dcdd0dc4f2d" /><Relationship Type="http://schemas.openxmlformats.org/officeDocument/2006/relationships/slide" Target="/ppt/slides/slide6.xml" Id="R919b7629e9784988" /><Relationship Type="http://schemas.openxmlformats.org/officeDocument/2006/relationships/slide" Target="/ppt/slides/slide7.xml" Id="Rc68e1fedb4794ea2" /><Relationship Type="http://schemas.openxmlformats.org/officeDocument/2006/relationships/slide" Target="/ppt/slides/slide8.xml" Id="Ra72dea6552f14b73" /><Relationship Type="http://schemas.openxmlformats.org/officeDocument/2006/relationships/slide" Target="/ppt/slides/slide9.xml" Id="R3326cb41bc8c4b9e" /><Relationship Type="http://schemas.openxmlformats.org/officeDocument/2006/relationships/slide" Target="/ppt/slides/slide10.xml" Id="R4f2d4a42e0784044" /><Relationship Type="http://schemas.openxmlformats.org/officeDocument/2006/relationships/slide" Target="/ppt/slides/slide11.xml" Id="R6b03c83af20541a5" /><Relationship Type="http://schemas.openxmlformats.org/officeDocument/2006/relationships/slide" Target="/ppt/slides/slide12.xml" Id="Rc3486c1825464b2e" /><Relationship Type="http://schemas.openxmlformats.org/officeDocument/2006/relationships/slide" Target="/ppt/slides/slide13.xml" Id="R8e383a8f0b2c4e0e" /><Relationship Type="http://schemas.openxmlformats.org/officeDocument/2006/relationships/slide" Target="/ppt/slides/slide14.xml" Id="R55a4ecc0fc5b438c" /><Relationship Type="http://schemas.openxmlformats.org/officeDocument/2006/relationships/slide" Target="/ppt/slides/slide15.xml" Id="Rd94379b09ffe45d0" /><Relationship Type="http://schemas.openxmlformats.org/officeDocument/2006/relationships/slide" Target="/ppt/slides/slide16.xml" Id="Rd76b264ceb984c27" /><Relationship Type="http://schemas.openxmlformats.org/officeDocument/2006/relationships/slide" Target="/ppt/slides/slide17.xml" Id="R634dd11d56ad4ab6" /><Relationship Type="http://schemas.openxmlformats.org/officeDocument/2006/relationships/slide" Target="/ppt/slides/slide18.xml" Id="Rd0c48beac04e45bd" /><Relationship Type="http://schemas.openxmlformats.org/officeDocument/2006/relationships/slide" Target="/ppt/slides/slide19.xml" Id="R3b63f5782fdd4bf4" /><Relationship Type="http://schemas.openxmlformats.org/officeDocument/2006/relationships/slide" Target="/ppt/slides/slide20.xml" Id="Rb53bff00818f41f4" /><Relationship Type="http://schemas.openxmlformats.org/officeDocument/2006/relationships/slide" Target="/ppt/slides/slide21.xml" Id="R1aef2eb7d30142a3" /><Relationship Type="http://schemas.openxmlformats.org/officeDocument/2006/relationships/slide" Target="/ppt/slides/slide22.xml" Id="Rf6719d56eb1b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56837b90d44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7a89326624774" /><Relationship Type="http://schemas.openxmlformats.org/officeDocument/2006/relationships/notesMaster" Target="/ppt/notesMasters/notesMaster1.xml" Id="Rcb76fe76353943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e7b1831ea044b4" /><Relationship Type="http://schemas.openxmlformats.org/officeDocument/2006/relationships/notesMaster" Target="/ppt/notesMasters/notesMaster1.xml" Id="R93a0e19c6f3b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d8ce5074004c4a" /><Relationship Type="http://schemas.openxmlformats.org/officeDocument/2006/relationships/notesMaster" Target="/ppt/notesMasters/notesMaster1.xml" Id="Rb476f859923940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9b6fdf9bdd4e63" /><Relationship Type="http://schemas.openxmlformats.org/officeDocument/2006/relationships/notesMaster" Target="/ppt/notesMasters/notesMaster1.xml" Id="R0c58484d0baa47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de67e8e774006" /><Relationship Type="http://schemas.openxmlformats.org/officeDocument/2006/relationships/notesMaster" Target="/ppt/notesMasters/notesMaster1.xml" Id="Re9145e4ccccb4c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585afa07948c2" /><Relationship Type="http://schemas.openxmlformats.org/officeDocument/2006/relationships/notesMaster" Target="/ppt/notesMasters/notesMaster1.xml" Id="R29fb8b608c664a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af4b77a08a486c" /><Relationship Type="http://schemas.openxmlformats.org/officeDocument/2006/relationships/notesMaster" Target="/ppt/notesMasters/notesMaster1.xml" Id="R4fb7a9d88f3e45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ebc63435094da0" /><Relationship Type="http://schemas.openxmlformats.org/officeDocument/2006/relationships/notesMaster" Target="/ppt/notesMasters/notesMaster1.xml" Id="Rb1ec603961fe4c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e93b7ee1ef4f60" /><Relationship Type="http://schemas.openxmlformats.org/officeDocument/2006/relationships/notesMaster" Target="/ppt/notesMasters/notesMaster1.xml" Id="R35d123ff856a47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cf8c5244e5498f" /><Relationship Type="http://schemas.openxmlformats.org/officeDocument/2006/relationships/notesMaster" Target="/ppt/notesMasters/notesMaster1.xml" Id="R3ff888d2f6db4a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2e2cb76dd14b09" /><Relationship Type="http://schemas.openxmlformats.org/officeDocument/2006/relationships/notesMaster" Target="/ppt/notesMasters/notesMaster1.xml" Id="R485e4f1abbac42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f9ed948a2a4e18" /><Relationship Type="http://schemas.openxmlformats.org/officeDocument/2006/relationships/notesMaster" Target="/ppt/notesMasters/notesMaster1.xml" Id="R184e11b5b7d94c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dd517d8908474e" /><Relationship Type="http://schemas.openxmlformats.org/officeDocument/2006/relationships/notesMaster" Target="/ppt/notesMasters/notesMaster1.xml" Id="Rb8320dd150524d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770001e1a54dd3" /><Relationship Type="http://schemas.openxmlformats.org/officeDocument/2006/relationships/notesMaster" Target="/ppt/notesMasters/notesMaster1.xml" Id="Rb7f4bcb1460e44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8859b3a0e14784" /><Relationship Type="http://schemas.openxmlformats.org/officeDocument/2006/relationships/notesMaster" Target="/ppt/notesMasters/notesMaster1.xml" Id="R7531f6f4678b4f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af302ecb964839" /><Relationship Type="http://schemas.openxmlformats.org/officeDocument/2006/relationships/notesMaster" Target="/ppt/notesMasters/notesMaster1.xml" Id="R59343dbb1d7948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c35d1946934d3b" /><Relationship Type="http://schemas.openxmlformats.org/officeDocument/2006/relationships/notesMaster" Target="/ppt/notesMasters/notesMaster1.xml" Id="R8e14ac5c978845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517fc1302d84e0f" /><Relationship Type="http://schemas.openxmlformats.org/officeDocument/2006/relationships/notesMaster" Target="/ppt/notesMasters/notesMaster1.xml" Id="R182e90dc49094a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ec8fb3fd7f4fd2" /><Relationship Type="http://schemas.openxmlformats.org/officeDocument/2006/relationships/notesMaster" Target="/ppt/notesMasters/notesMaster1.xml" Id="Rc60becda00404c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a4e7186334f4193" /><Relationship Type="http://schemas.openxmlformats.org/officeDocument/2006/relationships/notesMaster" Target="/ppt/notesMasters/notesMaster1.xml" Id="Rdae6e4137d3445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0d014823a84228" /><Relationship Type="http://schemas.openxmlformats.org/officeDocument/2006/relationships/notesMaster" Target="/ppt/notesMasters/notesMaster1.xml" Id="R1366fa09e04b40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341f8e79684fae" /><Relationship Type="http://schemas.openxmlformats.org/officeDocument/2006/relationships/notesMaster" Target="/ppt/notesMasters/notesMaster1.xml" Id="Ra689410c09fb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implementation: linux/appliance/msu2_demo.py. Bare-metal implementation: bare_metal/src/spi_sustainable_benchmark_bare_axi.c.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Linux verification: python3 linux/appliance/msu2_demo.py --self-test passed; choosing option 0 returned to the shell without executing a test; python3 -m py_compile passed; tests.test_sustainable_benchmark_host passed all four tests. Bare-metal verification: Vitis 2025.1 built an ELF with SHA-256 9a1b1455a0b4255429e9c767db2f8ab7d0a54bc1bfa8b2f67bce75a85794c067 against the pinned XSA.</a:t>
            </a:r>
          </a:p>
          <a:p xmlns:a="http://schemas.openxmlformats.org/drawingml/2006/main">
            <a:r>
              <a:t>The Vitis build is ELF-only. No BOOT.BIN packaging, board programming, UART menu test or SPI transfer was performed.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results/MSU2_ONE_STOP_SIGNED_SELECTOR_AND_SD_AUDIT_20261017.md. FIT build: python3 scripts/task2g_build_dualmode_fit.py with the SD FIT, unified SPI ELF, signing-key directory, control DTB, and U-Boot host tools as inputs.</a:t>
            </a:r>
          </a:p>
          <a:p xmlns:a="http://schemas.openxmlformats.org/drawingml/2006/main">
            <a:r>
              <a:t>The candidate reuses the card image.ub payloads (Linux kernel SHA-256 023ae2aa3f608f115f466d150383ea50d40a727cb79e4c1ec7c42b4f637dcb99; DTB 852b2591a8f1d095d2392f098fb547280a0e3cb71b6556e416aea1684a3d942e; initramfs 6eba38d56d5ab4fc5a5e359e07429269b25e94a2262f0a151cc806f817ba7fe0) and the unified menu ELF SHA-256 9a1b1455a0b4255429e9c767db2f8ab7d0a54bc1bfa8b2f67bce75a85794c067.</a:t>
            </a:r>
          </a:p>
          <a:p xmlns:a="http://schemas.openxmlformats.org/drawingml/2006/main">
            <a:r>
              <a:t>All three FIT configurations (linux, spi-test, pl-overlay) passed U-Boot fit_check_sign using a required sha256,rsa2048 key. Modifying the standalone SPI payload caused signature verification to fail. The bare-metal application did not execute during this host check.</a:t>
            </a:r>
          </a:p>
          <a:p xmlns:a="http://schemas.openxmlformats.org/drawingml/2006/main">
            <a:r>
              <a:t>A U-Boot 2025.01-Xilinx sandbox build with the fixed compiled environment displayed two choices plus Quit, omitted the U-Boot-console entry, and selected the requested benign option. A sandbox-compatible signed FIT made from the exact candidate payload bytes was accepted for Linux; the SPI menu firmware loaded with autostart=no; a tampered SPI payload was rejected before firmware loading. See results/task2g_dualmode_sandbox_20261017/.</a:t>
            </a:r>
          </a:p>
          <a:p xmlns:a="http://schemas.openxmlformats.org/drawingml/2006/main">
            <a:r>
              <a:t>The actual PetaLinux project built U-Boot with the fixed menu and FIT verification code. The target ELF SHA-256 is 70498b6e1dfe8392d6e1ca75b8384b9a21c61f668d34ad01a11e9b2d9ba120d3. Bootgen packaged it with the validated J55 bitstream SHA-256 c27bb684ca843e173585aed50096f95692530444b808ec948006dbb0d67f56fd and a required-key system DTB loaded at 0x100000.</a:t>
            </a:r>
          </a:p>
          <a:p xmlns:a="http://schemas.openxmlformats.org/drawingml/2006/main">
            <a:r>
              <a:t>Candidate BOOT_SIGNED_SELECTOR.bin SHA-256 is 8436f5ddad8143e48cae82fa9c375a831e16839172e81d3ebb9cf7e8fee6e718. Repeating packaging produced the same hash. The system DTB extracted from this package has required=conf; FIT checks against that extracted DTB accepted linux, spi-test, and pl-overlay, while the modified SPI FIT was rejected.</a:t>
            </a:r>
          </a:p>
          <a:p xmlns:a="http://schemas.openxmlformats.org/drawingml/2006/main">
            <a:r>
              <a:t>The card contains BOOT.BIN with SHA-256 8436f5ddad8143e48cae82fa9c375a831e16839172e81d3ebb9cf7e8fee6e718, the signed FIT with SHA-256 e6d065f82305e5216a3613e92b42d4749870f67c1df7b19bef950339d952a5ad, and the original BOOT.BIN backup. No target boot, A53 execution, Linux operations, or physical SPI transfer has been tested with this package. FIT verification only protects payloads after trusted U-Boot starts, and no BootROM/FSBL authentication or hardware key provisioning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result report: results/linux_axi_spi_bringup_20261013/runtime_rebringup_20261017.md.</a:t>
            </a:r>
          </a:p>
          <a:p xmlns:a="http://schemas.openxmlformats.org/drawingml/2006/main">
            <a:r>
              <a:t>The target smoke executable was results/linux_axi_spi_bringup_20261013/linux_spi_smoke_aarch64, SHA-256 fb01baec3d451849bd147837491f0d63b62efd0e1a1f99389314d407582b8dcd. Target output: device=/dev/spidev1.0 mode=0x0 mode_readback=0x0 bits=8 speed_requested_hz=1000000 speed_readback_hz=1000000 tx=a5 rx=a5 ioctl_rc=1 errno=0 elapsed_ns=47655.</a:t>
            </a:r>
          </a:p>
          <a:p xmlns:a="http://schemas.openxmlformats.org/drawingml/2006/main">
            <a:r>
              <a:t>Validated bitstream SHA-256 c27bb684ca843e173585aed50096f95692530444b808ec948006dbb0d67f56fd; PL0 clock overlay SHA-256 00d3bd63dd926a41c3e8581c8d4ee8abb3e94307ad7e4ba345e500e45bb1bffa; reset overlay SHA-256 6ae01a4bddea4fe225e2fdee6c5da48df70ce68df7be14328326d7066a171255; AXI SPI overlay SHA-256 92416746eaba51248438fdca8be324ef2a0455ccb2caa64da74d75df96bee693.</a:t>
            </a:r>
          </a:p>
          <a:p xmlns:a="http://schemas.openxmlformats.org/drawingml/2006/main">
            <a:r>
              <a:t>The older spi_loopback_test benchmark did not compare RX bytes and emitted an obsolete SCK note. A new multi-payload RX-verifying benchmark was not staged on the target during this session. See the report for evidence scope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live ZCU102 serial-console output supplied during the 17 October 2026 lab session. Raw target directories: 20250108T182507Z_smoke; 20250108T182533Z_integrity; 20250108T182942Z_sustained_256B_rep1; 20250108T182952Z_sustained_4096B_rep1; 20250108T183002Z_sustained_65536B_rep1. The board clock generated 2025 timestamps. Physical SCK was explicitly reported NOT_MEASURED.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results/MSU2_ONE_STOP_DEMO_PROGRESS_20261017.md and bare_metal/vitis/spi_axi_bm_menu_parity_20261017_final/build_manifest.json. The bare-metal ELF SHA-256 is 32110227aeb7d18e6bbd79e71dc0877916e76326c9625b8f3eee7ba43da4c4f5. Vitis build status is BUILD_PASS_NOT_HARDWARE_VALIDATION. This slide describes the desired workflow, not a validated handoff: the post-login backend selector and reboot return path remain open. No BOOT.BIN was built or changed in this work. This is not secure boot.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d93eaf50443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93f5e2ee642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18481413c4f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fb4761b1249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9cd1691b544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f687a0e85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344AD9-9605-4A0A-B5C2-C7FB96950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01473D-A398-4F4C-8DBA-753A29E31E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15B94A-1BC7-4A0D-BB5B-190D3C35F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DC7236-3C9D-4058-B910-91FA024C6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C26587-70D9-466C-A27A-EB6DFB081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B81695-6350-4A8E-AEC5-C767AF273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395CEB-0112-4BD8-AAAE-95C7B781E9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94D378-A862-4A8B-A237-3C5A3B597E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378B7-FC07-4BFE-BF91-9983B9497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51569-39BE-4554-8A2F-83502F43FB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e7468527a24e8b" /><Relationship Type="http://schemas.openxmlformats.org/officeDocument/2006/relationships/slideLayout" Target="/ppt/slideLayouts/slideLayout1.xml" Id="Rd7caa64141604f40" /><Relationship Type="http://schemas.openxmlformats.org/officeDocument/2006/relationships/slideLayout" Target="/ppt/slideLayouts/slideLayout2.xml" Id="R222f5c5bbe594ee0" /><Relationship Type="http://schemas.openxmlformats.org/officeDocument/2006/relationships/slideLayout" Target="/ppt/slideLayouts/slideLayout3.xml" Id="Rbf40d36a5e0349fb" /><Relationship Type="http://schemas.openxmlformats.org/officeDocument/2006/relationships/slideLayout" Target="/ppt/slideLayouts/slideLayout4.xml" Id="Rf76bcc719aaf42c3" /><Relationship Type="http://schemas.openxmlformats.org/officeDocument/2006/relationships/slideLayout" Target="/ppt/slideLayouts/slideLayout5.xml" Id="Re570076e6e19498c" /><Relationship Type="http://schemas.openxmlformats.org/officeDocument/2006/relationships/slideLayout" Target="/ppt/slideLayouts/slideLayout6.xml" Id="Rdc569af10c9c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caa64141604f40"/>
    <p:sldLayoutId xmlns:r="http://schemas.openxmlformats.org/officeDocument/2006/relationships" id="2147483650" r:id="R222f5c5bbe594ee0"/>
    <p:sldLayoutId xmlns:r="http://schemas.openxmlformats.org/officeDocument/2006/relationships" id="2147483651" r:id="Rbf40d36a5e0349fb"/>
    <p:sldLayoutId xmlns:r="http://schemas.openxmlformats.org/officeDocument/2006/relationships" id="2147483652" r:id="Rf76bcc719aaf42c3"/>
    <p:sldLayoutId xmlns:r="http://schemas.openxmlformats.org/officeDocument/2006/relationships" id="2147483653" r:id="Re570076e6e19498c"/>
    <p:sldLayoutId xmlns:r="http://schemas.openxmlformats.org/officeDocument/2006/relationships" id="2147483654" r:id="Rdc569af10c9c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f62e8201342a6" /><Relationship Type="http://schemas.openxmlformats.org/officeDocument/2006/relationships/notesSlide" Target="/ppt/notesSlides/notesSlide1.xml" Id="R09099919480c49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8823911fe4f73" /><Relationship Type="http://schemas.openxmlformats.org/officeDocument/2006/relationships/image" Target="/ppt/media/image.png" Id="Rf69c063ffe8041e3" /><Relationship Type="http://schemas.openxmlformats.org/officeDocument/2006/relationships/notesSlide" Target="/ppt/notesSlides/notesSlide2.xml" Id="R8e0a8f991a4547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aa72b99ab4a83" /><Relationship Type="http://schemas.openxmlformats.org/officeDocument/2006/relationships/chart" Target="/ppt/slides/charts/chart1.xml" Id="Redbdb121c9ac423d" /><Relationship Type="http://schemas.openxmlformats.org/officeDocument/2006/relationships/notesSlide" Target="/ppt/notesSlides/notesSlide3.xml" Id="R74cbee9fec1d4b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1c6ac7ec84ec7" /><Relationship Type="http://schemas.openxmlformats.org/officeDocument/2006/relationships/chart" Target="/ppt/slides/charts/chart2.xml" Id="Rb5a261be14fe4a0e" /><Relationship Type="http://schemas.openxmlformats.org/officeDocument/2006/relationships/notesSlide" Target="/ppt/notesSlides/notesSlide4.xml" Id="R53d8cf74244e40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8b86cbbea4dfc" /><Relationship Type="http://schemas.openxmlformats.org/officeDocument/2006/relationships/chart" Target="/ppt/slides/charts/chart3.xml" Id="Refc05651821144d3" /><Relationship Type="http://schemas.openxmlformats.org/officeDocument/2006/relationships/notesSlide" Target="/ppt/notesSlides/notesSlide5.xml" Id="Rac753276c96a49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864e58c344f13" /><Relationship Type="http://schemas.openxmlformats.org/officeDocument/2006/relationships/notesSlide" Target="/ppt/notesSlides/notesSlide6.xml" Id="R006eaffa60db46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1ea05b59942b4" /><Relationship Type="http://schemas.openxmlformats.org/officeDocument/2006/relationships/notesSlide" Target="/ppt/notesSlides/notesSlide7.xml" Id="R6a3a7ddd663b49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2f8c7fe48475a" /><Relationship Type="http://schemas.openxmlformats.org/officeDocument/2006/relationships/chart" Target="/ppt/slides/charts/chart4.xml" Id="Rc998796aa14f4154" /><Relationship Type="http://schemas.openxmlformats.org/officeDocument/2006/relationships/notesSlide" Target="/ppt/notesSlides/notesSlide8.xml" Id="R3e91df0992984e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387e5471a4cf1" /><Relationship Type="http://schemas.openxmlformats.org/officeDocument/2006/relationships/notesSlide" Target="/ppt/notesSlides/notesSlide9.xml" Id="R70d32c6da0a841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f6907273748db" /><Relationship Type="http://schemas.openxmlformats.org/officeDocument/2006/relationships/notesSlide" Target="/ppt/notesSlides/notesSlide10.xml" Id="R73ab089746d343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a7d15cc03486b" /><Relationship Type="http://schemas.openxmlformats.org/officeDocument/2006/relationships/notesSlide" Target="/ppt/notesSlides/notesSlide11.xml" Id="R7edc83b329d04a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1975d7c084766" /><Relationship Type="http://schemas.openxmlformats.org/officeDocument/2006/relationships/notesSlide" Target="/ppt/notesSlides/notesSlide12.xml" Id="Rc49e01365ee641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35ff4d4dc14197" /><Relationship Type="http://schemas.openxmlformats.org/officeDocument/2006/relationships/notesSlide" Target="/ppt/notesSlides/notesSlide13.xml" Id="Radddfe44faa64d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18447803b4332" /><Relationship Type="http://schemas.openxmlformats.org/officeDocument/2006/relationships/chart" Target="/ppt/slides/charts/chart5.xml" Id="Rd5596e8815fc4ee6" /><Relationship Type="http://schemas.openxmlformats.org/officeDocument/2006/relationships/notesSlide" Target="/ppt/notesSlides/notesSlide14.xml" Id="Re1b475c83c8c4a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0de0952d641ab" /><Relationship Type="http://schemas.openxmlformats.org/officeDocument/2006/relationships/chart" Target="/ppt/slides/charts/chart6.xml" Id="R91a72d16259a461b" /><Relationship Type="http://schemas.openxmlformats.org/officeDocument/2006/relationships/notesSlide" Target="/ppt/notesSlides/notesSlide15.xml" Id="R431a3eb4dff442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bf6fd8b2f4b85" /><Relationship Type="http://schemas.openxmlformats.org/officeDocument/2006/relationships/notesSlide" Target="/ppt/notesSlides/notesSlide16.xml" Id="Rd57179b95a1d43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e16b0192442e0" /><Relationship Type="http://schemas.openxmlformats.org/officeDocument/2006/relationships/chart" Target="/ppt/slides/charts/chart7.xml" Id="R1ce6bd2349b74ae7" /><Relationship Type="http://schemas.openxmlformats.org/officeDocument/2006/relationships/notesSlide" Target="/ppt/notesSlides/notesSlide17.xml" Id="R861e4c445bb643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238b98b344ceb" /><Relationship Type="http://schemas.openxmlformats.org/officeDocument/2006/relationships/notesSlide" Target="/ppt/notesSlides/notesSlide18.xml" Id="R1b8975bfc96c44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8c8cf3aca4145" /><Relationship Type="http://schemas.openxmlformats.org/officeDocument/2006/relationships/notesSlide" Target="/ppt/notesSlides/notesSlide19.xml" Id="Rac0b16fee53c41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9949443074190" /><Relationship Type="http://schemas.openxmlformats.org/officeDocument/2006/relationships/notesSlide" Target="/ppt/notesSlides/notesSlide20.xml" Id="R6329d8e40aeb4d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efc0e0a1042a8" /><Relationship Type="http://schemas.openxmlformats.org/officeDocument/2006/relationships/chart" Target="/ppt/slides/charts/chart8.xml" Id="R649228bc95ba48d8" /><Relationship Type="http://schemas.openxmlformats.org/officeDocument/2006/relationships/notesSlide" Target="/ppt/notesSlides/notesSlide21.xml" Id="Rcc1371c2017341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10b0b629e445c" /><Relationship Type="http://schemas.openxmlformats.org/officeDocument/2006/relationships/notesSlide" Target="/ppt/notesSlides/notesSlide22.xml" Id="R34c7f34fc7964e9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MB/s</a:t>
            </a:r>
          </a:p>
        </c:rich>
      </c:tx>
      <c:overlay val="0"/>
    </c:title>
    <c:plotArea>
      <c:barChart>
        <c:barDir val="col"/>
        <c:grouping val="clustered"/>
        <c:varyColors val="0"/>
        <c:ser>
          <c:idx val="0"/>
          <c:order val="0"/>
          <c:tx>
            <c:v>MB/s</c:v>
          </c:tx>
          <c:spPr>
            <a:solidFill xmlns:a="http://schemas.openxmlformats.org/drawingml/2006/main">
              <a:srgbClr val="1B6E78"/>
            </a:solidFill>
          </c:spPr>
          <c:invertIfNegative val="0"/>
          <c:cat>
            <c:strLit>
              <c:ptCount val="3"/>
              <c:pt idx="0">
                <c:v>256 B</c:v>
              </c:pt>
              <c:pt idx="1">
                <c:v>4 KiB</c:v>
              </c:pt>
              <c:pt idx="2">
                <c:v>64 KiB</c:v>
              </c:pt>
            </c:strLit>
          </c:cat>
          <c:val>
            <c:numLit>
              <c:formatCode>0.0</c:formatCode>
              <c:ptCount val="3"/>
              <c:pt idx="0">
                <c:v>1.333354759</c:v>
              </c:pt>
              <c:pt idx="1">
                <c:v>1.483778849</c:v>
              </c:pt>
              <c:pt idx="2">
                <c:v>1.495183984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5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E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52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DE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36B"/>
                </a:solidFill>
              </a:defRPr>
            </a:pPr>
          </a:p>
        </c:txPr>
        <c:crossAx val="48650112"/>
        <c:crossBetween val="between"/>
        <c:majorUnit val="0.4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6A87F-18AC-4780-A68C-406AA29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E70FB-7367-4D2C-809E-B2E59B9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92D13-C925-4F92-B75E-70AE4D73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53CFB-F3FD-4BF5-AE4E-17A4603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70B0E-DF25-4F2F-95FC-95618C7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</a:t>
            </a: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through 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81246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5D218-84B7-4BF5-A107-E97AAF0D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SYSTEM ARCHITECTURE  /  VIVADO BLOCK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A1C38-FF24-4922-B028-5E24B331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SPI design — Vivado-generated block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E5035-325A-4FA0-9A8D-CC3CEE36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Actual project connectivity: ZynqMP PS → AXI SmartConnect → AXI Quad SPI → external SPI 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82D2F-BC5A-4F97-97F6-FD5B88A9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3792E-DBF9-4879-AC63-C7EAC7BE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VIVADO / NLVIEW EXPORT  ·  spi_benchmark BD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BA440-98BC-4586-908D-493034843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c063ffe8041e3"/>
          <a:stretch xmlns:a="http://schemas.openxmlformats.org/drawingml/2006/main"/>
        </p:blipFill>
        <p:spPr>
          <a:xfrm xmlns:a="http://schemas.openxmlformats.org/drawingml/2006/main">
            <a:off x="937079" y="1685925"/>
            <a:ext cx="10317842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7FC59-CE17-4722-9685-8B6B5AE0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9525">
            <a:solidFill>
              <a:srgbClr val="E5C6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5FF3F-FD32-47BC-8096-B47A58DD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3530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MEASUREMENT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5941A-B50A-4893-A723-9403511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5626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This Vivado export shows the implemented design connectivity. The proposed ILA is not yet instantiated in this BD or present in the current FPGA image; external wiring and physical SCK were not remeasured in the latest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BC9CD-2FBF-4F97-B304-3C7E284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23 Oct 2026                                      02</a:t>
            </a:r>
          </a:p>
        </p:txBody>
      </p:sp>
    </p:spTree>
    <p:extLst>
      <p:ext uri="{BB962C8B-B14F-4D97-AF65-F5344CB8AC3E}">
        <p14:creationId xmlns:p14="http://schemas.microsoft.com/office/powerpoint/2010/main" val="376186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E22FB-E9B7-4DB3-88F3-395558B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A2E6F-362D-46C1-9964-7D4E34C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34B8-7296-49BD-9F45-A52EB3B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1725-5F1B-40A3-B9A9-1F5A297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03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DA5A2FE-14E1-4BCF-8A29-9E7B6194F81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bdb121c9ac423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37193-D0C4-47C3-B6C3-2724C12F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AF2C-202E-480C-BC06-E9DBB45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0CB79-67A2-4B64-908C-3A6D127F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0857-8DED-4D73-A560-87DAE2C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243B-2F3E-42DB-8119-EC339FD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58450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44E39-8636-45D5-A612-48F6F65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5D38B-EE0D-4717-8438-5F3CF50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470F2-8019-42CD-A75C-57CF0BA0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125E-9E1E-4DD5-871F-253C2688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883B76B-ADE8-4930-955D-64545EF0237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a261be14fe4a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7C9A-8747-4899-8753-6936EEC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0EAC2-486F-4FF4-82A5-6F850ED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534E7-6645-477B-AD17-33D193FD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32C2A-AD4B-43CB-B4B5-44175E6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83071-1CCF-47C1-8A1B-D6A63BF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986437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3A437-EBA2-42CA-AD60-116B75A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B4022-D0A5-468F-8E09-7B351A5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F837D-B6D9-4B7C-96EB-5819A27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38023-098E-4C9A-AE32-C5CEBF9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DDCAE0F-9E12-4961-B6A0-3B1DB0409CA9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c05651821144d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6CE1-46E5-4592-A1BA-8905883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12EA-3265-45BB-9127-5279567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6A7AC-32D9-4F82-9A80-18DDB4C3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D680-3570-446F-8EE1-5FAF531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684201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08D30-7A21-4912-90D5-256B2D2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</a:t>
            </a: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23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18C2F-6110-40F6-805A-5661AB1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50FF-1F55-4B22-87A5-3375387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8AA93-FC78-4FA5-8672-D97681E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23 Oct 2026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59B86-2825-462E-85DE-29E1132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3403F-D6FC-473A-BD52-96D6CDF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E8692-6A5E-4D31-87B4-530A189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516D4-43FE-4E01-9BF4-E39C64D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962A5-E246-40CF-8516-ACC8E49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11E7D-2676-447C-9783-892502C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7D57C-10D5-4F91-935C-AD4F9D9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9D528-E9CC-4FC8-9CE2-2694F9B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22F5D-E20D-40E5-84CC-B99FC1B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1672B-6FD1-4C05-9046-5C011E57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485DD-A278-468C-B437-7AAE63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36EAD-276F-4796-BF36-CE5802D9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92C02-3593-48DD-9CDF-7E1684C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DDF0-E02E-4EBF-A085-EABABA01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F0252-C823-4125-AF09-B29A9BC2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72C02-BDEE-4CC1-B154-916AEA2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B4C24-48BD-4C9D-8D37-E3D3326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6EDED-4C31-4A82-8516-314C601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8FDFE-3995-404F-B875-CB2DD4F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63EE7-8F4D-4C0D-B2BE-2B621A61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054B4-A57C-4950-B331-7936479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B6C03-582B-4DCF-90A6-15D6C07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0BF3A-888A-49B0-8B05-2E1974E0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8FB05-3BF0-4077-B1AD-FB83E08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F814E-9B38-4D28-A9AB-90512436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8D586-4B9B-4923-BEFB-9285F63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7879D-BB18-4E1D-B5A2-E3CDE69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4E812-6575-4603-BF1B-B4801D1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Host checks pass; Linux boots. Bare-metal handoff faults before menu;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396AA-09F2-404E-8A55-266A6506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981917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96889-1509-43EB-9930-37EE5F9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3A8B-99F5-4040-BCAA-3DE414F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EC18E-C989-4E8B-9E37-F12F5ADD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8BC6A-D36C-490C-AADA-A3DCFD8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7FD4F-A770-436B-8B44-573CE3B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50E57-F87F-4E9E-B4EE-387EA9C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DA20-1521-44A5-A76F-96293DD2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212C-C0D5-4BAB-8BA4-27C9154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7630-9DD5-430C-9B1D-9FD717B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8FF09-B768-4FE6-8DFB-9C21321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92C51-95E2-45B1-8BC1-CF3C52B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81022-DA1D-462D-9623-BC94749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D85B0-1D9B-4C73-8F60-45B1425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33FB5-4D78-4EC8-BA29-338760A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6A338-5E47-48DC-9D6C-43ECCFA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F5699-AD0C-4760-B53A-90698B9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F8C2C-D839-43D7-8EAA-B4AB997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A6A6A-DE11-46CD-869D-DD86D54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A7596-AE36-4369-B234-ADB9EA18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6DC81-4587-4D64-989A-07204D8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BA029-36D1-43EC-BB60-04DFF45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90326-C131-4501-A867-56D33D45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7700A-8255-4268-B6E7-C510EBC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28CB6-544F-41A5-AFDD-42D90CE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8067E-AD2C-4964-A2AB-151C78C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052F7-045E-4656-8FCD-F6457E7C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254509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E6E76-80E7-4635-9FFE-166FFC15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C198-F7F7-4CB8-82DB-1BFC135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816D4-02EB-4210-8A2B-3687C66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41DB-1407-43BB-83E2-026A0DC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F687CA6-6705-4538-BEE8-AD36F70A9652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98796aa14f415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81F51-990F-48A3-8B48-7ED552F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C5848-225E-434B-8890-4488057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8AA0E-B214-4017-906E-236D266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BA812-B053-4A0F-ABE3-21D71B26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869767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19E67-781B-4693-9033-3C0C68E4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01A4-8F17-4B4B-AC45-13C7F66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FDF6-841E-4E89-A7E9-28D05E4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848E3-F097-4702-9CCE-6F2ADFC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1D3D3-2B01-44D1-99C3-D4A93C8A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1B357-C6D2-4F03-84D7-38E762E8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A040A-D2FF-4FE7-97C6-B1660BD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DC6CA-10EC-40D7-9B76-5F213F5C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908A1-BC34-44A7-9C57-9C61FF3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B9D01-1B01-4D8C-B2B0-3E64966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961A-3403-45CE-8D37-3955346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6E374-4252-4A16-8D39-07DC1A99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CD57E-2705-49B4-9328-18883315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B941C-62E5-49CE-8029-84AD8D0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06920-211F-4997-88A8-0435E769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9AC51-BE13-4D9A-96FE-4FBE3EA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87340-33C1-493F-9D7C-EC8837FF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948509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6EC1F-DBF5-4B2E-A87A-463DFE80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61DBE-20CE-418D-BC47-CDB6383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FD976-12D3-4CB7-9859-014BCFC8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6C9D2-0FE9-4F65-B9B6-26F0CDD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EB8CE-CB68-4C3F-9BCC-CEFE40B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09061-2558-43B6-8E80-3CA3D32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0E611-0821-4CD7-9563-34C573C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20718-6687-4609-8F69-F1B3752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786A4-9D4B-4E07-B7E8-62F1E07B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A5A91-1A64-4F07-8BFB-D2EB622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0D1A7-D5C2-4C74-8416-3B428AF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697640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08A24-6B0B-4C6B-98DD-EA5ED13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340B7-B518-44DE-A549-E71E5D9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C2EEA-BA51-421D-BCFA-5F5A40C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0A46-143A-4F02-9ED9-4B36D9B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0B5E-9B30-459B-8452-CC67F02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37AB4-7B66-4E12-83EA-C2AA11E4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A726E-DA33-479A-B738-EA491A6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6145-E710-44F6-960F-A7FA8319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BC623-1786-479A-AB0B-8B39FA7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C463-AD5B-45FF-86B8-B3804AF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05D24-C151-4EF1-8203-25C18D2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8C654-0188-43B8-A2BE-4747116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06DCA-A131-46D2-9E1F-6BF7A033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FF1E8-DD25-4900-8CBB-60A9AB4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11F94-E72A-4604-AA87-99F6186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F20BB-2BA3-488D-B1B0-5278AE6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07C03-E202-4A05-9E36-A9663F8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A0C21-8398-4BE7-A4D0-231A7241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8B380-C60C-4102-9A52-CF2F29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58E7C-840F-4A0C-9E9C-04DD14BB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FD519-8C69-4AE9-A634-A02488E5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53EB2-5D72-4910-8614-3C23499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BF954-11C7-4B70-9665-9A4DAB4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EA693-BCBF-4203-B255-76368870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886631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57991-826D-496F-B6E7-748BBF5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730D8-3A74-4D67-BAD9-AAEB2E2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A84DF-2BAD-48E8-92C1-3FE5B788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F6BA-F847-44CF-8EDB-FD7B43A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0ECDC-5416-4A9F-BDC4-3D196D6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9A29A-DBEA-4C1F-AF9E-647B9761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396E5-48DA-4606-A814-2184405C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61B7A-4ABA-4046-8BCA-D2F134A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91179-D68D-42DB-ACAB-01BF5B3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46DF-0851-4F34-BEBD-8201CE3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ED57C-5924-41D7-8517-33F3795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4B5D8-EBE3-4DD4-9600-8DEF6FED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A3C15-C64A-4075-9B7C-5F16ACD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A0C2F-D011-4268-A1C0-A3955BE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D6EE-7447-4888-86A9-F721137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1C614-EE9F-4DAA-B07B-2115A54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38305-1637-4FAE-96B1-BC14F417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7612F-6D9F-4314-BFB2-9A9E309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C9472-2F2A-4B5C-BBD0-DE710C6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268E0-1873-4775-895E-1E6D21AD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BB2CD-3541-42AB-9F31-3E0C865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5A76F-3309-4B43-A8D4-DE16285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41819-A40E-4E1E-8D1B-6A3D18B4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81431-C7EC-4BAC-BB23-3D2C197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84AB7-B509-410B-B385-49B7A97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8085102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71202-846F-4FB1-AEB3-4965116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C648F-3ECF-4E1D-A5E3-EDD45AB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ED0AF-3E3F-40DD-9093-D5049AA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233E-4825-41DC-97E9-281BDEE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40EC3-9FF6-4EEA-99C7-52856B8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F80E5-73CA-4C5A-B1CA-B6B73B8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C2DB-1FFB-4AFA-B7B1-03E439C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55A4B-56A6-4349-8BBC-205F8E35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3DAAC-C8E1-445B-B1A7-DCDD43AE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A8CEF-E132-4AD5-BD2F-0D159FC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9B4EF-9043-46DD-9D17-A8EE247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5733D-404C-4F7E-9155-45C46B45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C688C-EA9A-4AC0-95A2-35A5886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0076D-0998-4D60-A9C5-4741AAD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7550022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FD178-E1B3-49F1-97ED-F8D435FA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2FE4B-8BB5-4157-A375-B4CE384C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9C68B-A9DE-45ED-8BA0-617D278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891AD-AFD8-496E-875B-775F677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594B23E-14DE-41E3-90C0-7DEDB7122ECE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596e8815fc4ee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99AC-5342-4B73-BA37-0AB01D13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AEAB-13BC-4265-BC6C-4CD2EF7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D31D-9A0C-45A6-AFFF-71B22A5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D63C-C833-4268-ABB5-D79F678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8AADF-28BA-43DC-A200-D3F79D5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0D8B3-D376-4741-9FC5-2BF1060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8121932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B4557-4F1D-487E-ACFE-351122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E6B76-6E2E-4710-B14B-10A9246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29043-C2C0-4EEC-9CF3-CDE97C4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1DA8-8929-4C38-B04C-C8FA5C1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1AEA772-5729-4C0A-AABC-93D55D2DB162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a72d16259a461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54BFC-B1A0-4EF1-AFCD-F370885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7C9BE-0A9F-4819-AF76-4E25B6F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7D9B5-B462-4B63-A63C-76166BF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3C412-B2B7-4DDE-96F1-AAC4E08C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2F2E3-6B0A-4D6E-9596-573D0162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1123391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E57D9-60CD-44D5-9B25-E675001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9CFAE-291F-4F59-A5E4-068D564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B24B8-F71E-4DB8-9FB7-964001C0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88EE1-D346-463A-8654-55E407D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E53F-A0DD-438E-8290-6F24E5D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F16B7-4E83-4974-B71B-6075BD2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13FA-3E69-4353-86FE-83B3B92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F2FD4-A1ED-4D61-9696-2890FEE6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5C4D3-8E46-4A53-9BC5-6E98167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3CC7-9A6B-4604-A09D-A0A44E40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7773A-39C4-468B-A6EB-E1A6201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539CC-8C14-4458-B0A7-DB67803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5BD4D-2A0D-4483-9DBD-D435EA6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8C152-6691-460F-8705-1C58626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BB1A7-3E5F-4E7D-8551-13D4AEF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1046B-2EA4-4597-8E29-88B7441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060FC-447C-44BD-A024-F940F4F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B511A-D84E-4A81-9B65-6CD178E2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36D2-71B4-4622-A28B-950C0A7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6DFCC-19F3-4FF3-B775-A3EC878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C2FFA-BEDE-4A29-9A34-0B9EDC1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D2359-CC86-4BB1-B600-2335EE2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13375-4C76-44D7-816E-77E84CCE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3625471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8E2C-37B5-4038-9126-4AA2B67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A9680-6376-44B1-991C-5532FD51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27A08-9662-4285-94A3-BF787D7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B4E9B-C399-4537-948C-259888B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8ED4148-4F1F-4A0B-82A7-A9D7CAEA3361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e6bd2349b74a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FCD6-CB99-4E93-B0BB-A575D47F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50156-7E2D-4ACE-93B1-96C9186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41B2-E0F7-4190-9D00-EACEC6AF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0A0DB-2194-4CBD-AEBB-D77EE5D1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70FFB-1767-4A14-817D-FF5959E0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11342970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B1AC-F1D1-43C7-8722-AB1B5B8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0C9BA-7AD1-4C8B-AAD1-29E0568C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6956B-5C96-47F2-AB5C-452D87D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4A9BA-6981-4EB6-AF37-A5878A9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23 Oct 2026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D881F-821E-4DA4-8273-145B9D72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BE92-2D91-4336-9B36-3125171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6C1F3-D762-41D6-B617-6B833EF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6F14B-7CD4-4880-9D7A-38A96A3B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menu is built; launch is blocked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3DDA6-712B-4D97-899C-E2A994DE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Full 11-payload baseline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Single payload with chosen duration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One-second smoke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Every mode waits for RUN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ELF build passed against pinned XSA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6B2E0-6221-4142-8201-52B2266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Linux menu and sustained tests passed; bare-metal ELF build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07F0A-1BF0-4F73-96BE-1A9718BB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Board handoff was attempted twice and faulted in U-Boot before the bare-metal menu. Linux then booted normally. Keep bare-metal launch experimental; secure boot is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4987599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8A40B-7CCE-4483-9549-B907D77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+ ONE-STOP INTEGRATION  /  ZCU102 PACKAGE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4054-4DC0-4FE2-9D00-BDED05D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Selector prototype: host checks pass, target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7127B-0D2C-4322-B272-9FE7B1C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61783-3255-4728-A0D8-49D33EF8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23 Oct 2026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0C78-3A03-4224-970E-0DDA24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Host package includes a fixed U-Boot chooser and required-key FIT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5F5D-9284-42C5-B56F-7ABC0BC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ADC5D-2C39-4942-9EFF-1FC8161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5B45E-AD1E-457B-B264-C224D90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Existing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110A6-410E-49FA-B96B-A38C95E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Kernel, FDT and initramfs extracted from the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E5E7F-BC9E-4B09-898E-FDD270E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673A-2AA0-42C2-A3DC-D5E9168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7F4B1-5277-4798-8A03-9537B09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Unified SPI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DC30C-6330-47ED-B719-987094C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AArch64 standalone firmware in the same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D19EC-F71C-4539-AED2-86F046EF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346EA-DC56-483E-9087-AF51F9E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4884F-F239-4032-95A9-A3D3FE9E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Tamper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70351-320C-4B9E-A3E0-EB2138E7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byte changed in SPI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 check rejected the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04747-E444-4F84-8AB5-E5DB9856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Host-side FIT configurations verify and tampering fails; this does not establish target secure boot.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BCB8C-C4EB-45CA-A84B-841A17E3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This selector attempt did not reach its menu. The current SD image boots Linux. Bootgen showed no authenticated FSBL/U-Boot chain; secure boot is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288442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00C5E-01C4-4F4E-9B3B-1C2C69E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LIVE TARGET SMOKE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37208-47FD-46C3-B6C6-5CADAA8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AXI SPI re-bring-up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96A4-7965-4B77-B0C2-32143A9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47232-83E8-45A9-9283-ED91F0D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CB95-54AE-487F-AD13-AA5D3A2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The controller registered only after the validated PL image and reset were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7B7D1-A73B-4D63-99C5-791908C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35E9-7C40-4460-B8A8-B111F9E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PL0 clock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60878-82AA-4DFA-8585-6ED0659E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99.99 MHz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IOPLL unchanged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59DF-A518-4A88-9474-E4AB0D2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4F56-86E3-4DA7-A254-67DE5F42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21024-93CF-4360-90C5-F58EED46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FPGA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69E30-1DEE-4DFC-874E-EB3292D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Validated 29 Sep bitstream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Manager: operating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797F3-D300-4BCA-AB34-302BBF0B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32D54-E92C-4724-8D13-C52E213B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EA825-0410-4BB0-AF80-ADE040A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 reset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5C870-A41B-4648-9FB9-7207FA08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EMIO95 / GPIO 689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output 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1971-9FEE-4B13-9101-1870DFA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02D1F-E859-40D6-8391-7C530E3A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0B00-EA9B-4701-9D89-9AE238A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SPI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CDDF9-FDC1-46C2-9B23-32C6B2CD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AXI at 0xA0000000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spidev1.0 bound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ACFC1-0B5F-400B-B2EF-B12787D4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7E3CB-DA96-4EFB-9A81-ADCD776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A6AA5-FE06-4043-9AD0-6FB3DA7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RX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F61C8-A0BD-40A8-99DB-2A8BF67F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TX A5 → RX A5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ioctl result: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D6357-4472-4ADC-A867-B34EE8F8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Evidence: TX 0xA5, RX 0xA5, mode 0, 8 bits, 1 MHz requested/read back, ioctl_rc=1, errno=0.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A6489-4BC7-43EE-BF73-2C3C86E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 prior probe stalled after reboot when the PL bitstream had not been reloaded. After loading and hash-checking the bitstream first, the same controller overlay applied and the smoke test passed. This points to an unconfigured-PL hazard; it does not isolate the sole root cause. One byte is verified here; a new multi-payload RX-verification sweep was not run.</a:t>
            </a:r>
          </a:p>
        </p:txBody>
      </p:sp>
    </p:spTree>
    <p:extLst>
      <p:ext uri="{BB962C8B-B14F-4D97-AF65-F5344CB8AC3E}">
        <p14:creationId xmlns:p14="http://schemas.microsoft.com/office/powerpoint/2010/main" val="13305304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215AB2-3121-4E6E-A1CF-2C10E4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LIVE ZCU102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58691C-8514-4AC5-8268-0ED9F3C3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menu validated on the board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DC9CFD-CB0D-42EC-808D-CBB69F21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2025.1  ·  AXI Quad SPI  ·  J55 external loopback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3BDEFB-E372-45AD-9A61-466E06C3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F3D755F4-B24A-4B56-ACC4-0A4FA64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Operator-selected workflow</a:t>
            </a:r>
          </a:p>
        </p:txBody>
      </p:sp>
      <p:sp>
        <p:nvSpPr>
          <p:cNvPr id="6" name="workflow-body">
            <a:extLst xmlns:a="http://schemas.openxmlformats.org/drawingml/2006/main">
              <a:ext uri="{FF2B5EF4-FFF2-40B4-BE49-F238E27FC236}">
                <a16:creationId xmlns:a16="http://schemas.microsoft.com/office/drawing/2014/main" id="{BA12EE99-ABAB-44C6-AF47-B117351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Bring up the hash-checked PL image, clock, reset and SPI device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Smoke test: TX 0xA5 → RX 0xA5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Integrity sweep: 11 sizes × 1,000 trials; zero errors or mismatches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  Select payload sizes, duration and repetitions for sustained runs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5  Show system details; q returns to the normal Linux shell</a:t>
            </a:r>
          </a:p>
        </p:txBody>
      </p:sp>
      <p:sp>
        <p:nvSpPr>
          <p:cNvPr id="7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ABEFCAC4-FF72-474A-ACD2-A2C49925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Sustained application throughput</a:t>
            </a:r>
          </a:p>
        </p:txBody>
      </p:sp>
      <p:sp>
        <p:nvSpPr>
          <p:cNvPr id="8" name="chart-units">
            <a:extLst xmlns:a="http://schemas.openxmlformats.org/drawingml/2006/main">
              <a:ext uri="{FF2B5EF4-FFF2-40B4-BE49-F238E27FC236}">
                <a16:creationId xmlns:a16="http://schemas.microsoft.com/office/drawing/2014/main" id="{9F2E2C23-ADEE-4951-9E01-829AA53B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10 s per payload  ·  one repetition  ·  15.62 MHz requested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50E389EE-2DA4-44F6-B345-D890D9B4A72B}"/>
              </a:ext>
            </a:extLst>
          </p:cNvPr>
          <p:cNvGraphicFramePr/>
          <p:nvPr/>
        </p:nvGraphicFramePr>
        <p:xfrm>
          <a:off xmlns:a="http://schemas.openxmlformats.org/drawingml/2006/main" x="6048375" y="2428875"/>
          <a:ext xmlns:a="http://schemas.openxmlformats.org/drawingml/2006/main" cx="5286375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9228bc95ba48d8"/>
          </a:graphicData>
        </a:graphic>
      </p:graphicFrame>
      <p:sp>
        <p:nvSpPr>
          <p:cNvPr id="10" name="pass-summary">
            <a:extLst xmlns:a="http://schemas.openxmlformats.org/drawingml/2006/main">
              <a:ext uri="{FF2B5EF4-FFF2-40B4-BE49-F238E27FC236}">
                <a16:creationId xmlns:a16="http://schemas.microsoft.com/office/drawing/2014/main" id="{72B4C0CB-FA14-453D-B90A-AE834E7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578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rPr>
              <a:t>55,937 transfers verified  ·  0 API errors  ·  0 RX mismatches</a:t>
            </a:r>
          </a:p>
        </p:txBody>
      </p:sp>
      <p:sp>
        <p:nvSpPr>
          <p:cNvPr id="11" name="measurement-boundary">
            <a:extLst xmlns:a="http://schemas.openxmlformats.org/drawingml/2006/main">
              <a:ext uri="{FF2B5EF4-FFF2-40B4-BE49-F238E27FC236}">
                <a16:creationId xmlns:a16="http://schemas.microsoft.com/office/drawing/2014/main" id="{D4FDE22C-AAB9-48FA-8CE6-551E717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Physical SCK was not measured; the requested SPI rate is not a pin measurement. The run is a 30-second menu demonstration, not the full repeated comparison. Raw run logs remain on the SD card pending host-side archival. Target-generated folder timestamps reflect its incorrect 2025 clock.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248F95EA-4347-4F19-B96B-4BDC0B7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887055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1E7C32-9810-40E7-BD01-EA983909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BARE-METAL MENU BUILD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12DC46-549C-4325-AF07-3088ED37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Handoff faults before menu; Linux fallback works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3C9365-92EF-4441-B6B7-8FB0B379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boot verified  ·  two experimental handoffs faulted in U-Boot  ·  no secure-boot claim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F32C6F-C4E8-4751-9627-A8CCE4F2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310140BD-4C46-46CA-B77D-303125CA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flow</a:t>
            </a:r>
          </a:p>
        </p:txBody>
      </p:sp>
      <p:sp>
        <p:nvSpPr>
          <p:cNvPr id="6" name="workflow-body">
            <a:extLst xmlns:a="http://schemas.openxmlformats.org/drawingml/2006/main">
              <a:ext uri="{FF2B5EF4-FFF2-40B4-BE49-F238E27FC236}">
                <a16:creationId xmlns:a16="http://schemas.microsoft.com/office/drawing/2014/main" id="{B5E8A955-9F18-460B-8380-115CD09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286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Board boots Linux from the SD card.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Linux SPI menu and sustained benchmark work in-session.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Bare-metal handoff was attempted twice; U-Boot faulted before menu entry.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  Board returned to normal Linux boot.</a:t>
            </a:r>
          </a:p>
        </p:txBody>
      </p:sp>
      <p:sp>
        <p:nvSpPr>
          <p:cNvPr id="7" name="menu-heading">
            <a:extLst xmlns:a="http://schemas.openxmlformats.org/drawingml/2006/main">
              <a:ext uri="{FF2B5EF4-FFF2-40B4-BE49-F238E27FC236}">
                <a16:creationId xmlns:a16="http://schemas.microsoft.com/office/drawing/2014/main" id="{8CD5F7A7-F921-4975-AA04-DC9FA25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submenu</a:t>
            </a:r>
          </a:p>
        </p:txBody>
      </p:sp>
      <p:sp>
        <p:nvSpPr>
          <p:cNvPr id="8" name="menu-list">
            <a:extLst xmlns:a="http://schemas.openxmlformats.org/drawingml/2006/main">
              <a:ext uri="{FF2B5EF4-FFF2-40B4-BE49-F238E27FC236}">
                <a16:creationId xmlns:a16="http://schemas.microsoft.com/office/drawing/2014/main" id="{0CB6E206-26F7-469E-B2C2-A80DBA5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RX integrity / latency: 11 sizes × 1,000 trials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run: select shared sizes, duration and repetitions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Baseline: 11 sizes × 60 s × 3 repetitions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  One-byte smoke: 1 second  ·  q: idle without transfers</a:t>
            </a:r>
          </a:p>
        </p:txBody>
      </p:sp>
      <p:sp>
        <p:nvSpPr>
          <p:cNvPr id="9" name="build-proof">
            <a:extLst xmlns:a="http://schemas.openxmlformats.org/drawingml/2006/main">
              <a:ext uri="{FF2B5EF4-FFF2-40B4-BE49-F238E27FC236}">
                <a16:creationId xmlns:a16="http://schemas.microsoft.com/office/drawing/2014/main" id="{819576C5-DF6D-42B1-A38D-54192900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Vitis 2025.1 host build</a:t>
            </a:r>
          </a:p>
        </p:txBody>
      </p:sp>
      <p:sp>
        <p:nvSpPr>
          <p:cNvPr id="10" name="build-hash">
            <a:extLst xmlns:a="http://schemas.openxmlformats.org/drawingml/2006/main">
              <a:ext uri="{FF2B5EF4-FFF2-40B4-BE49-F238E27FC236}">
                <a16:creationId xmlns:a16="http://schemas.microsoft.com/office/drawing/2014/main" id="{07B48D34-EB70-4548-BA3D-9654E8C1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handoff ELF SHA-256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8b275de051bfc9b9f9ed17520554bc7e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3029e23a059be3728c235904640429ea</a:t>
            </a:r>
          </a:p>
        </p:txBody>
      </p:sp>
      <p:sp>
        <p:nvSpPr>
          <p:cNvPr id="11" name="status-warning">
            <a:extLst xmlns:a="http://schemas.openxmlformats.org/drawingml/2006/main">
              <a:ext uri="{FF2B5EF4-FFF2-40B4-BE49-F238E27FC236}">
                <a16:creationId xmlns:a16="http://schemas.microsoft.com/office/drawing/2014/main" id="{D96CC787-2640-47FF-945B-7FB0D87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LIVE RESULT — handoff faults in relocated U-Boot before menu output.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Linux boots normally after the fault; marker is absent on current card.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Bare-metal launch is unverified; this is not secure boot.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13A377A0-6F84-4D4E-A711-9827938C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23 Oct 20</a:t>
            </a: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32694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2026-10-23T19:16:29.5440000Z</dcterms:created>
  <dcterms:modified xsi:type="dcterms:W3CDTF">2026-10-23T19:16:29.5440000Z</dcterms:modified>
</coreProperties>
</file>
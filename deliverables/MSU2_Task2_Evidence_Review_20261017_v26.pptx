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5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6.xml" ContentType="application/vnd.openxmlformats-officedocument.drawingml.chart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d1f8d3d6504ac7" /><Relationship Type="http://schemas.openxmlformats.org/officeDocument/2006/relationships/extended-properties" Target="/docProps/app.xml" Id="Rf4631c1615a54b02" /><Relationship Type="http://schemas.openxmlformats.org/officeDocument/2006/relationships/officeDocument" Target="/ppt/presentation.xml" Id="Rf8b4fa5f8a6b4c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ae705ab41740b5"/>
  </p:sldMasterIdLst>
  <p:notesMasterIdLst>
    <p:notesMasterId xmlns:r="http://schemas.openxmlformats.org/officeDocument/2006/relationships" r:id="R9c63e2b817d5419f"/>
  </p:notesMasterIdLst>
  <p:sldIdLst>
    <p:sldId xmlns:r="http://schemas.openxmlformats.org/officeDocument/2006/relationships" id="256" r:id="R181d14dd6c8c4266"/>
    <p:sldId xmlns:r="http://schemas.openxmlformats.org/officeDocument/2006/relationships" id="257" r:id="R6e34497c64dc4ad4"/>
    <p:sldId xmlns:r="http://schemas.openxmlformats.org/officeDocument/2006/relationships" id="258" r:id="Rf9c69f04a9354daf"/>
    <p:sldId xmlns:r="http://schemas.openxmlformats.org/officeDocument/2006/relationships" id="259" r:id="R09925d7d3895427c"/>
    <p:sldId xmlns:r="http://schemas.openxmlformats.org/officeDocument/2006/relationships" id="260" r:id="R2f3976f793e0486b"/>
    <p:sldId xmlns:r="http://schemas.openxmlformats.org/officeDocument/2006/relationships" id="261" r:id="R5cb09387b8884bf7"/>
    <p:sldId xmlns:r="http://schemas.openxmlformats.org/officeDocument/2006/relationships" id="262" r:id="Rf19b13e330404e19"/>
    <p:sldId xmlns:r="http://schemas.openxmlformats.org/officeDocument/2006/relationships" id="263" r:id="Rb2c585c759d04f03"/>
    <p:sldId xmlns:r="http://schemas.openxmlformats.org/officeDocument/2006/relationships" id="264" r:id="Rf54b80cfa3fc4688"/>
    <p:sldId xmlns:r="http://schemas.openxmlformats.org/officeDocument/2006/relationships" id="265" r:id="R11538c4e2d944263"/>
    <p:sldId xmlns:r="http://schemas.openxmlformats.org/officeDocument/2006/relationships" id="266" r:id="R0913da3e53374d5c"/>
    <p:sldId xmlns:r="http://schemas.openxmlformats.org/officeDocument/2006/relationships" id="267" r:id="R3c3f8c3563b9402c"/>
    <p:sldId xmlns:r="http://schemas.openxmlformats.org/officeDocument/2006/relationships" id="268" r:id="R6d9d1fcd39b742ea"/>
    <p:sldId xmlns:r="http://schemas.openxmlformats.org/officeDocument/2006/relationships" id="269" r:id="Redba4424235e420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7b961ce1c44e5e" /><Relationship Type="http://schemas.openxmlformats.org/officeDocument/2006/relationships/slideMaster" Target="/ppt/slideMasters/slideMaster1.xml" Id="R9fae705ab41740b5" /><Relationship Type="http://schemas.openxmlformats.org/officeDocument/2006/relationships/notesMaster" Target="/ppt/notesMasters/notesMaster1.xml" Id="R9c63e2b817d5419f" /><Relationship Type="http://schemas.openxmlformats.org/officeDocument/2006/relationships/presProps" Target="/ppt/presProps.xml" Id="R879a69dd4bf54e33" /><Relationship Type="http://schemas.openxmlformats.org/officeDocument/2006/relationships/tableStyles" Target="/ppt/tableStyles.xml" Id="R555c0e6c0abb4bb1" /><Relationship Type="http://schemas.openxmlformats.org/officeDocument/2006/relationships/slide" Target="/ppt/slides/slide1.xml" Id="R181d14dd6c8c4266" /><Relationship Type="http://schemas.openxmlformats.org/officeDocument/2006/relationships/slide" Target="/ppt/slides/slide2.xml" Id="R6e34497c64dc4ad4" /><Relationship Type="http://schemas.openxmlformats.org/officeDocument/2006/relationships/slide" Target="/ppt/slides/slide3.xml" Id="Rf9c69f04a9354daf" /><Relationship Type="http://schemas.openxmlformats.org/officeDocument/2006/relationships/slide" Target="/ppt/slides/slide4.xml" Id="R09925d7d3895427c" /><Relationship Type="http://schemas.openxmlformats.org/officeDocument/2006/relationships/slide" Target="/ppt/slides/slide5.xml" Id="R2f3976f793e0486b" /><Relationship Type="http://schemas.openxmlformats.org/officeDocument/2006/relationships/slide" Target="/ppt/slides/slide6.xml" Id="R5cb09387b8884bf7" /><Relationship Type="http://schemas.openxmlformats.org/officeDocument/2006/relationships/slide" Target="/ppt/slides/slide7.xml" Id="Rf19b13e330404e19" /><Relationship Type="http://schemas.openxmlformats.org/officeDocument/2006/relationships/slide" Target="/ppt/slides/slide8.xml" Id="Rb2c585c759d04f03" /><Relationship Type="http://schemas.openxmlformats.org/officeDocument/2006/relationships/slide" Target="/ppt/slides/slide9.xml" Id="Rf54b80cfa3fc4688" /><Relationship Type="http://schemas.openxmlformats.org/officeDocument/2006/relationships/slide" Target="/ppt/slides/slide10.xml" Id="R11538c4e2d944263" /><Relationship Type="http://schemas.openxmlformats.org/officeDocument/2006/relationships/slide" Target="/ppt/slides/slide11.xml" Id="R0913da3e53374d5c" /><Relationship Type="http://schemas.openxmlformats.org/officeDocument/2006/relationships/slide" Target="/ppt/slides/slide12.xml" Id="R3c3f8c3563b9402c" /><Relationship Type="http://schemas.openxmlformats.org/officeDocument/2006/relationships/slide" Target="/ppt/slides/slide13.xml" Id="R6d9d1fcd39b742ea" /><Relationship Type="http://schemas.openxmlformats.org/officeDocument/2006/relationships/slide" Target="/ppt/slides/slide14.xml" Id="Redba4424235e42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a894eee59043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44ab05448e4c1b" /><Relationship Type="http://schemas.openxmlformats.org/officeDocument/2006/relationships/notesMaster" Target="/ppt/notesMasters/notesMaster1.xml" Id="R5065ae7ca3d342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01d4ea2668479e" /><Relationship Type="http://schemas.openxmlformats.org/officeDocument/2006/relationships/notesMaster" Target="/ppt/notesMasters/notesMaster1.xml" Id="R1e68568c361541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2da0870a114d71" /><Relationship Type="http://schemas.openxmlformats.org/officeDocument/2006/relationships/notesMaster" Target="/ppt/notesMasters/notesMaster1.xml" Id="R564ce6e5cd654a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d148e0475e4c75" /><Relationship Type="http://schemas.openxmlformats.org/officeDocument/2006/relationships/notesMaster" Target="/ppt/notesMasters/notesMaster1.xml" Id="R1290563e963948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3abeb575234781" /><Relationship Type="http://schemas.openxmlformats.org/officeDocument/2006/relationships/notesMaster" Target="/ppt/notesMasters/notesMaster1.xml" Id="R595e926751ba4f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81ba0a46774214" /><Relationship Type="http://schemas.openxmlformats.org/officeDocument/2006/relationships/notesMaster" Target="/ppt/notesMasters/notesMaster1.xml" Id="R1be75704e9c546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281e6037fd5443a" /><Relationship Type="http://schemas.openxmlformats.org/officeDocument/2006/relationships/notesMaster" Target="/ppt/notesMasters/notesMaster1.xml" Id="R2c47ee0bb1b542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6d3d6a71a64ead" /><Relationship Type="http://schemas.openxmlformats.org/officeDocument/2006/relationships/notesMaster" Target="/ppt/notesMasters/notesMaster1.xml" Id="R66d782d47c3f4a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5cb9d1ac847469b" /><Relationship Type="http://schemas.openxmlformats.org/officeDocument/2006/relationships/notesMaster" Target="/ppt/notesMasters/notesMaster1.xml" Id="R4c25d9170184404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390340131764d79" /><Relationship Type="http://schemas.openxmlformats.org/officeDocument/2006/relationships/notesMaster" Target="/ppt/notesMasters/notesMaster1.xml" Id="R1454f978d045445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e5a1f5c3ff540be" /><Relationship Type="http://schemas.openxmlformats.org/officeDocument/2006/relationships/notesMaster" Target="/ppt/notesMasters/notesMaster1.xml" Id="R97fcbb4c9866419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2e84786db384137" /><Relationship Type="http://schemas.openxmlformats.org/officeDocument/2006/relationships/notesMaster" Target="/ppt/notesMasters/notesMaster1.xml" Id="R13b73c7a8aa34a3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9938279baad4c76" /><Relationship Type="http://schemas.openxmlformats.org/officeDocument/2006/relationships/notesMaster" Target="/ppt/notesMasters/notesMaster1.xml" Id="R2725d34a083942d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0b690175b134760" /><Relationship Type="http://schemas.openxmlformats.org/officeDocument/2006/relationships/notesMaster" Target="/ppt/notesMasters/notesMaster1.xml" Id="Rba6c9f3dbaf24e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Scope: Task 2a–2c findings and current status of remaining SOW activities.</a:t>
            </a:r>
          </a:p>
          <a:p xmlns:a="http://schemas.openxmlformats.org/drawingml/2006/main">
            <a:r>
              <a:t>Primary source: /home/opentitan/Downloads/MSU-2_SOW_Final (1).docx, revision 2026-02-23.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results/linux_axi_spi_bringup_20261013/linux_vs_baremetal_comparison_20261014.csv.</a:t>
            </a:r>
          </a:p>
          <a:p xmlns:a="http://schemas.openxmlformats.org/drawingml/2006/main">
            <a:r>
              <a:t>Method and limitations: results/linux_axi_spi_bringup_20261013/SOW_2A_FINAL_COMPARISON_20261014.md.</a:t>
            </a:r>
          </a:p>
          <a:p xmlns:a="http://schemas.openxmlformats.org/drawingml/2006/main">
            <a:r>
              <a:t>Both paths used the same AXI Quad SPI hardware, J55 external loopback, payload vectors and 1,000 trials per size. Linux used CLOCK_MONOTONIC_RAW; bare metal used XTime_GetTime. No timer cross-calibration was recorded.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results/task2b_cdma_sim_20261014/cdma_simulated_sweep.csv and results/task2b_cdma_sim_20261014/cdma_loopback_simulate.log.</a:t>
            </a:r>
          </a:p>
          <a:p xmlns:a="http://schemas.openxmlformats.org/drawingml/2006/main">
            <a:r>
              <a:t>Reproduction and test limits: results/task2b_cdma_sim_20261014/README.md; source testbench: hardware/sim/tb_keyhole.sv.</a:t>
            </a:r>
          </a:p>
          <a:p xmlns:a="http://schemas.openxmlformats.org/drawingml/2006/main">
            <a:r>
              <a:t>Optional physical follow-on experiment design and readiness gate: results/SOW_2B_PHYSICAL_DMA_EXPERIMENT_DESIGN_20261015.md. No CDMA-enabled bitstream is currently in the repository.</a:t>
            </a:r>
          </a:p>
          <a:p xmlns:a="http://schemas.openxmlformats.org/drawingml/2006/main">
            <a:r>
              <a:t>Vivado 2025.1 fresh build and XSim run passed with host IPC access. The chart shows model effective rate from the BTT write to TX FIFO empty plus the stated 2 us final-word allowance.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Frequency sweep source: results/SOW_2F_FREQSWEEP_20260908.md; raw capture: docs/environment/zcu102-2_2f_freqsweep_20260908.log.</a:t>
            </a:r>
          </a:p>
          <a:p xmlns:a="http://schemas.openxmlformats.org/drawingml/2006/main">
            <a:r>
              <a:t>Cross-OS timing source: results/linux_axi_spi_bringup_20261013/SOW_2A_FINAL_COMPARISON_20261014.md.</a:t>
            </a:r>
          </a:p>
          <a:p xmlns:a="http://schemas.openxmlformats.org/drawingml/2006/main">
            <a:r>
              <a:t>The 64 KiB standard deviations are 3.87, 5.17, 8.65 and 14.23 us at 1,200, 600, 400 and 300 MHz. The frequency-sweep report records zero errors and ivcsw=0; those results do not attribute a jitter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Governing source: /home/opentitan/Downloads/MSU-2_SOW_Final (1).docx, revision 2026-02-23. The seven activity names are quoted or closely abbreviated from Task 2; internal labels 2a–2g are mapped in sequence.</a:t>
            </a:r>
          </a:p>
          <a:p xmlns:a="http://schemas.openxmlformats.org/drawingml/2006/main">
            <a:r>
              <a:t>Evidence basis: results/MSU2_TASK2_SOW_STATUS_20261016.md and the source reports in results/ for Task 2a–2g.</a:t>
            </a:r>
          </a:p>
          <a:p xmlns:a="http://schemas.openxmlformats.org/drawingml/2006/main">
            <a:r>
              <a:t>Task 2a has a fixed-workload comparison revalidated on 16 October, but timer sources and CPU-point differences limit causal attribution. Task 2b has simulation but no valid physical DMA sweep. Task 2c supports best-effort suitability only. Task 2d is design-only. Task 2e is complete as a bounded benchmark framework: 33/33 sustained points per backend, fixed-trial comparison, CPU-metric bases, and clock readback are documented. The actual backend order was not alternated and clocks were not sampled per window, so no thermal control or causal OS-only claim is made. Task 2f lacks a changed preemption configuration and valid physical optimized-DMA comparison. Task 2g lacks integrated target verified boot and persistent recovery.</a:t>
            </a:r>
          </a:p>
          <a:p xmlns:a="http://schemas.openxmlformats.org/drawingml/2006/main">
            <a:r>
              <a:t>The SOW also requires separate Task 1 work and formal monthly, interim, simulation/emulation, OS/appliance, and final-report deliverables; this Task 2 status slide does not certify those deliverables.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 source: results/SOW_2D_SYSTEM_HARDENING_DESIGN_20261014.md.</a:t>
            </a:r>
          </a:p>
          <a:p xmlns:a="http://schemas.openxmlformats.org/drawingml/2006/main">
            <a:r>
              <a:t>Existing U-Boot environment fallback evidence and limitations: results/SOW_2G_RECOVERY_20260909.md.</a:t>
            </a:r>
          </a:p>
          <a:p xmlns:a="http://schemas.openxmlformats.org/drawingml/2006/main">
            <a:r>
              <a:t>AMD Zynq UltraScale+ MPSoC Software Developer Guide, Boot Time Security: https://docs.amd.com/r/en-US/ug1137-zynq-ultrascale-mpsoc-swdev/Boot-Time-Security.</a:t>
            </a:r>
          </a:p>
          <a:p xmlns:a="http://schemas.openxmlformats.org/drawingml/2006/main">
            <a:r>
              <a:t>AMD Embedded Design Tutorial, Enabling Boot Header Authentication: https://docs.amd.com/r/en-US/ug1209-embedded-design-tutorial/Enabling-Boot-Header-Authentication. Boot-header authentication omits the eFUSE key-hash and revocation checks; it is a development mechanism, not the fielded trust anchor.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CSV: results/linux_axi_spi_bringup_20261013/task2e_framework_metrics_20261014.csv.</a:t>
            </a:r>
          </a:p>
          <a:p xmlns:a="http://schemas.openxmlformats.org/drawingml/2006/main">
            <a:r>
              <a:t>Derived from raw Linux CLOCK_THREAD_CPUTIME_ID and CLOCK_MONOTONIC_RAW loop totals in results/linux_axi_spi_bringup_20261013/linux_benchmark_20261014.log.</a:t>
            </a:r>
          </a:p>
          <a:p xmlns:a="http://schemas.openxmlformats.org/drawingml/2006/main">
            <a:r>
              <a:t>Framework status and scope: results/SOW_2E_BENCHMARK_FRAMEWORK_STATUS_20261014.md. The utilization percentage is per benchmark thread normalized to one CPU core, not total system CPU utilization.</a:t>
            </a:r>
          </a:p>
          <a:p xmlns:a="http://schemas.openxmlformats.org/drawingml/2006/main">
            <a:r>
              <a:t>Physical closure experiment and remaining metric definitions: results/SOW_2E_BENCHMARK_CLOSURE_EXPERIMENT_20261015.md.</a:t>
            </a:r>
          </a:p>
          <a:p xmlns:a="http://schemas.openxmlformats.org/drawingml/2006/main">
            <a:r>
              <a:t>Paired sustained observations and clock/CPU limitations: results/task2e_sustainable_runner_20261016/SOW_2E_PAIRED_SUSTAINED_RESULTS_20261017.md and clock_readback_20261017.md.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results/SOW_2G_AB_UPDATE_PROTOTYPE_20261014.md.</a:t>
            </a:r>
          </a:p>
          <a:p xmlns:a="http://schemas.openxmlformats.org/drawingml/2006/main">
            <a:r>
              <a:t>Prototype: linux/appliance/ab_update_prototype.py. Tests: tests/test_task2g_ab_update.py.</a:t>
            </a:r>
          </a:p>
          <a:p xmlns:a="http://schemas.openxmlformats.org/drawingml/2006/main">
            <a:r>
              <a:t>Existing on-target U-Boot environment fallback evidence: results/SOW_2G_RECOVERY_20260909.md; it is a single-copy CRC fallback, not image/rootfs update recovery.</a:t>
            </a:r>
          </a:p>
          <a:p xmlns:a="http://schemas.openxmlformats.org/drawingml/2006/main">
            <a:r>
              <a:t>All four host tests passed on 2026-10-14. The diagram depicts reference logic, not an installed or hardware-rooted boot chain.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Diagnostic report: results/vivado_license_diagnostic_20261015/README.md.</a:t>
            </a:r>
          </a:p>
          <a:p xmlns:a="http://schemas.openxmlformats.org/drawingml/2006/main">
            <a:r>
              <a:t>Successful Vivado 2025.1 synthesis transcript: results/vivado_license_diagnostic_20261015/zcu9eg_license_synthesis.log.</a:t>
            </a:r>
          </a:p>
          <a:p xmlns:a="http://schemas.openxmlformats.org/drawingml/2006/main">
            <a:r>
              <a:t>AMD Vivado 2025.1 UG973, Supported Devices: https://docs.amd.com/r/2025.1-English/ug973-vivado-release-notes-install-license/Supported-Devices. The Enterprise edition supports all Zynq UltraScale+ MPSoC devices.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report: results/SOW_2G_ZCU102_HARDENING_DEMO_20261015.md.</a:t>
            </a:r>
          </a:p>
          <a:p xmlns:a="http://schemas.openxmlformats.org/drawingml/2006/main">
            <a:r>
              <a:t>Target source/build: linux/appliance/hardening_contrast_board.c and scripts/build_task2g_board_demo.py. The application ran on newQspi, Linux 6.12.10-xilinx, and verified its RSA/SHA-256 fixture through target libcrypto.so.3.</a:t>
            </a:r>
          </a:p>
          <a:p xmlns:a="http://schemas.openxmlformats.org/drawingml/2006/main">
            <a:r>
              <a:t>Target executable SHA-256: 0ca6af020d16ea8174ec3d2f7ff625b1dd727870b1f28753898f51a98646f8e8. Captured output: results/task2g_board_contrast_20261015/target_run.log.</a:t>
            </a:r>
          </a:p>
          <a:p xmlns:a="http://schemas.openxmlformats.org/drawingml/2006/main">
            <a:r>
              <a:t>All file slots were in /tmp and removed by the application. The baseline intentionally lacks signature verification and recovery. The health failure and interrupted write are injected software cases, not a physical reset or boot test.</a:t>
            </a:r>
          </a:p>
          <a:p xmlns:a="http://schemas.openxmlformats.org/drawingml/2006/main">
            <a:r>
              <a:t>Tests: tests/test_task2g_board_demo_host.py and tests/test_task2g_ab_update.py. Target execution proves the user-space demo on the board, not its BootROM/FSBL/TF-A/U-Boot chain.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results/SOW_2G_PETALINUX_FIT_20261015.md. Build configuration templates: linux/appliance/verified_update/petalinux/.</a:t>
            </a:r>
          </a:p>
          <a:p xmlns:a="http://schemas.openxmlformats.org/drawingml/2006/main">
            <a:r>
              <a:t>Raw evidence, signed FIT, control DTB, tampered FIT, logs, metadata, and SHA-256 manifest: results/task2g_petalinux_fit_20261015/. Reproduce validation with scripts/task2g_verify_petalinux_fit.py.</a:t>
            </a:r>
          </a:p>
          <a:p xmlns:a="http://schemas.openxmlformats.org/drawingml/2006/main">
            <a:r>
              <a:t>PetaLinux project XSA SHA-256 exactly matches the validated 2026-09-29 XSA (e8b4626edb5949bc8adb14ae259802cdd24b16ea3f02daf0dd8fdbeb1cc0e7d7); deployed bitstream SHA-256 also matches (90f93479dd47c505b8f9e4fe6f4f18e853f8923d081f4b2037401ed3cb46994a). FIT DTB hash matches the regenerated system DTB.</a:t>
            </a:r>
          </a:p>
          <a:p xmlns:a="http://schemas.openxmlformats.org/drawingml/2006/main">
            <a:r>
              <a:t>U-Boot compiled and deployed. PetaLinux wrapper returned nonzero due unrelated exit-139 package tasks; relevant U-Boot, FIT, device-tree, and bitstream outputs were present and individually verified.</a:t>
            </a:r>
          </a:p>
          <a:p xmlns:a="http://schemas.openxmlformats.org/drawingml/2006/main">
            <a:r>
              <a:t>Signing key is disposable and remains outside the repository under the local PetaLinux build tree; it is not a production key. The valid image build is host-side evidence only and was not flashed to the target.</a:t>
            </a:r>
          </a:p>
          <a:p xmlns:a="http://schemas.openxmlformats.org/drawingml/2006/main">
            <a:r>
              <a:t>The embedded key node is required; signature algorithm is sha256,rsa2048. On payload modification, fit_check_sign reported “Bad hash value” and “Bad Data Hash”.</a:t>
            </a:r>
          </a:p>
          <a:p xmlns:a="http://schemas.openxmlformats.org/drawingml/2006/main">
            <a:r>
              <a:t>This is not hardware-rooted secure boot: BootROM/FSBL/TF-A/U-Boot authentication, protected key provisioning, persistent A/B slots and bootcount, Linux health confirmation, and target interruption testing remain open.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target audit report and raw serial capture: results/task2g_live_board_audit_20261015/README.md and serial_session.log. Generated boot-script audit: results/task2g_bootflow_audit_20261015/.</a:t>
            </a:r>
          </a:p>
          <a:p xmlns:a="http://schemas.openxmlformats.org/drawingml/2006/main">
            <a:r>
              <a:t>Live SD boot.scr SHA-256 6c555e630e15ae1c7446f606cb99cfe5c52a0fde4e9deb2fa4e418c5d598b608 matches the captured generated script. The live image.ub SHA-256 is 446dd4756b4be2c29d513594e42adf45f0c90a362d2714dcc56f9ddbd5292bf0; required-key fit_check_sign failed because it has no signature subnode.</a:t>
            </a:r>
          </a:p>
          <a:p xmlns:a="http://schemas.openxmlformats.org/drawingml/2006/main">
            <a:r>
              <a:t>The kernel log reports firmware msu2_ratio2_j55_c27bb684.bit.bin loaded; its SHA-256 is c27bb684ca843e173585aed50096f95692530444b808ec948006dbb0d67f56fd, matching the validated Sep 29 bit.bin artifact. The FPGA manager reports operating.</a:t>
            </a:r>
          </a:p>
          <a:p xmlns:a="http://schemas.openxmlformats.org/drawingml/2006/main">
            <a:r>
              <a:t>Read-only fw_printenv from the SD copy showed bootcmd=run distro_bootcmd, broad boot_targets (mmc0 jtag mmc0 mmc1 qspi0 nand0 usb0 usb1 scsi0 pxe dhcp), bootdelay=5, bootseq=0, and unset bootlimit/upgrade_available. Rootfs is ram0 and the SD card has only mmcblk0p1. fw_setenv is not present in the running rootfs.</a:t>
            </a:r>
          </a:p>
          <a:p xmlns:a="http://schemas.openxmlformats.org/drawingml/2006/main">
            <a:r>
              <a:t>The signed FIT built with PetaLinux 2025.2 remains host-side and was not installed or booted. The boot-chain is not trusted until the running U-Boot and earlier BootROM/FSBL chain authenticate policy and image. No board media, FPGA, or persistent environment was modified; only temporary fw_env config/symlinks were created under /tmp.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Revalidation report: results/linux_axi_spi_revalidation_20261016/README.md. Fixed-trial Linux log and rows are in that directory; the paired CSV is linux_vs_baremetal_fixed_trial_20261016.csv.</a:t>
            </a:r>
          </a:p>
          <a:p xmlns:a="http://schemas.openxmlformats.org/drawingml/2006/main">
            <a:r>
              <a:t>Bare-metal raw capture and metrics: results/task2e_sustainable_runner_20261016/baremetal_reboot_capture_20261016.raw.log and baremetal_reboot_metrics_20261016.csv. Both paths completed 11 sizes × 1,000 transfers with zero reported errors or receive mismatches.</a:t>
            </a:r>
          </a:p>
          <a:p xmlns:a="http://schemas.openxmlformats.org/drawingml/2006/main">
            <a:r>
              <a:t>The September 29 FPGA image hash was verified from the target SD source and staged Linux firmware file. FPGA Manager reported operating; it does not expose a bitstream readback hash. Linux clock framework showed IOPLL 1.49985 GHz and PL0 99.990 MHz. The 49.995 MHz SPI speed is the Linux requested/readback value; J55 SCK was measured at about 51 MHz previously for this exact image/configuration, but was not remeasured here.</a:t>
            </a:r>
          </a:p>
          <a:p xmlns:a="http://schemas.openxmlformats.org/drawingml/2006/main">
            <a:r>
              <a:t>The Linux benchmark uses CLOCK_MONOTONIC_RAW; bare metal uses XTime_GetTime. Post-run clock-register readback supports a derived 1.19988 GHz A53 full-rate clock and 99.990 MHz PL0. Effective payload rate is payload bytes divided by measured mean latency and is not physical wire throughput. The comparison is a same-workload board result, not causal attribution of kernel overhead.</a:t>
            </a:r>
          </a:p>
          <a:p xmlns:a="http://schemas.openxmlformats.org/drawingml/2006/main">
            <a:r>
              <a:t>Fixed-trial comparison report: results/linux_axi_spi_revalidation_20261016/README.md. Sustained Linux and bare-metal rates are presented on slide 14 and in results/task2e_sustainable_runner_20261016/SOW_2E_PAIRED_SUSTAINED_RESULTS_20261017.md. Physical J55 SCK about 51 MHz was measured previously for the same bitstream/configuration, not during sustained windows. Task 2e is complete as a bounded comparison; backend ordering was not alternated and per-window clock sampling was not performed.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report and interpretation: results/task2e_sustainable_runner_20261016/SOW_2E_PAIRED_SUSTAINED_RESULTS_20261017.md.</a:t>
            </a:r>
          </a:p>
          <a:p xmlns:a="http://schemas.openxmlformats.org/drawingml/2006/main">
            <a:r>
              <a:t>Editable chart source data: results/task2e_sustainable_runner_20261016/linux_baremetal_sustained_comparison_20261016.csv. Per-run raw-derived records: baremetal_sustained_runs_20261016.csv and linux_sustained_runs.csv.</a:t>
            </a:r>
          </a:p>
          <a:p xmlns:a="http://schemas.openxmlformats.org/drawingml/2006/main">
            <a:r>
              <a:t>Linux uses CLOCK_MONOTONIC_RAW; bare metal uses XTime_GetTime. Bare-metal occupancy is a busy-wait execution-model figure, not a PMU measure. Physical SCK (~51 MHz) was previously measured at J55 for the same bitstream/configuration but not remeasured during these windows. Clock readback detail: results/task2e_sustainable_runner_20261016/clock_readback_20261017.md. Linux ran before bare metal; order effects were not controlled.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2698b50c024f3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8b1f08ef9b470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c14a790a9d447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421c9493b2440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1fa6ef16e9433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ead2d8b52241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273DA13-5E3C-4FFC-9B6E-9A996834F3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8A4CF39-EB72-46A5-982D-ED878091657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88BFEB8-E9CE-4A2E-9867-1E44E2D50F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D812C76-8B89-4D9E-9CE5-FEA02A5933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B4098BB-DE12-4BB7-AB90-82284DFE45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177249E-5258-4307-9516-CDD77D63BB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447958B-DD0B-4CED-984D-A55AFC1246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6E76045-142E-43BB-966B-23FC6EE6209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B75E486-3F0B-49B3-BE0C-2F2C02B7A6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6AB2B52-4A28-4236-BE77-2C759D656E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7a24f00eae41f4" /><Relationship Type="http://schemas.openxmlformats.org/officeDocument/2006/relationships/slideLayout" Target="/ppt/slideLayouts/slideLayout1.xml" Id="R9793761f5fd9481d" /><Relationship Type="http://schemas.openxmlformats.org/officeDocument/2006/relationships/slideLayout" Target="/ppt/slideLayouts/slideLayout2.xml" Id="Raa3561187ad04de9" /><Relationship Type="http://schemas.openxmlformats.org/officeDocument/2006/relationships/slideLayout" Target="/ppt/slideLayouts/slideLayout3.xml" Id="R638a6afe71654e0e" /><Relationship Type="http://schemas.openxmlformats.org/officeDocument/2006/relationships/slideLayout" Target="/ppt/slideLayouts/slideLayout4.xml" Id="R55f11e9cd8d147bc" /><Relationship Type="http://schemas.openxmlformats.org/officeDocument/2006/relationships/slideLayout" Target="/ppt/slideLayouts/slideLayout5.xml" Id="R849fe77cedc34f32" /><Relationship Type="http://schemas.openxmlformats.org/officeDocument/2006/relationships/slideLayout" Target="/ppt/slideLayouts/slideLayout6.xml" Id="R5198794eec9648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93761f5fd9481d"/>
    <p:sldLayoutId xmlns:r="http://schemas.openxmlformats.org/officeDocument/2006/relationships" id="2147483650" r:id="Raa3561187ad04de9"/>
    <p:sldLayoutId xmlns:r="http://schemas.openxmlformats.org/officeDocument/2006/relationships" id="2147483651" r:id="R638a6afe71654e0e"/>
    <p:sldLayoutId xmlns:r="http://schemas.openxmlformats.org/officeDocument/2006/relationships" id="2147483652" r:id="R55f11e9cd8d147bc"/>
    <p:sldLayoutId xmlns:r="http://schemas.openxmlformats.org/officeDocument/2006/relationships" id="2147483653" r:id="R849fe77cedc34f32"/>
    <p:sldLayoutId xmlns:r="http://schemas.openxmlformats.org/officeDocument/2006/relationships" id="2147483654" r:id="R5198794eec9648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2662a4a13e47b8" /><Relationship Type="http://schemas.openxmlformats.org/officeDocument/2006/relationships/notesSlide" Target="/ppt/notesSlides/notesSlide1.xml" Id="R458ca8d428ae49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1ceb8c418c4f17" /><Relationship Type="http://schemas.openxmlformats.org/officeDocument/2006/relationships/chart" Target="/ppt/slides/charts/chart1.xml" Id="R6fe6f7c900984ecf" /><Relationship Type="http://schemas.openxmlformats.org/officeDocument/2006/relationships/notesSlide" Target="/ppt/notesSlides/notesSlide2.xml" Id="R2c88c7e78eff4a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6e23b256954b64" /><Relationship Type="http://schemas.openxmlformats.org/officeDocument/2006/relationships/chart" Target="/ppt/slides/charts/chart2.xml" Id="R531daf5e6d6944f0" /><Relationship Type="http://schemas.openxmlformats.org/officeDocument/2006/relationships/notesSlide" Target="/ppt/notesSlides/notesSlide3.xml" Id="R60a14e7bb50e43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5dbe35f28d43eb" /><Relationship Type="http://schemas.openxmlformats.org/officeDocument/2006/relationships/chart" Target="/ppt/slides/charts/chart3.xml" Id="R123f38c4f52a499c" /><Relationship Type="http://schemas.openxmlformats.org/officeDocument/2006/relationships/notesSlide" Target="/ppt/notesSlides/notesSlide4.xml" Id="Rac868bd3166b48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e042110c2b4e9e" /><Relationship Type="http://schemas.openxmlformats.org/officeDocument/2006/relationships/notesSlide" Target="/ppt/notesSlides/notesSlide5.xml" Id="R849f5027e3b74a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442106019f4f42" /><Relationship Type="http://schemas.openxmlformats.org/officeDocument/2006/relationships/notesSlide" Target="/ppt/notesSlides/notesSlide6.xml" Id="R4859c8fe1cc34d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5fda9219db46c4" /><Relationship Type="http://schemas.openxmlformats.org/officeDocument/2006/relationships/chart" Target="/ppt/slides/charts/chart4.xml" Id="Rf57fcfbeaf2a46b0" /><Relationship Type="http://schemas.openxmlformats.org/officeDocument/2006/relationships/notesSlide" Target="/ppt/notesSlides/notesSlide7.xml" Id="Rba4d3539bd534e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04a22cac3b4c0b" /><Relationship Type="http://schemas.openxmlformats.org/officeDocument/2006/relationships/notesSlide" Target="/ppt/notesSlides/notesSlide8.xml" Id="Rb90159451d2744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ba943f1896480c" /><Relationship Type="http://schemas.openxmlformats.org/officeDocument/2006/relationships/notesSlide" Target="/ppt/notesSlides/notesSlide9.xml" Id="R69599351b6f1475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7b8ec7918f4366" /><Relationship Type="http://schemas.openxmlformats.org/officeDocument/2006/relationships/notesSlide" Target="/ppt/notesSlides/notesSlide10.xml" Id="R0f7d614a13c4459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467e1dc5b24a56" /><Relationship Type="http://schemas.openxmlformats.org/officeDocument/2006/relationships/notesSlide" Target="/ppt/notesSlides/notesSlide11.xml" Id="R6cceacc76eca45e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c89eb04fa748d9" /><Relationship Type="http://schemas.openxmlformats.org/officeDocument/2006/relationships/notesSlide" Target="/ppt/notesSlides/notesSlide12.xml" Id="Rf733a5b7f55d4fd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cc6b0e03594e25" /><Relationship Type="http://schemas.openxmlformats.org/officeDocument/2006/relationships/chart" Target="/ppt/slides/charts/chart5.xml" Id="Rda9104664649446c" /><Relationship Type="http://schemas.openxmlformats.org/officeDocument/2006/relationships/notesSlide" Target="/ppt/notesSlides/notesSlide13.xml" Id="Ra91576c1872f42f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feb9946fcc461e" /><Relationship Type="http://schemas.openxmlformats.org/officeDocument/2006/relationships/chart" Target="/ppt/slides/charts/chart6.xml" Id="Ra5c08591b6074369" /><Relationship Type="http://schemas.openxmlformats.org/officeDocument/2006/relationships/notesSlide" Target="/ppt/notesSlides/notesSlide14.xml" Id="R79ff72df95294092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Bare metal</c:v>
          </c:tx>
          <c:spPr>
            <a:ln xmlns:a="http://schemas.openxmlformats.org/drawingml/2006/main" w="28575">
              <a:solidFill>
                <a:srgbClr val="1B6E78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1B6E78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0.144473</c:v>
              </c:pt>
              <c:pt idx="1">
                <c:v>0.472995</c:v>
              </c:pt>
              <c:pt idx="2">
                <c:v>0.565012</c:v>
              </c:pt>
              <c:pt idx="3">
                <c:v>0.659972</c:v>
              </c:pt>
              <c:pt idx="4">
                <c:v>0.679065</c:v>
              </c:pt>
              <c:pt idx="5">
                <c:v>0.689037</c:v>
              </c:pt>
              <c:pt idx="6">
                <c:v>0.875261</c:v>
              </c:pt>
              <c:pt idx="7">
                <c:v>1.015504</c:v>
              </c:pt>
              <c:pt idx="8">
                <c:v>1.154327</c:v>
              </c:pt>
              <c:pt idx="9">
                <c:v>1.19514</c:v>
              </c:pt>
              <c:pt idx="10">
                <c:v>1.205804</c:v>
              </c:pt>
            </c:numLit>
          </c:val>
          <c:smooth val="0"/>
        </c:ser>
        <c:ser>
          <c:idx val="1"/>
          <c:order val="1"/>
          <c:tx>
            <c:v>Linux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0.035675</c:v>
              </c:pt>
              <c:pt idx="1">
                <c:v>0.263393</c:v>
              </c:pt>
              <c:pt idx="2">
                <c:v>0.477724</c:v>
              </c:pt>
              <c:pt idx="3">
                <c:v>0.99107</c:v>
              </c:pt>
              <c:pt idx="4">
                <c:v>1.20376</c:v>
              </c:pt>
              <c:pt idx="5">
                <c:v>1.349884</c:v>
              </c:pt>
              <c:pt idx="6">
                <c:v>1.426504</c:v>
              </c:pt>
              <c:pt idx="7">
                <c:v>1.468349</c:v>
              </c:pt>
              <c:pt idx="8">
                <c:v>1.502335</c:v>
              </c:pt>
              <c:pt idx="9">
                <c:v>1.511506</c:v>
              </c:pt>
              <c:pt idx="10">
                <c:v>1.51398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Effective payload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0636B"/>
              </a:solidFill>
              <a:latin typeface="Liberation Sans"/>
              <a:ea typeface="Liberation Sans"/>
              <a:cs typeface="Liberation Sans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Simulated effective rate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6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</c:strLit>
          </c:cat>
          <c:val>
            <c:numLit>
              <c:formatCode>0.0</c:formatCode>
              <c:ptCount val="6"/>
              <c:pt idx="0">
                <c:v>0.346021</c:v>
              </c:pt>
              <c:pt idx="1">
                <c:v>0.688468</c:v>
              </c:pt>
              <c:pt idx="2">
                <c:v>0.735294</c:v>
              </c:pt>
              <c:pt idx="3">
                <c:v>0.76757</c:v>
              </c:pt>
              <c:pt idx="4">
                <c:v>0.775476</c:v>
              </c:pt>
              <c:pt idx="5">
                <c:v>0.778352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0.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Effective simulated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64 KiB standard deviation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4"/>
              <c:pt idx="0">
                <c:v>1,200 MHz</c:v>
              </c:pt>
              <c:pt idx="1">
                <c:v>600 MHz</c:v>
              </c:pt>
              <c:pt idx="2">
                <c:v>400 MHz</c:v>
              </c:pt>
              <c:pt idx="3">
                <c:v>300 MHz</c:v>
              </c:pt>
            </c:strLit>
          </c:cat>
          <c:val>
            <c:numLit>
              <c:formatCode>0</c:formatCode>
              <c:ptCount val="4"/>
              <c:pt idx="0">
                <c:v>3.87</c:v>
              </c:pt>
              <c:pt idx="1">
                <c:v>5.17</c:v>
              </c:pt>
              <c:pt idx="2">
                <c:v>8.65</c:v>
              </c:pt>
              <c:pt idx="3">
                <c:v>14.23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A53 CPU operating point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Latency standard deviation (µs)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Linux benchmark thread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</c:formatCode>
              <c:ptCount val="11"/>
              <c:pt idx="0">
                <c:v>67.876</c:v>
              </c:pt>
              <c:pt idx="1">
                <c:v>68.199</c:v>
              </c:pt>
              <c:pt idx="2">
                <c:v>66.691</c:v>
              </c:pt>
              <c:pt idx="3">
                <c:v>46.809</c:v>
              </c:pt>
              <c:pt idx="4">
                <c:v>38.577</c:v>
              </c:pt>
              <c:pt idx="5">
                <c:v>32.88</c:v>
              </c:pt>
              <c:pt idx="6">
                <c:v>18.051</c:v>
              </c:pt>
              <c:pt idx="7">
                <c:v>10.002</c:v>
              </c:pt>
              <c:pt idx="8">
                <c:v>3.577</c:v>
              </c:pt>
              <c:pt idx="9">
                <c:v>1.912</c:v>
              </c:pt>
              <c:pt idx="10">
                <c:v>1.474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Thread CPU time / loop wall time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Linux (latency-derived rate)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0.039606</c:v>
              </c:pt>
              <c:pt idx="1">
                <c:v>0.265803</c:v>
              </c:pt>
              <c:pt idx="2">
                <c:v>0.477591</c:v>
              </c:pt>
              <c:pt idx="3">
                <c:v>0.990138</c:v>
              </c:pt>
              <c:pt idx="4">
                <c:v>1.196483</c:v>
              </c:pt>
              <c:pt idx="5">
                <c:v>1.337257</c:v>
              </c:pt>
              <c:pt idx="6">
                <c:v>1.411314</c:v>
              </c:pt>
              <c:pt idx="7">
                <c:v>1.451632</c:v>
              </c:pt>
              <c:pt idx="8">
                <c:v>1.484795</c:v>
              </c:pt>
              <c:pt idx="9">
                <c:v>1.493652</c:v>
              </c:pt>
              <c:pt idx="10">
                <c:v>1.496068</c:v>
              </c:pt>
            </c:numLit>
          </c:val>
          <c:smooth val="0"/>
        </c:ser>
        <c:ser>
          <c:idx val="1"/>
          <c:order val="1"/>
          <c:tx>
            <c:v>Bare metal (latency-derived rate)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square"/>
            <c:size val="7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0.143845</c:v>
              </c:pt>
              <c:pt idx="1">
                <c:v>0.472271</c:v>
              </c:pt>
              <c:pt idx="2">
                <c:v>0.564728</c:v>
              </c:pt>
              <c:pt idx="3">
                <c:v>0.659896</c:v>
              </c:pt>
              <c:pt idx="4">
                <c:v>0.679004</c:v>
              </c:pt>
              <c:pt idx="5">
                <c:v>0.688989</c:v>
              </c:pt>
              <c:pt idx="6">
                <c:v>0.871459</c:v>
              </c:pt>
              <c:pt idx="7">
                <c:v>1.007844</c:v>
              </c:pt>
              <c:pt idx="8">
                <c:v>1.142011</c:v>
              </c:pt>
              <c:pt idx="9">
                <c:v>1.181295</c:v>
              </c:pt>
              <c:pt idx="10">
                <c:v>1.19155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Derived payload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0636B"/>
              </a:solidFill>
              <a:latin typeface="Liberation Sans"/>
              <a:ea typeface="Liberation Sans"/>
              <a:cs typeface="Liberation Sans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Linux median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0.057752521</c:v>
              </c:pt>
              <c:pt idx="1">
                <c:v>0.266413556</c:v>
              </c:pt>
              <c:pt idx="2">
                <c:v>0.472585093</c:v>
              </c:pt>
              <c:pt idx="3">
                <c:v>0.98231498</c:v>
              </c:pt>
              <c:pt idx="4">
                <c:v>1.191949759</c:v>
              </c:pt>
              <c:pt idx="5">
                <c:v>1.333201</c:v>
              </c:pt>
              <c:pt idx="6">
                <c:v>1.40799965</c:v>
              </c:pt>
              <c:pt idx="7">
                <c:v>1.449179768</c:v>
              </c:pt>
              <c:pt idx="8">
                <c:v>1.483122032</c:v>
              </c:pt>
              <c:pt idx="9">
                <c:v>1.492404617</c:v>
              </c:pt>
              <c:pt idx="10">
                <c:v>1.494882206</c:v>
              </c:pt>
            </c:numLit>
          </c:val>
          <c:smooth val="0"/>
        </c:ser>
        <c:ser>
          <c:idx val="1"/>
          <c:order val="1"/>
          <c:tx>
            <c:v>Bare-metal median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square"/>
            <c:size val="7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0.141829794</c:v>
              </c:pt>
              <c:pt idx="1">
                <c:v>0.467718099</c:v>
              </c:pt>
              <c:pt idx="2">
                <c:v>0.56064601</c:v>
              </c:pt>
              <c:pt idx="3">
                <c:v>0.655888606</c:v>
              </c:pt>
              <c:pt idx="4">
                <c:v>0.674999375</c:v>
              </c:pt>
              <c:pt idx="5">
                <c:v>0.684938151</c:v>
              </c:pt>
              <c:pt idx="6">
                <c:v>0.865134151</c:v>
              </c:pt>
              <c:pt idx="7">
                <c:v>0.999455378</c:v>
              </c:pt>
              <c:pt idx="8">
                <c:v>1.131240622</c:v>
              </c:pt>
              <c:pt idx="9">
                <c:v>1.169754492</c:v>
              </c:pt>
              <c:pt idx="10">
                <c:v>1.17969579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Verified application payload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0636B"/>
              </a:solidFill>
              <a:latin typeface="Liberation Sans"/>
              <a:ea typeface="Liberation Sans"/>
              <a:cs typeface="Liberation Sans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160AD0-5823-4788-B340-5EA9EE99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1DAE63-A9B0-4B65-A2B9-F5C42168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2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MORGAN STATE UNIVERSITY  /  MSU-2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5B7F90-F779-4154-8471-6BC155B9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9810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2: SPI performance,</a:t>
            </a:r>
          </a:p>
          <a:p xmlns:a="http://schemas.openxmlformats.org/drawingml/2006/main">
            <a: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determinism and secure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BC21B0-AB05-4DCD-87AB-13F7B197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923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Evidence review: completed comparisons, simulation findings, and remaining verification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B7F615-EAA5-4FA7-A566-095AF94F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ZCU102  ·  AXI Quad SPI  ·  J55 loopback  ·  Evidence through 17 October 2026</a:t>
            </a:r>
          </a:p>
        </p:txBody>
      </p:sp>
    </p:spTree>
    <p:extLst>
      <p:ext uri="{BB962C8B-B14F-4D97-AF65-F5344CB8AC3E}">
        <p14:creationId xmlns:p14="http://schemas.microsoft.com/office/powerpoint/2010/main" val="8535303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A7E4CA-4EAD-4A31-81E1-C8F9CBE0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2A  /  PERFORMANCE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BB27AC-6A49-493D-9681-D7C822C1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and bare metal cross over by payload size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B59C08-5AEC-4CFA-B579-5A2DBC33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F62AC7-C557-4142-BE7C-CA45743F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02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31E14F0D-AFA0-4913-B3DB-BD803935222D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fe6f7c900984ec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BAF31C-78C3-49C4-9ADE-C62E5ABC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11,000 transfers per 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8EE7F-C793-418E-9D17-B7E15815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0030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Zero API errors and zero RX mismatches in both captured runs.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A03311-0557-479A-BFD2-9EA6AF90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766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Crossover: 16–64 bytes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B93CAA-C66A-4A78-9E4B-A874376C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86175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Linux is slower for 1–16 B and faster from 64 B upward in this run. Rates include end-to-end software cost; they are not wire throughput.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B1F202-420B-437A-A0A5-785E1FFE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482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Measured paths: SPI ioctl vs XSpi interrupt transfer.</a:t>
            </a:r>
          </a:p>
        </p:txBody>
      </p:sp>
    </p:spTree>
    <p:extLst>
      <p:ext uri="{BB962C8B-B14F-4D97-AF65-F5344CB8AC3E}">
        <p14:creationId xmlns:p14="http://schemas.microsoft.com/office/powerpoint/2010/main" val="2927521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BAAD55-BFAB-4D30-808C-AB3DC52A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2B  /  PIO AND DMA MECHANISMS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B30AAF-8690-409A-8D95-9202A5E0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CDMA loopback simulation passes six payload sizes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83AA83-65F9-4AA5-B4B0-255754D1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C23B75-170E-4CA4-A31B-929FA9E1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03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FCDDEE1E-F6DE-46E7-BC91-5F6D359115AB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31daf5e6d6944f0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343F93-70CB-4C4C-873C-13535609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2b assessment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E2B3C0-7FA5-45B1-9863-4A0A12F6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57450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6 / 6 simulated DMA sizes passed; every received byte matched.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D2740-B336-4A0B-8870-5B60E090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76625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What this proves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BF96DA-703E-483E-9D05-096D23F7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86200"/>
            <a:ext cx="3048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The AXI CDMA keyhole path can feed the modeled AXI Quad SPI DTR and complete internal-loopback transfers.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EB9DF8-8AFF-40B3-8891-4AB039D68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53000"/>
            <a:ext cx="3048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PIO is physically measured on slide 2. DMA points here are simulation only; no physical DMA or crossover is claimed.</a:t>
            </a:r>
          </a:p>
        </p:txBody>
      </p:sp>
    </p:spTree>
    <p:extLst>
      <p:ext uri="{BB962C8B-B14F-4D97-AF65-F5344CB8AC3E}">
        <p14:creationId xmlns:p14="http://schemas.microsoft.com/office/powerpoint/2010/main" val="16276967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D484B2-E770-4BC6-A2DC-9DD84E7F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2C  /  REAL-TIME SUITABILITY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CC114B-CB19-4976-B173-B7F8A490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timing spread grows as CPU frequency falls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7E255A-1D7F-4B6F-AF63-BD4D763A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D4F8E7-A5AC-4632-854B-8AF7B008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04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FB518623-50B6-482F-82FB-AAE51D580641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23f38c4f52a499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8AEE36-FD91-4DDF-AEFB-CD839977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2c assessment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A4D1B4-1009-408D-8955-4992B258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44,000 frequency-sweep transfers; zero reported errors.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36A0C8-23EE-4A72-AF50-FDAC5831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81375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rPr>
              <a:t>At 64 KiB, standard deviation rises 3.7× from 1,200 to 300 MHz.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610FDF-5E44-4294-98E5-77B36CD7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33875"/>
            <a:ext cx="304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Observed timing is variable and frequency-sensitive. These captures do not define a deadline or establish hard real-time behavior; they do not identify the cause of the spread.</a:t>
            </a:r>
          </a:p>
        </p:txBody>
      </p:sp>
    </p:spTree>
    <p:extLst>
      <p:ext uri="{BB962C8B-B14F-4D97-AF65-F5344CB8AC3E}">
        <p14:creationId xmlns:p14="http://schemas.microsoft.com/office/powerpoint/2010/main" val="13960200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7F718C-13F9-4E64-A040-64E374BD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STATUS  /  17 OCTOBER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671A3F-900B-4314-9725-37EC2D26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 status against the SOW activity 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9612AC-F274-4D3A-9CBA-0188FEC4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2714B0-64FF-4711-8C9D-38F42FC2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634EF4-7A52-4579-B131-E9844989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301BDB-63CF-46AA-8276-EAED1648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2a  Performance gaps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EDDBC1-B35D-42F1-8E93-3A9C9546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6573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446860-01D7-449B-9473-0C2A1052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573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Revalidated 11 sizes × 1,000 on both paths; zero errors. Bounded comparison, not causal kernel-only attribution.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D371C2-03FA-482D-A846-C54A7992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38EDA0-FC1B-4BB6-B23B-41C07EAD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2b  PIO and DMA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776937-334F-456D-9E42-4C39EFE2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860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Assessment complete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A1AE43-4B38-4AAD-89B0-C6DA4F49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8600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Physical PIO; six-size CDMA simulation; ZDMA result invalid for performance. No physical DMA crossover.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0CEFF6-A371-4FE8-96CA-6E1B2B56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70650F-60C2-4EDE-B4CB-ADC57817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2c  Real-time suitability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5C345C-41C6-44AF-95EA-BB2E3769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146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Assessment complete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E9BDFB-8E1C-4320-9D8F-2AD17BF8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146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Best-effort latency and jitter characterized; no hard deadline or deterministic guarantee established.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B4E2AC-1A9F-4108-AD9C-894DC124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F8850F-A5AE-4100-A66B-4985CF0A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4330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2d  System hardening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758FE5-1A19-4022-BD64-60C72903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433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Design 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2F344D-50D6-4337-83E4-D7F1BF10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4330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Design documented. Verified boot, reliable updates and automatic recovery are not deployed.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DF8DFB-FF28-4596-AFF5-AFCF2BD1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48DD78-ACE0-49C9-931F-CFC58F08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2e  Benchmark framework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7E17DD-EF54-4946-8999-280E57DC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719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Complete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327D1A-EDC0-4E6A-B4F2-2A2B807E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719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66/66 sustained points and fixed ladder pass. Clock evidence supports a bounded comparison; per-window sampling and causal OS attribution remain out of scope.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4D4F8A-B4AA-4A1B-A7B4-84D79DEA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2CAEEA-C305-4317-8AC5-AFA54D36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2f  OS tuning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B2A192-EC0F-4068-96BE-C4017D91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8006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C636E6-76EF-4999-9BE1-A7BD3EBC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80060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CPU-frequency sweep done; preemption-model and physical optimized-DMA comparison remain open.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8F10EA-F214-4581-BE92-8AF19595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CF0FAE-CC5A-4578-947C-8EA1BCBE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2g  Minimal appliance/security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AAD23A-C998-4E08-8023-E89192B8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4292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5DF3BF-DB20-4AA7-ADA8-358AB14D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4292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Prototypes pass defined tests; active boot is unsigned and integrated target recovery remains open.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7E0BE3-DBCF-48ED-9D3E-2194EE55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SOW wording is authoritative; 2a–2g are internal labels. Task 1 and formal reporting deliverables are assessed separately.</a:t>
            </a:r>
          </a:p>
        </p:txBody>
      </p:sp>
    </p:spTree>
    <p:extLst>
      <p:ext uri="{BB962C8B-B14F-4D97-AF65-F5344CB8AC3E}">
        <p14:creationId xmlns:p14="http://schemas.microsoft.com/office/powerpoint/2010/main" val="12653058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FC6AF0-B52D-48C9-97C7-0D3C39AA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2D  /  SYSTEM HARDENING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D71F07-C68E-4BAE-AD8C-99BFA46AF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Proposed boot trust and rollback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592F98-0BE0-43BA-83FB-81A8E848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15420-0BAA-4A56-B9F4-39989456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939185-AED0-4C8B-BFD2-B0643E7C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081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BOOT AUTHENTICATION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81145C-EB57-4BB3-9BA8-779BDABE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3305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2d DESIGN CRITERION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EEC84F-A76E-4C6A-93CD-62075068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Immutable key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Approved PPK hash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held by device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FB97D1-88B7-41C2-B668-6B9BB460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913F60-EEA7-43BB-B81F-A6F9B1AD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BootROM + FSBL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 first-stage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010010-69E4-4870-85A6-F400C94B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65278E-7671-403F-B075-F2D7611F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BOOT.BIN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PMUFW, PL,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ATF and U-Boot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3B0D31-E3A8-49F9-858B-D72FC8B0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EE7E7E-7B11-4E32-9A8A-3685ED49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Signed FIT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kernel, DTB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and root filesystem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7C1316-4BD9-4DF4-A9F7-B6EA993DF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B75EA9-9F8F-4E08-BC2B-C87DE1B1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Read-only OS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Run only the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authenticated release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E728C6-D02C-4EAE-AD6D-A9972EA8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81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UPDATE TRANSACTION AND AUTOMATIC ROLLBACK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EBDB28-59BB-4528-B970-77C391D6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Stage inactive slot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Keep confirmed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slot untouched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9333A9-45AA-448B-9437-6200AA22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D1D5C2-FB9A-4AA0-8E92-9A3D0A4A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release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Check signature,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digest and image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3410C1-452A-4F2A-A4A6-1CD14B0F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481772-076B-4BBC-A375-B0DC7454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 boot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Bounded attempt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count and logs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A8B37A-4024-47BA-ACB7-1364677C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2DA7E2-21CA-4E69-BF8C-7FD92FF4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Health check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start + SPI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loopback smoke 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2A8B37-A08F-4783-B4A2-57D89559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C5C0DC-2230-420D-A863-00FCFC51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Confirm / rollback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Mark good or return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to prior slot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C717F4-8A33-4905-AE4F-7EB5EFDD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Design only: no signed boot image or A/B update is deployed. Development boot-header authentication is not fielded eFUSE-rooted trust. No eFUSE was programmed.</a:t>
            </a:r>
          </a:p>
        </p:txBody>
      </p:sp>
    </p:spTree>
    <p:extLst>
      <p:ext uri="{BB962C8B-B14F-4D97-AF65-F5344CB8AC3E}">
        <p14:creationId xmlns:p14="http://schemas.microsoft.com/office/powerpoint/2010/main" val="4947696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14C3E8-7130-4E43-B24A-CD9321D3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2E  /  COMPARATIVE FRAMEWORK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19FE7A-A822-4319-A15E-D12795C6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thread CPU share declines as payload grows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B39D0B-945E-4F21-B025-62342A69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22A884-DB84-427F-B739-01DE5105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07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A63E9CDA-2898-45A5-9724-91B7A113389F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57fcfbeaf2a46b0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C8E52A-58DF-4FA4-96F2-2EAF889C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11,000 paired transfers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D27633-4E22-4139-A20B-8AB35F38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Zero transfer errors and RX mismatches in both recorded runs.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98802D-861E-4463-95E9-28BDE106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71850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Linux thread CPU share: 67.9% at 1 B → 1.5% at 64 KiB.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90F47E-1411-4BC5-9E3E-536A12B7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43400"/>
            <a:ext cx="304800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Fixed-ladder Linux thread share is separate from sustained results. Bare metal reports 100% busy-wait core occupancy, not a PMU reading. Task 2e closes as a bounded framework; per-window clock sampling is outside the claim.</a:t>
            </a:r>
          </a:p>
        </p:txBody>
      </p:sp>
    </p:spTree>
    <p:extLst>
      <p:ext uri="{BB962C8B-B14F-4D97-AF65-F5344CB8AC3E}">
        <p14:creationId xmlns:p14="http://schemas.microsoft.com/office/powerpoint/2010/main" val="2242538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D8F827-1F87-41E5-8350-826C0FFA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MINIMAL STACK AND ROBUST UPDATE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4E0E4B-7633-41CA-9E47-651B7F17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A/B update prototype preserves the confirmed slot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4EE69E-479E-452C-B133-48DD4EC9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B070F-50C8-4D96-9C95-EFC8831E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51A210-868C-4420-B7F0-C86C2956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RSA/SHA-256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signature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E88443-39B7-4A92-8387-DF05AC35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F678EE-2BB1-4166-A92F-634F1B5A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Write inactive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Chunked write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+ fsync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254037-AA91-42AE-90F1-888120DE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C1042B-4B32-47B0-A074-F50F3077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Readback check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Digest + signature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re-verified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4946E1-034E-4D79-91B2-2EE83601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205A51-3401-4780-8720-DC71A42F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 boot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Two bounded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attempts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1C4C22-0886-4B7F-8B2D-50E8AFB9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650D51-68E5-44F8-A190-7EF7411F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Confirm / rollback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Health result selects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new or known-good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09274A-3C88-4A3B-8B56-B8D5F28F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4 / 4 HOST FAULT-INJECTION TESTS PASSED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E6D3B7-B613-4CA2-9856-743EBDD2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048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Confirmed slot A stayed selected after invalid signatures, interrupted writes, boot-limit expiry, and an explicit failed health check.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97182C-0CA5-4E1B-A25A-8861AD16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2400"/>
            <a:ext cx="504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Prototype boundary: host files and JSON control state. No U-Boot, SD-card, signed target image, hardware trust anchor, or ZCU102 power-loss test.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E56A37-7819-429C-A9B1-C03D04AB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2g remains partial until target integration, boot authentication, and recovery fault tests pass.</a:t>
            </a:r>
          </a:p>
        </p:txBody>
      </p:sp>
    </p:spTree>
    <p:extLst>
      <p:ext uri="{BB962C8B-B14F-4D97-AF65-F5344CB8AC3E}">
        <p14:creationId xmlns:p14="http://schemas.microsoft.com/office/powerpoint/2010/main" val="6747001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39AE35-4249-4101-A125-A168F2F0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TOOLCHAIN  /  LICENSE DIAGNOSTIC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B2B2FD-4E9F-4E60-8977-45565B4F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Enterprise license passes ZCU9EG synthesis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807F6A-EE8F-4F6E-AD41-6F26E666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D13DA8-5025-4242-80CF-A27CD50D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25FCF3-3844-44CD-85CD-2A0FF835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Sandboxed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F26FD1-0BD3-4569-ADD1-77D89827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48101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FlexNet could not read the workstation network-interface ID. It reported the node-locked license as invalid; Vivado then surfaced the failed checkout as an expired Synthesis feature.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833396-82C2-4C7B-9826-7ACCC2B0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95450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Normal host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CDDDBF-D53E-4956-BF6D-3B70D3E2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24075"/>
            <a:ext cx="48101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The permanent Enterprise license matched the active workstation NIC. FlexNet approved the node, and Vivado granted Synthesis for xczu9eg.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E50E6A-E10C-4D5A-9448-15395359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71750"/>
            <a:ext cx="6858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D8202B-C95B-4475-8E29-B04B09B81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038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CEA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171450" tIns="133350" rIns="171450" bIns="114300"/>
          <a:lstStyle xmlns:a="http://schemas.openxmlformats.org/drawingml/2006/main">
            <a:defPPr algn="ctr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Fresh synthesis for xczu9eg-ffvb1156-2-e completed with 0 errors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FE5913-E394-44F2-BB07-419C1BC5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This was a small license-check design, not the project build. Synthesis uses the selected FPGA part; it does not communicate with the physical ZCU102 board.</a:t>
            </a:r>
          </a:p>
        </p:txBody>
      </p:sp>
    </p:spTree>
    <p:extLst>
      <p:ext uri="{BB962C8B-B14F-4D97-AF65-F5344CB8AC3E}">
        <p14:creationId xmlns:p14="http://schemas.microsoft.com/office/powerpoint/2010/main" val="15288534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CDB6FA-C735-4582-9DCB-782DFAF2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TARGET EXECUTION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E0244F-3139-4B03-88A3-F939EC87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ZCU102 Linux update-control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8690D2-FF83-4E7D-8840-67298A70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65F977-836E-4FC6-8F3B-B5808A0F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AA5924-1ADE-452C-A215-5E690C0E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TEST 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13CEA2-5CC0-4F3E-AD2F-3034BCAF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76400"/>
            <a:ext cx="3571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UNSAFE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20D9DE-8573-4155-BCE1-6DE8A19F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676400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SIGNED A/B REFERENCE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558CFA-DADD-42E1-81DC-5BBF9612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5EA0A0-26F6-4E99-BD27-8942352E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Valid release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529CB3-BCCC-4E6F-85B0-D819B617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71700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Accepted in place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2F441E-417A-4B12-8375-AE3AAC12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171700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Verified; staged to 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8EC3B9-3C6D-4AB8-86F3-8D135ADC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8FD183-61C1-4946-BE73-CF778E35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Tampered release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3172FB-2E03-4F3D-8F88-3872E8D9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67025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Accepted altered bytes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499CD9-5402-4C0F-BAC0-0FB5C9EE4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867025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Rejected; A unchanged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FADF8D-5C03-4550-90C2-BE8A67C4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55A208-C845-43E5-981B-341169C2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Interrupted write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A9B663-4E95-484C-AE77-4831EE3D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62350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Active A partially overwritten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34C0B6-88CE-436A-B642-5663F569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562350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A retained; no trial published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9F09B8-AD80-49CC-A2C2-2E0A6F37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9AFDC9-1889-4C45-8189-5BD12F61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Failed trial health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E88E9A-FBAB-4838-9FB5-6D5B17CC3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57675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Bad image remains active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B32B37-2139-44B8-AFF5-848C412F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257675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Pending cleared; A selected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5419D1-440A-4FB6-A302-8FC56DEB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62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All four checks passed on the ZCU102 AArch64 Linux system using its OpenSSL runtime and temporary /tmp slots. This did not test BootROM/U-Boot, persistent boot state, or physical power-loss recovery.</a:t>
            </a:r>
          </a:p>
        </p:txBody>
      </p:sp>
    </p:spTree>
    <p:extLst>
      <p:ext uri="{BB962C8B-B14F-4D97-AF65-F5344CB8AC3E}">
        <p14:creationId xmlns:p14="http://schemas.microsoft.com/office/powerpoint/2010/main" val="13799189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CEA020-631B-4A64-AA78-1C90DEEF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SIGNED IMAGE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24C557-8B08-42E8-8614-18DBCFED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PetaLinux FIT signature rejects tampering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80B8D1-E5E9-4256-9DB6-3198C323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42A46D-1A4D-4E6F-8B13-FD2116C5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C01521-7EA7-4FF3-99CF-643285B4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62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U-BOOT 2025.01-XILINX  ·  PETALINUX 2025.2  ·  VALIDATED XSA + BITSTREAM MATCH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5C0256-417F-40A5-BE61-3A6F19BE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27C29D-023D-4183-82E1-AB0C22DF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Kernel + DTB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+ initrd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EB2A1B-8A20-4E84-8052-039122D5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PetaLinux FIT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1FECFD-2018-4848-A252-47A4FAC1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62890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2759DD-3C71-4193-B9F5-AD4A700C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CEBC35-1630-4607-A49C-C79A38C6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RSA-2048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signature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CB036D-E456-4A53-91E3-3548C004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sha256 · msu2-test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14D1AB-D3F6-422A-94F8-1CFFE761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62890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AA443A-0F41-4BD3-97F7-F50C75AE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35A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E7CA81-EBF2-4826-8365-81C3531F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Required key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in U-Boot DTB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DBECE0-56B8-4787-A6CB-37F8E356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key-msu2-test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98ED14-09C8-4CFE-93D0-618D487D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62890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E9B7E8-93E1-4334-A42C-9DD7695A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7A5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E28F70-12B0-4DE7-BCA1-933A7CDE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before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load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5EBD45-2197-4DD3-B7B2-8B6D39F3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fit_check_sign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6D1E82-E3EA-46C0-9962-5642D4F1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4905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SIGNED BUILD  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5CBF90-7EA5-476D-A24D-09BCA508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05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U-Boot fit_check_sign accepted the PetaLinux configuration; FIT SHA-256: ca498597…e37222.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824D7B-D8AC-4926-A33F-47482074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76675"/>
            <a:ext cx="4905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KERNEL BYTE FLIPPED  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621394-ADAA-4660-9927-4F0C9A74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86250"/>
            <a:ext cx="4905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Signature/hash check failed with “Bad Data Hash” before kernel load. Zero altered payload was accepted.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DA4A93-6DBC-41B6-A08D-BFAB2278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62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FIT build and tamper test passed; exact validated XSA/bitstream matched. No ZCU102 boot, trusted BootROM key, A/B rollback, or power-loss test.</a:t>
            </a:r>
          </a:p>
        </p:txBody>
      </p:sp>
    </p:spTree>
    <p:extLst>
      <p:ext uri="{BB962C8B-B14F-4D97-AF65-F5344CB8AC3E}">
        <p14:creationId xmlns:p14="http://schemas.microsoft.com/office/powerpoint/2010/main" val="808791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5F8F3F-EC2E-4F33-980B-C63520DE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BOOT-CHAIN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5D1E9F-6F4D-414A-BD96-B5603E54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Generated boot policy can bypass FIT 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36CF21-4D65-4C7A-AABE-E5AA3641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172987-93ED-428E-842C-1284BA4B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621430-2DB7-447A-86DD-B1F43BEE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LIVE ZCU102  /  newQspi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58F637-AC77-4EFA-A3FE-0A05BE4E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76400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ACTIVE U-BOOT AND SD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CF29A3-9063-4BE0-AD64-24B92F4D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905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6.12.10-xilinx</a:t>
            </a:r>
          </a:p>
          <a:p xmlns:a="http://schemas.openxmlformats.org/drawingml/2006/main">
            <a:pPr algn="l"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PetaLinux 2025.1  ·  root=/dev/ram0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8B3397-4C8A-416C-9DD2-7C5E7145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49053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SD image.ub (446dd475…) fails required-key verification: no signature node. boot.scr (6c555e63…) matches audited raw-boot fallback.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D28A8D-42E2-443F-9B63-B3C826A9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905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FPGA manager: operating. Loaded bitstream hash c27bb684… matches the validated Sep 29 .bit.bin.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D18A27-AB8A-4E53-81F8-5D808169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14550"/>
            <a:ext cx="4905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bootcmd = run distro_bootcmd</a:t>
            </a:r>
          </a:p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boot_targets = mmc0, JTAG, QSPI, NAND, USB, SCSI, PXE, DHCP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36AA92-DCF0-478A-9F71-FA64639F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81325"/>
            <a:ext cx="49053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bootdelay = 5 s. No bootlimit or upgrade_available. One SD partition; Linux root is RAM.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79E0C0-68A2-412E-A3DE-7A38BF44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43350"/>
            <a:ext cx="4905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Host-built signed PetaLinux 2025.2 FIT is not installed or booted.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6BC98B-CAEE-4BCB-A331-689831B3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64FAF6-0399-43C4-8225-D4E7511E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0620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Conclusion: the SPI bitstream is validated, but the live board still runs an unsigned FIT through generic fail-open boot policy. Task 2g remains open until a trusted FIT-only chain and A/B recovery are tested.</a:t>
            </a:r>
          </a:p>
        </p:txBody>
      </p:sp>
    </p:spTree>
    <p:extLst>
      <p:ext uri="{BB962C8B-B14F-4D97-AF65-F5344CB8AC3E}">
        <p14:creationId xmlns:p14="http://schemas.microsoft.com/office/powerpoint/2010/main" val="141524198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473E31-36F9-4C82-BA45-EC91A4FA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2A / 2E  /  ZCU102 J55 LOOPBACK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91AAE5-3E89-430D-987D-8BBA3E46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Fixed-trial Linux and bare-metal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83251C-CBC0-45C3-8B5D-2ED11D96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14C781-33FB-4DF1-9445-C1A613AD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13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94AE4479-D8C4-4F87-8D9F-BA2793B00863}"/>
              </a:ext>
            </a:extLst>
          </p:cNvPr>
          <p:cNvGraphicFramePr/>
          <p:nvPr/>
        </p:nvGraphicFramePr>
        <p:xfrm>
          <a:off xmlns:a="http://schemas.openxmlformats.org/drawingml/2006/main" x="514350" y="1714500"/>
          <a:ext xmlns:a="http://schemas.openxmlformats.org/drawingml/2006/main" cx="7524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a9104664649446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ECBA95-11B6-4AD9-B49B-C4B29A0B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Linux: 11,000 / 11,000 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13E30A-FBC8-4051-877D-F781BC2D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0505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Bare metal: 11,000 / 11,000 pass. Both used 11 payloads × 1,000 trials.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1C370B-942D-4A9D-AB2D-0D36A152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051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Zero data errors. Linux was slower at 1–16 B, but had 20.4% lower latency at 64 KiB.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D1B062-04F5-4F23-BCED-6D128BCA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86200"/>
            <a:ext cx="2952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Same bitstream and 99.99 MHz PL0. Rates are derived from mean latency, not wire throughput. Linux uses CLOCK_MONOTONIC_RAW; bare metal uses XTime. Clock/CPU evidence supports a bounded comparison, not kernel-only attribution.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105717-839C-4F3E-AF40-0D231DBA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7F1938-C408-419A-993C-15BEC77C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2e closes as a bounded comparison; no causal Linux-only performance claim is made.</a:t>
            </a:r>
          </a:p>
        </p:txBody>
      </p:sp>
    </p:spTree>
    <p:extLst>
      <p:ext uri="{BB962C8B-B14F-4D97-AF65-F5344CB8AC3E}">
        <p14:creationId xmlns:p14="http://schemas.microsoft.com/office/powerpoint/2010/main" val="4806424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BD0C92-E01A-4603-920B-55B40201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2E  /  PAIRED 60-SECOND SPI WINDOWS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5E8C19-0D3B-4C1F-9395-5E8FBF81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Sustained application throughput by payload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932065-FD68-4813-AC14-00A79EB7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9BB52A-6DFE-42CD-B3BE-1CDBEF80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14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70996ECE-5C5C-475A-BFB8-6EC0413CE92C}"/>
              </a:ext>
            </a:extLst>
          </p:cNvPr>
          <p:cNvGraphicFramePr/>
          <p:nvPr/>
        </p:nvGraphicFramePr>
        <p:xfrm>
          <a:off xmlns:a="http://schemas.openxmlformats.org/drawingml/2006/main" x="514350" y="1695450"/>
          <a:ext xmlns:a="http://schemas.openxmlformats.org/drawingml/2006/main" cx="75247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5c08591b6074369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FC0C10-9DBE-4838-B13C-A6F10198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097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66 / 66 points passed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0BA91B-7F87-4F1D-B644-3D8B0AD1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62200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Each backend ran 11 sizes × 3 × 60 seconds. All transfers were byte-verified; zero API errors and mismatches.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F0A159-BD4B-48A2-AB4F-0CE1B4D9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3375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Crossover: bare metal leads at 1–16 B; Linux leads from 64 B upward.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51924E-B47A-4126-98B5-176B8995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10050"/>
            <a:ext cx="295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Observed at this configuration: Linux 1.495 MB/s and bare metal 1.180 MB/s at 64 KiB. These are application rates, not wire limits. Clock readbacks support 1.2 GHz A53 / 99.99 MHz PL0; prior matching-setup J55 SCK was ~51 MHz.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BDDB5D-F3F4-44D9-8B3F-250CDBFD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620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Task 2e complete as a bounded framework result; not a per-window clock-controlled limit test.</a:t>
            </a:r>
          </a:p>
        </p:txBody>
      </p:sp>
    </p:spTree>
    <p:extLst>
      <p:ext uri="{BB962C8B-B14F-4D97-AF65-F5344CB8AC3E}">
        <p14:creationId xmlns:p14="http://schemas.microsoft.com/office/powerpoint/2010/main" val="3075101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2026-10-17T00:43:19.9790000Z</dcterms:created>
  <dcterms:modified xsi:type="dcterms:W3CDTF">2026-10-17T00:43:19.9790000Z</dcterms:modified>
</coreProperties>
</file>
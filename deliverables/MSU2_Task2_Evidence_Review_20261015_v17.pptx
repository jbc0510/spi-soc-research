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2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3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4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7a422e64e584076" /><Relationship Type="http://schemas.openxmlformats.org/officeDocument/2006/relationships/extended-properties" Target="/docProps/app.xml" Id="Rcb37a4d970c64810" /><Relationship Type="http://schemas.openxmlformats.org/officeDocument/2006/relationships/officeDocument" Target="/ppt/presentation.xml" Id="Rbec21f2711c6452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f0913ebde1b4e61"/>
  </p:sldMasterIdLst>
  <p:notesMasterIdLst>
    <p:notesMasterId xmlns:r="http://schemas.openxmlformats.org/officeDocument/2006/relationships" r:id="Re1b503b5d4cc45ef"/>
  </p:notesMasterIdLst>
  <p:sldIdLst>
    <p:sldId xmlns:r="http://schemas.openxmlformats.org/officeDocument/2006/relationships" id="256" r:id="R03d1ca9610414693"/>
    <p:sldId xmlns:r="http://schemas.openxmlformats.org/officeDocument/2006/relationships" id="257" r:id="R8d0161ceda904e0a"/>
    <p:sldId xmlns:r="http://schemas.openxmlformats.org/officeDocument/2006/relationships" id="258" r:id="R148c0ef3375849b0"/>
    <p:sldId xmlns:r="http://schemas.openxmlformats.org/officeDocument/2006/relationships" id="259" r:id="Re61722e932ed4ba0"/>
    <p:sldId xmlns:r="http://schemas.openxmlformats.org/officeDocument/2006/relationships" id="260" r:id="Rdb6c60ca742545d8"/>
    <p:sldId xmlns:r="http://schemas.openxmlformats.org/officeDocument/2006/relationships" id="261" r:id="R732adca149f24dcb"/>
    <p:sldId xmlns:r="http://schemas.openxmlformats.org/officeDocument/2006/relationships" id="262" r:id="Rb720f40c9b604a43"/>
    <p:sldId xmlns:r="http://schemas.openxmlformats.org/officeDocument/2006/relationships" id="263" r:id="R83c6dd190f484f11"/>
    <p:sldId xmlns:r="http://schemas.openxmlformats.org/officeDocument/2006/relationships" id="264" r:id="Rb7089ba2150342b8"/>
    <p:sldId xmlns:r="http://schemas.openxmlformats.org/officeDocument/2006/relationships" id="265" r:id="R367152a570bb48e0"/>
    <p:sldId xmlns:r="http://schemas.openxmlformats.org/officeDocument/2006/relationships" id="266" r:id="R0330bc5a9e154e6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576755c14d341b7" /><Relationship Type="http://schemas.openxmlformats.org/officeDocument/2006/relationships/slideMaster" Target="/ppt/slideMasters/slideMaster1.xml" Id="Ref0913ebde1b4e61" /><Relationship Type="http://schemas.openxmlformats.org/officeDocument/2006/relationships/notesMaster" Target="/ppt/notesMasters/notesMaster1.xml" Id="Re1b503b5d4cc45ef" /><Relationship Type="http://schemas.openxmlformats.org/officeDocument/2006/relationships/presProps" Target="/ppt/presProps.xml" Id="Reeeed172d29f408f" /><Relationship Type="http://schemas.openxmlformats.org/officeDocument/2006/relationships/tableStyles" Target="/ppt/tableStyles.xml" Id="R9be610f1d2a6439d" /><Relationship Type="http://schemas.openxmlformats.org/officeDocument/2006/relationships/slide" Target="/ppt/slides/slide1.xml" Id="R03d1ca9610414693" /><Relationship Type="http://schemas.openxmlformats.org/officeDocument/2006/relationships/slide" Target="/ppt/slides/slide2.xml" Id="R8d0161ceda904e0a" /><Relationship Type="http://schemas.openxmlformats.org/officeDocument/2006/relationships/slide" Target="/ppt/slides/slide3.xml" Id="R148c0ef3375849b0" /><Relationship Type="http://schemas.openxmlformats.org/officeDocument/2006/relationships/slide" Target="/ppt/slides/slide4.xml" Id="Re61722e932ed4ba0" /><Relationship Type="http://schemas.openxmlformats.org/officeDocument/2006/relationships/slide" Target="/ppt/slides/slide5.xml" Id="Rdb6c60ca742545d8" /><Relationship Type="http://schemas.openxmlformats.org/officeDocument/2006/relationships/slide" Target="/ppt/slides/slide6.xml" Id="R732adca149f24dcb" /><Relationship Type="http://schemas.openxmlformats.org/officeDocument/2006/relationships/slide" Target="/ppt/slides/slide7.xml" Id="Rb720f40c9b604a43" /><Relationship Type="http://schemas.openxmlformats.org/officeDocument/2006/relationships/slide" Target="/ppt/slides/slide8.xml" Id="R83c6dd190f484f11" /><Relationship Type="http://schemas.openxmlformats.org/officeDocument/2006/relationships/slide" Target="/ppt/slides/slide9.xml" Id="Rb7089ba2150342b8" /><Relationship Type="http://schemas.openxmlformats.org/officeDocument/2006/relationships/slide" Target="/ppt/slides/slide10.xml" Id="R367152a570bb48e0" /><Relationship Type="http://schemas.openxmlformats.org/officeDocument/2006/relationships/slide" Target="/ppt/slides/slide11.xml" Id="R0330bc5a9e154e6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65ece0779d045d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86cba663ff04da6" /><Relationship Type="http://schemas.openxmlformats.org/officeDocument/2006/relationships/notesMaster" Target="/ppt/notesMasters/notesMaster1.xml" Id="R7c3468d1a9494cf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87f1ac4679a4508" /><Relationship Type="http://schemas.openxmlformats.org/officeDocument/2006/relationships/notesMaster" Target="/ppt/notesMasters/notesMaster1.xml" Id="R9a1c45f8e69d4d2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171ccf9842a4234" /><Relationship Type="http://schemas.openxmlformats.org/officeDocument/2006/relationships/notesMaster" Target="/ppt/notesMasters/notesMaster1.xml" Id="Rd16b94b2404947b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6427a7caeaf4506" /><Relationship Type="http://schemas.openxmlformats.org/officeDocument/2006/relationships/notesMaster" Target="/ppt/notesMasters/notesMaster1.xml" Id="Rcc6f625509b1451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234c09ef1fa4c0f" /><Relationship Type="http://schemas.openxmlformats.org/officeDocument/2006/relationships/notesMaster" Target="/ppt/notesMasters/notesMaster1.xml" Id="R3d408c90414b477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46579f53e6341ae" /><Relationship Type="http://schemas.openxmlformats.org/officeDocument/2006/relationships/notesMaster" Target="/ppt/notesMasters/notesMaster1.xml" Id="R66f4ae43baf4491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7ae1293f9184b57" /><Relationship Type="http://schemas.openxmlformats.org/officeDocument/2006/relationships/notesMaster" Target="/ppt/notesMasters/notesMaster1.xml" Id="Rf7575549eb864f1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cac876b472b4888" /><Relationship Type="http://schemas.openxmlformats.org/officeDocument/2006/relationships/notesMaster" Target="/ppt/notesMasters/notesMaster1.xml" Id="Ra75d89099e4e49c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a91125cd98544c4" /><Relationship Type="http://schemas.openxmlformats.org/officeDocument/2006/relationships/notesMaster" Target="/ppt/notesMasters/notesMaster1.xml" Id="R0a6cec6f39824a6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36259fc51144aff" /><Relationship Type="http://schemas.openxmlformats.org/officeDocument/2006/relationships/notesMaster" Target="/ppt/notesMasters/notesMaster1.xml" Id="R86f0159fbc4b459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3475bf02fc44182" /><Relationship Type="http://schemas.openxmlformats.org/officeDocument/2006/relationships/notesMaster" Target="/ppt/notesMasters/notesMaster1.xml" Id="R4e49b289ff6e4d5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Scope: Task 2a–2c findings and current status of remaining SOW activities.</a:t>
            </a:r>
          </a:p>
          <a:p xmlns:a="http://schemas.openxmlformats.org/drawingml/2006/main">
            <a:r>
              <a:t>Primary source: /home/opentitan/Downloads/MSU-2_SOW_Final (1).docx, revision 2026-02-23.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results/linux_axi_spi_bringup_20261013/linux_vs_baremetal_comparison_20261014.csv.</a:t>
            </a:r>
          </a:p>
          <a:p xmlns:a="http://schemas.openxmlformats.org/drawingml/2006/main">
            <a:r>
              <a:t>Method and limitations: results/linux_axi_spi_bringup_20261013/SOW_2A_FINAL_COMPARISON_20261014.md.</a:t>
            </a:r>
          </a:p>
          <a:p xmlns:a="http://schemas.openxmlformats.org/drawingml/2006/main">
            <a:r>
              <a:t>Both paths used the same AXI Quad SPI hardware, J55 external loopback, payload vectors and 1,000 trials per size. Linux used CLOCK_MONOTONIC_RAW; bare metal used XTime_GetTime. No timer cross-calibration was recorded.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results/task2b_cdma_sim_20261014/cdma_simulated_sweep.csv and results/task2b_cdma_sim_20261014/cdma_loopback_simulate.log.</a:t>
            </a:r>
          </a:p>
          <a:p xmlns:a="http://schemas.openxmlformats.org/drawingml/2006/main">
            <a:r>
              <a:t>Reproduction and test limits: results/task2b_cdma_sim_20261014/README.md; source testbench: hardware/sim/tb_keyhole.sv.</a:t>
            </a:r>
          </a:p>
          <a:p xmlns:a="http://schemas.openxmlformats.org/drawingml/2006/main">
            <a:r>
              <a:t>Optional physical follow-on experiment design and readiness gate: results/SOW_2B_PHYSICAL_DMA_EXPERIMENT_DESIGN_20261015.md. No CDMA-enabled bitstream is currently in the repository.</a:t>
            </a:r>
          </a:p>
          <a:p xmlns:a="http://schemas.openxmlformats.org/drawingml/2006/main">
            <a:r>
              <a:t>Vivado 2025.1 fresh build and XSim run passed with host IPC access. The chart shows model effective rate from the BTT write to TX FIFO empty plus the stated 2 us final-word allowance.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Frequency sweep source: results/SOW_2F_FREQSWEEP_20260908.md; raw capture: docs/environment/zcu102-2_2f_freqsweep_20260908.log.</a:t>
            </a:r>
          </a:p>
          <a:p xmlns:a="http://schemas.openxmlformats.org/drawingml/2006/main">
            <a:r>
              <a:t>Cross-OS timing source: results/linux_axi_spi_bringup_20261013/SOW_2A_FINAL_COMPARISON_20261014.md.</a:t>
            </a:r>
          </a:p>
          <a:p xmlns:a="http://schemas.openxmlformats.org/drawingml/2006/main">
            <a:r>
              <a:t>The 64 KiB standard deviations are 3.87, 5.17, 8.65 and 14.23 us at 1,200, 600, 400 and 300 MHz. The frequency-sweep report records zero errors and ivcsw=0; those results do not attribute a jitter mechanism.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SOW source: /home/opentitan/Downloads/MSU-2_SOW_Final (1).docx, revision 2026-02-23.</a:t>
            </a:r>
          </a:p>
          <a:p xmlns:a="http://schemas.openxmlformats.org/drawingml/2006/main">
            <a:r>
              <a:t>2d/2e audit basis: results/SOW_2E_HARDENED_BOARD_VALIDATION_20260922.md and results/linux_axi_spi_bringup_20261013/SOW_2A_FINAL_COMPARISON_20261014.md.</a:t>
            </a:r>
          </a:p>
          <a:p xmlns:a="http://schemas.openxmlformats.org/drawingml/2006/main">
            <a:r>
              <a:t>2f source: results/SOW_2F_FREQSWEEP_20260908.md. 2g sources: results/SOW_2G_RECOVERY_20260909.md and results/SOW_2G_FWENV_20260908.md.</a:t>
            </a:r>
          </a:p>
          <a:p xmlns:a="http://schemas.openxmlformats.org/drawingml/2006/main">
            <a:r>
              <a:t>Historical file labels do not exactly mirror the SOW’s unlettered activity list. This slide maps 2d–2g by the SOW’s wording and sequence.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Design source: results/SOW_2D_SYSTEM_HARDENING_DESIGN_20261014.md.</a:t>
            </a:r>
          </a:p>
          <a:p xmlns:a="http://schemas.openxmlformats.org/drawingml/2006/main">
            <a:r>
              <a:t>Existing U-Boot environment fallback evidence and limitations: results/SOW_2G_RECOVERY_20260909.md.</a:t>
            </a:r>
          </a:p>
          <a:p xmlns:a="http://schemas.openxmlformats.org/drawingml/2006/main">
            <a:r>
              <a:t>AMD Zynq UltraScale+ MPSoC Software Developer Guide, Boot Time Security: https://docs.amd.com/r/en-US/ug1137-zynq-ultrascale-mpsoc-swdev/Boot-Time-Security.</a:t>
            </a:r>
          </a:p>
          <a:p xmlns:a="http://schemas.openxmlformats.org/drawingml/2006/main">
            <a:r>
              <a:t>AMD Embedded Design Tutorial, Enabling Boot Header Authentication: https://docs.amd.com/r/en-US/ug1209-embedded-design-tutorial/Enabling-Boot-Header-Authentication. Boot-header authentication omits the eFUSE key-hash and revocation checks; it is a development mechanism, not the fielded trust anchor.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CSV: results/linux_axi_spi_bringup_20261013/task2e_framework_metrics_20261014.csv.</a:t>
            </a:r>
          </a:p>
          <a:p xmlns:a="http://schemas.openxmlformats.org/drawingml/2006/main">
            <a:r>
              <a:t>Derived from raw Linux CLOCK_THREAD_CPUTIME_ID and CLOCK_MONOTONIC_RAW loop totals in results/linux_axi_spi_bringup_20261013/linux_benchmark_20261014.log.</a:t>
            </a:r>
          </a:p>
          <a:p xmlns:a="http://schemas.openxmlformats.org/drawingml/2006/main">
            <a:r>
              <a:t>Framework status and scope: results/SOW_2E_BENCHMARK_FRAMEWORK_STATUS_20261014.md. The utilization percentage is per benchmark thread normalized to one CPU core, not total system CPU utilization.</a:t>
            </a:r>
          </a:p>
          <a:p xmlns:a="http://schemas.openxmlformats.org/drawingml/2006/main">
            <a:r>
              <a:t>Physical closure experiment and remaining metric definitions: results/SOW_2E_BENCHMARK_CLOSURE_EXPERIMENT_20261015.md.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Report: results/SOW_2G_AB_UPDATE_PROTOTYPE_20261014.md.</a:t>
            </a:r>
          </a:p>
          <a:p xmlns:a="http://schemas.openxmlformats.org/drawingml/2006/main">
            <a:r>
              <a:t>Prototype: linux/appliance/ab_update_prototype.py. Tests: tests/test_task2g_ab_update.py.</a:t>
            </a:r>
          </a:p>
          <a:p xmlns:a="http://schemas.openxmlformats.org/drawingml/2006/main">
            <a:r>
              <a:t>Existing on-target U-Boot environment fallback evidence: results/SOW_2G_RECOVERY_20260909.md; it is a single-copy CRC fallback, not image/rootfs update recovery.</a:t>
            </a:r>
          </a:p>
          <a:p xmlns:a="http://schemas.openxmlformats.org/drawingml/2006/main">
            <a:r>
              <a:t>All four host tests passed on 2026-10-14. The diagram depicts reference logic, not an installed or hardware-rooted boot chain.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Diagnostic report: results/vivado_license_diagnostic_20261015/README.md.</a:t>
            </a:r>
          </a:p>
          <a:p xmlns:a="http://schemas.openxmlformats.org/drawingml/2006/main">
            <a:r>
              <a:t>Successful Vivado 2025.1 synthesis transcript: results/vivado_license_diagnostic_20261015/zcu9eg_license_synthesis.log.</a:t>
            </a:r>
          </a:p>
          <a:p xmlns:a="http://schemas.openxmlformats.org/drawingml/2006/main">
            <a:r>
              <a:t>AMD Vivado 2025.1 UG973, Supported Devices: https://docs.amd.com/r/2025.1-English/ug973-vivado-release-notes-install-license/Supported-Devices. The Enterprise edition supports all Zynq UltraScale+ MPSoC devices.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Target report: results/SOW_2G_ZCU102_HARDENING_DEMO_20261015.md.</a:t>
            </a:r>
          </a:p>
          <a:p xmlns:a="http://schemas.openxmlformats.org/drawingml/2006/main">
            <a:r>
              <a:t>Target source/build: linux/appliance/hardening_contrast_board.c and scripts/build_task2g_board_demo.py. The application ran on newQspi, Linux 6.12.10-xilinx, and verified its RSA/SHA-256 fixture through target libcrypto.so.3.</a:t>
            </a:r>
          </a:p>
          <a:p xmlns:a="http://schemas.openxmlformats.org/drawingml/2006/main">
            <a:r>
              <a:t>Target executable SHA-256: 0ca6af020d16ea8174ec3d2f7ff625b1dd727870b1f28753898f51a98646f8e8. Captured output: results/task2g_board_contrast_20261015/target_run.log.</a:t>
            </a:r>
          </a:p>
          <a:p xmlns:a="http://schemas.openxmlformats.org/drawingml/2006/main">
            <a:r>
              <a:t>All file slots were in /tmp and removed by the application. The baseline intentionally lacks signature verification and recovery. The health failure and interrupted write are injected software cases, not a physical reset or boot test.</a:t>
            </a:r>
          </a:p>
          <a:p xmlns:a="http://schemas.openxmlformats.org/drawingml/2006/main">
            <a:r>
              <a:t>Tests: tests/test_task2g_board_demo_host.py and tests/test_task2g_ab_update.py. Target execution proves the user-space demo on the board, not its BootROM/FSBL/TF-A/U-Boot chain.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Report: results/SOW_2G_PETALINUX_FIT_20261015.md. Build configuration templates: linux/appliance/verified_update/petalinux/.</a:t>
            </a:r>
          </a:p>
          <a:p xmlns:a="http://schemas.openxmlformats.org/drawingml/2006/main">
            <a:r>
              <a:t>Raw evidence, signed FIT, control DTB, tampered FIT, logs, metadata, and SHA-256 manifest: results/task2g_petalinux_fit_20261015/. Reproduce validation with scripts/task2g_verify_petalinux_fit.py.</a:t>
            </a:r>
          </a:p>
          <a:p xmlns:a="http://schemas.openxmlformats.org/drawingml/2006/main">
            <a:r>
              <a:t>PetaLinux project XSA SHA-256 exactly matches the validated 2026-09-29 XSA (e8b4626edb5949bc8adb14ae259802cdd24b16ea3f02daf0dd8fdbeb1cc0e7d7); deployed bitstream SHA-256 also matches (90f93479dd47c505b8f9e4fe6f4f18e853f8923d081f4b2037401ed3cb46994a). FIT DTB hash matches the regenerated system DTB.</a:t>
            </a:r>
          </a:p>
          <a:p xmlns:a="http://schemas.openxmlformats.org/drawingml/2006/main">
            <a:r>
              <a:t>U-Boot compiled and deployed. PetaLinux wrapper returned nonzero due unrelated exit-139 package tasks; relevant U-Boot, FIT, device-tree, and bitstream outputs were present and individually verified.</a:t>
            </a:r>
          </a:p>
          <a:p xmlns:a="http://schemas.openxmlformats.org/drawingml/2006/main">
            <a:r>
              <a:t>Signing key is disposable and remains outside the repository under the local PetaLinux build tree; it is not a production key. The valid image build is host-side evidence only and was not flashed to the target.</a:t>
            </a:r>
          </a:p>
          <a:p xmlns:a="http://schemas.openxmlformats.org/drawingml/2006/main">
            <a:r>
              <a:t>The embedded key node is required; signature algorithm is sha256,rsa2048. On payload modification, fit_check_sign reported “Bad hash value” and “Bad Data Hash”.</a:t>
            </a:r>
          </a:p>
          <a:p xmlns:a="http://schemas.openxmlformats.org/drawingml/2006/main">
            <a:r>
              <a:t>This is not hardware-rooted secure boot: BootROM/FSBL/TF-A/U-Boot authentication, protected key provisioning, persistent A/B slots and bootcount, Linux health confirmation, and target interruption testing remain open.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40111ab6ee4f1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7ca416bead4d5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0863b2154a4ea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effc950ab0469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8555c58df54c5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b9d9a65ce7444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E6BA769-C9DA-4803-A534-BC93B03C6B3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07EC93F-7941-4B55-B7D2-ADA4B9D60EA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9216557-3D0C-4B42-A4CA-DD26854F99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DE628FE-7FB5-47E3-9DC5-4FD86E4626A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7E4D653-9C8B-47CD-97AE-5A3943A699D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0489A18-812E-4ED4-AB39-811F420555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891BC89-2B0E-40F7-A981-2A2FAE139A5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DCC9DD0-97EE-46C7-80CA-ECCC9587407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B4918AF-0769-410A-AC40-4F643CE9CF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EAC58DB-409A-48AC-B747-36CCF35858C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5977cee15c84f62" /><Relationship Type="http://schemas.openxmlformats.org/officeDocument/2006/relationships/slideLayout" Target="/ppt/slideLayouts/slideLayout1.xml" Id="R6ebf889cc6f74702" /><Relationship Type="http://schemas.openxmlformats.org/officeDocument/2006/relationships/slideLayout" Target="/ppt/slideLayouts/slideLayout2.xml" Id="Ra8ed635b3cb34303" /><Relationship Type="http://schemas.openxmlformats.org/officeDocument/2006/relationships/slideLayout" Target="/ppt/slideLayouts/slideLayout3.xml" Id="R8c27dd75f7404b83" /><Relationship Type="http://schemas.openxmlformats.org/officeDocument/2006/relationships/slideLayout" Target="/ppt/slideLayouts/slideLayout4.xml" Id="Rdf8b2ad130674261" /><Relationship Type="http://schemas.openxmlformats.org/officeDocument/2006/relationships/slideLayout" Target="/ppt/slideLayouts/slideLayout5.xml" Id="R287f29f11fe5414f" /><Relationship Type="http://schemas.openxmlformats.org/officeDocument/2006/relationships/slideLayout" Target="/ppt/slideLayouts/slideLayout6.xml" Id="R5397859dbb00407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ebf889cc6f74702"/>
    <p:sldLayoutId xmlns:r="http://schemas.openxmlformats.org/officeDocument/2006/relationships" id="2147483650" r:id="Ra8ed635b3cb34303"/>
    <p:sldLayoutId xmlns:r="http://schemas.openxmlformats.org/officeDocument/2006/relationships" id="2147483651" r:id="R8c27dd75f7404b83"/>
    <p:sldLayoutId xmlns:r="http://schemas.openxmlformats.org/officeDocument/2006/relationships" id="2147483652" r:id="Rdf8b2ad130674261"/>
    <p:sldLayoutId xmlns:r="http://schemas.openxmlformats.org/officeDocument/2006/relationships" id="2147483653" r:id="R287f29f11fe5414f"/>
    <p:sldLayoutId xmlns:r="http://schemas.openxmlformats.org/officeDocument/2006/relationships" id="2147483654" r:id="R5397859dbb00407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3cde73926fa4989" /><Relationship Type="http://schemas.openxmlformats.org/officeDocument/2006/relationships/notesSlide" Target="/ppt/notesSlides/notesSlide1.xml" Id="R88bb7d00aac74d0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3326510d6984c95" /><Relationship Type="http://schemas.openxmlformats.org/officeDocument/2006/relationships/chart" Target="/ppt/slides/charts/chart1.xml" Id="Re2f7cf9b01cc45a5" /><Relationship Type="http://schemas.openxmlformats.org/officeDocument/2006/relationships/notesSlide" Target="/ppt/notesSlides/notesSlide2.xml" Id="R4031a2f236f54a9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00c5c530d094d0d" /><Relationship Type="http://schemas.openxmlformats.org/officeDocument/2006/relationships/chart" Target="/ppt/slides/charts/chart2.xml" Id="Rc85d3130219f4ad5" /><Relationship Type="http://schemas.openxmlformats.org/officeDocument/2006/relationships/notesSlide" Target="/ppt/notesSlides/notesSlide3.xml" Id="R2d2e1acc9aa3486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3d3ac1d0e5b406f" /><Relationship Type="http://schemas.openxmlformats.org/officeDocument/2006/relationships/chart" Target="/ppt/slides/charts/chart3.xml" Id="R32da81ed35c04476" /><Relationship Type="http://schemas.openxmlformats.org/officeDocument/2006/relationships/notesSlide" Target="/ppt/notesSlides/notesSlide4.xml" Id="R9836ae99e26c477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2eb2ba72e514544" /><Relationship Type="http://schemas.openxmlformats.org/officeDocument/2006/relationships/notesSlide" Target="/ppt/notesSlides/notesSlide5.xml" Id="R5c5b17286fb046d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b6666734d914fbc" /><Relationship Type="http://schemas.openxmlformats.org/officeDocument/2006/relationships/notesSlide" Target="/ppt/notesSlides/notesSlide6.xml" Id="R7213a49183d3414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f20a691c894449c" /><Relationship Type="http://schemas.openxmlformats.org/officeDocument/2006/relationships/chart" Target="/ppt/slides/charts/chart4.xml" Id="R8b8502e7cc0a4ff2" /><Relationship Type="http://schemas.openxmlformats.org/officeDocument/2006/relationships/notesSlide" Target="/ppt/notesSlides/notesSlide7.xml" Id="R7b5963615bf5487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bb4e4dbfa148ae" /><Relationship Type="http://schemas.openxmlformats.org/officeDocument/2006/relationships/notesSlide" Target="/ppt/notesSlides/notesSlide8.xml" Id="R7a6478afeab4456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224c878aa9e4010" /><Relationship Type="http://schemas.openxmlformats.org/officeDocument/2006/relationships/notesSlide" Target="/ppt/notesSlides/notesSlide9.xml" Id="Ra4a447aa1f01454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0f772fc63c14ed3" /><Relationship Type="http://schemas.openxmlformats.org/officeDocument/2006/relationships/notesSlide" Target="/ppt/notesSlides/notesSlide10.xml" Id="R4b86bd7569ec45d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006b86680de4651" /><Relationship Type="http://schemas.openxmlformats.org/officeDocument/2006/relationships/notesSlide" Target="/ppt/notesSlides/notesSlide11.xml" Id="Rac7261a060a442f1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Bare metal</c:v>
          </c:tx>
          <c:spPr>
            <a:ln xmlns:a="http://schemas.openxmlformats.org/drawingml/2006/main" w="28575">
              <a:solidFill>
                <a:srgbClr val="1B6E78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1B6E78"/>
              </a:solidFill>
            </c:spPr>
          </c:marker>
          <c:cat>
            <c:strLit>
              <c:ptCount val="11"/>
              <c:pt idx="0">
                <c:v>1 B</c:v>
              </c:pt>
              <c:pt idx="1">
                <c:v>8 B</c:v>
              </c:pt>
              <c:pt idx="2">
                <c:v>16 B</c:v>
              </c:pt>
              <c:pt idx="3">
                <c:v>64 B</c:v>
              </c:pt>
              <c:pt idx="4">
                <c:v>128 B</c:v>
              </c:pt>
              <c:pt idx="5">
                <c:v>256 B</c:v>
              </c:pt>
              <c:pt idx="6">
                <c:v>512 B</c:v>
              </c:pt>
              <c:pt idx="7">
                <c:v>1,024 B</c:v>
              </c:pt>
              <c:pt idx="8">
                <c:v>4,096 B</c:v>
              </c:pt>
              <c:pt idx="9">
                <c:v>16,384 B</c:v>
              </c:pt>
              <c:pt idx="10">
                <c:v>65,536 B</c:v>
              </c:pt>
            </c:strLit>
          </c:cat>
          <c:val>
            <c:numLit>
              <c:formatCode>0.0</c:formatCode>
              <c:ptCount val="11"/>
              <c:pt idx="0">
                <c:v>0.144473</c:v>
              </c:pt>
              <c:pt idx="1">
                <c:v>0.472995</c:v>
              </c:pt>
              <c:pt idx="2">
                <c:v>0.565012</c:v>
              </c:pt>
              <c:pt idx="3">
                <c:v>0.659972</c:v>
              </c:pt>
              <c:pt idx="4">
                <c:v>0.679065</c:v>
              </c:pt>
              <c:pt idx="5">
                <c:v>0.689037</c:v>
              </c:pt>
              <c:pt idx="6">
                <c:v>0.875261</c:v>
              </c:pt>
              <c:pt idx="7">
                <c:v>1.015504</c:v>
              </c:pt>
              <c:pt idx="8">
                <c:v>1.154327</c:v>
              </c:pt>
              <c:pt idx="9">
                <c:v>1.19514</c:v>
              </c:pt>
              <c:pt idx="10">
                <c:v>1.205804</c:v>
              </c:pt>
            </c:numLit>
          </c:val>
          <c:smooth val="0"/>
        </c:ser>
        <c:ser>
          <c:idx val="1"/>
          <c:order val="1"/>
          <c:tx>
            <c:v>Linux</c:v>
          </c:tx>
          <c:spPr>
            <a:ln xmlns:a="http://schemas.openxmlformats.org/drawingml/2006/main" w="28575">
              <a:solidFill>
                <a:srgbClr val="C35A2B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C35A2B"/>
              </a:solidFill>
            </c:spPr>
          </c:marker>
          <c:cat>
            <c:strLit>
              <c:ptCount val="11"/>
              <c:pt idx="0">
                <c:v>1 B</c:v>
              </c:pt>
              <c:pt idx="1">
                <c:v>8 B</c:v>
              </c:pt>
              <c:pt idx="2">
                <c:v>16 B</c:v>
              </c:pt>
              <c:pt idx="3">
                <c:v>64 B</c:v>
              </c:pt>
              <c:pt idx="4">
                <c:v>128 B</c:v>
              </c:pt>
              <c:pt idx="5">
                <c:v>256 B</c:v>
              </c:pt>
              <c:pt idx="6">
                <c:v>512 B</c:v>
              </c:pt>
              <c:pt idx="7">
                <c:v>1,024 B</c:v>
              </c:pt>
              <c:pt idx="8">
                <c:v>4,096 B</c:v>
              </c:pt>
              <c:pt idx="9">
                <c:v>16,384 B</c:v>
              </c:pt>
              <c:pt idx="10">
                <c:v>65,536 B</c:v>
              </c:pt>
            </c:strLit>
          </c:cat>
          <c:val>
            <c:numLit>
              <c:formatCode>0.0</c:formatCode>
              <c:ptCount val="11"/>
              <c:pt idx="0">
                <c:v>0.035675</c:v>
              </c:pt>
              <c:pt idx="1">
                <c:v>0.263393</c:v>
              </c:pt>
              <c:pt idx="2">
                <c:v>0.477724</c:v>
              </c:pt>
              <c:pt idx="3">
                <c:v>0.99107</c:v>
              </c:pt>
              <c:pt idx="4">
                <c:v>1.20376</c:v>
              </c:pt>
              <c:pt idx="5">
                <c:v>1.349884</c:v>
              </c:pt>
              <c:pt idx="6">
                <c:v>1.426504</c:v>
              </c:pt>
              <c:pt idx="7">
                <c:v>1.468349</c:v>
              </c:pt>
              <c:pt idx="8">
                <c:v>1.502335</c:v>
              </c:pt>
              <c:pt idx="9">
                <c:v>1.511506</c:v>
              </c:pt>
              <c:pt idx="10">
                <c:v>1.51398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Liberation Sans"/>
                  <a:ea typeface="Liberation Sans"/>
                  <a:cs typeface="Liberation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Payload size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72768"/>
      </c:catAx>
      <c:valAx>
        <c:axId val="48672768"/>
        <c:scaling>
          <c:orientation val="minMax"/>
          <c:max val="1.7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1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Effective payload rate (MB/s)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50112"/>
        <c:crossBetween val="between"/>
        <c:majorUnit val="0.4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>
              <a:solidFill>
                <a:srgbClr val="50636B"/>
              </a:solidFill>
              <a:latin typeface="Liberation Sans"/>
              <a:ea typeface="Liberation Sans"/>
              <a:cs typeface="Liberation Sans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Simulated effective rate</c:v>
          </c:tx>
          <c:spPr>
            <a:ln xmlns:a="http://schemas.openxmlformats.org/drawingml/2006/main" w="28575">
              <a:solidFill>
                <a:srgbClr val="446B9E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446B9E"/>
              </a:solidFill>
            </c:spPr>
          </c:marker>
          <c:cat>
            <c:strLit>
              <c:ptCount val="6"/>
              <c:pt idx="0">
                <c:v>1 B</c:v>
              </c:pt>
              <c:pt idx="1">
                <c:v>8 B</c:v>
              </c:pt>
              <c:pt idx="2">
                <c:v>16 B</c:v>
              </c:pt>
              <c:pt idx="3">
                <c:v>64 B</c:v>
              </c:pt>
              <c:pt idx="4">
                <c:v>128 B</c:v>
              </c:pt>
              <c:pt idx="5">
                <c:v>256 B</c:v>
              </c:pt>
            </c:strLit>
          </c:cat>
          <c:val>
            <c:numLit>
              <c:formatCode>0.0</c:formatCode>
              <c:ptCount val="6"/>
              <c:pt idx="0">
                <c:v>0.346021</c:v>
              </c:pt>
              <c:pt idx="1">
                <c:v>0.688468</c:v>
              </c:pt>
              <c:pt idx="2">
                <c:v>0.735294</c:v>
              </c:pt>
              <c:pt idx="3">
                <c:v>0.76757</c:v>
              </c:pt>
              <c:pt idx="4">
                <c:v>0.775476</c:v>
              </c:pt>
              <c:pt idx="5">
                <c:v>0.778352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Liberation Sans"/>
                  <a:ea typeface="Liberation Sans"/>
                  <a:cs typeface="Liberation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Payload size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72768"/>
      </c:catAx>
      <c:valAx>
        <c:axId val="48672768"/>
        <c:scaling>
          <c:orientation val="minMax"/>
          <c:max val="0.9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1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Effective simulated rate (MB/s)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50112"/>
        <c:crossBetween val="between"/>
        <c:majorUnit val="0.2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64 KiB standard deviation</c:v>
          </c:tx>
          <c:spPr>
            <a:ln xmlns:a="http://schemas.openxmlformats.org/drawingml/2006/main" w="28575">
              <a:solidFill>
                <a:srgbClr val="C35A2B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C35A2B"/>
              </a:solidFill>
            </c:spPr>
          </c:marker>
          <c:cat>
            <c:strLit>
              <c:ptCount val="4"/>
              <c:pt idx="0">
                <c:v>1,200 MHz</c:v>
              </c:pt>
              <c:pt idx="1">
                <c:v>600 MHz</c:v>
              </c:pt>
              <c:pt idx="2">
                <c:v>400 MHz</c:v>
              </c:pt>
              <c:pt idx="3">
                <c:v>300 MHz</c:v>
              </c:pt>
            </c:strLit>
          </c:cat>
          <c:val>
            <c:numLit>
              <c:formatCode>0</c:formatCode>
              <c:ptCount val="4"/>
              <c:pt idx="0">
                <c:v>3.87</c:v>
              </c:pt>
              <c:pt idx="1">
                <c:v>5.17</c:v>
              </c:pt>
              <c:pt idx="2">
                <c:v>8.65</c:v>
              </c:pt>
              <c:pt idx="3">
                <c:v>14.23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Liberation Sans"/>
                  <a:ea typeface="Liberation Sans"/>
                  <a:cs typeface="Liberation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A53 CPU operating point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72768"/>
      </c:catAx>
      <c:valAx>
        <c:axId val="48672768"/>
        <c:scaling>
          <c:orientation val="minMax"/>
          <c:max val="16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1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Latency standard deviation (µs)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50112"/>
        <c:crossBetween val="between"/>
        <c:majorUnit val="4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4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Linux benchmark thread</c:v>
          </c:tx>
          <c:spPr>
            <a:ln xmlns:a="http://schemas.openxmlformats.org/drawingml/2006/main" w="28575">
              <a:solidFill>
                <a:srgbClr val="446B9E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446B9E"/>
              </a:solidFill>
            </c:spPr>
          </c:marker>
          <c:cat>
            <c:strLit>
              <c:ptCount val="11"/>
              <c:pt idx="0">
                <c:v>1 B</c:v>
              </c:pt>
              <c:pt idx="1">
                <c:v>8 B</c:v>
              </c:pt>
              <c:pt idx="2">
                <c:v>16 B</c:v>
              </c:pt>
              <c:pt idx="3">
                <c:v>64 B</c:v>
              </c:pt>
              <c:pt idx="4">
                <c:v>128 B</c:v>
              </c:pt>
              <c:pt idx="5">
                <c:v>256 B</c:v>
              </c:pt>
              <c:pt idx="6">
                <c:v>512 B</c:v>
              </c:pt>
              <c:pt idx="7">
                <c:v>1,024 B</c:v>
              </c:pt>
              <c:pt idx="8">
                <c:v>4,096 B</c:v>
              </c:pt>
              <c:pt idx="9">
                <c:v>16,384 B</c:v>
              </c:pt>
              <c:pt idx="10">
                <c:v>65,536 B</c:v>
              </c:pt>
            </c:strLit>
          </c:cat>
          <c:val>
            <c:numLit>
              <c:formatCode>0</c:formatCode>
              <c:ptCount val="11"/>
              <c:pt idx="0">
                <c:v>67.876</c:v>
              </c:pt>
              <c:pt idx="1">
                <c:v>68.199</c:v>
              </c:pt>
              <c:pt idx="2">
                <c:v>66.691</c:v>
              </c:pt>
              <c:pt idx="3">
                <c:v>46.809</c:v>
              </c:pt>
              <c:pt idx="4">
                <c:v>38.577</c:v>
              </c:pt>
              <c:pt idx="5">
                <c:v>32.88</c:v>
              </c:pt>
              <c:pt idx="6">
                <c:v>18.051</c:v>
              </c:pt>
              <c:pt idx="7">
                <c:v>10.002</c:v>
              </c:pt>
              <c:pt idx="8">
                <c:v>3.577</c:v>
              </c:pt>
              <c:pt idx="9">
                <c:v>1.912</c:v>
              </c:pt>
              <c:pt idx="10">
                <c:v>1.474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Liberation Sans"/>
                  <a:ea typeface="Liberation Sans"/>
                  <a:cs typeface="Liberation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Payload size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72768"/>
      </c:catAx>
      <c:valAx>
        <c:axId val="48672768"/>
        <c:scaling>
          <c:orientation val="minMax"/>
          <c:max val="8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1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Thread CPU time / loop wall time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50112"/>
        <c:crossBetween val="between"/>
        <c:majorUnit val="20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E1A0C5-DFD8-4FF5-8D4E-1C417B097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E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C51166-6F68-410B-B73F-C92B81F7A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525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MORGAN STATE UNIVERSITY  /  MSU-2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F33524-D5D0-4039-BE08-61F53E584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57375"/>
            <a:ext cx="98107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40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40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40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Task 2: SPI performance,</a:t>
            </a:r>
          </a:p>
          <a:p xmlns:a="http://schemas.openxmlformats.org/drawingml/2006/main">
            <a:pPr algn="l">
              <a:defRPr sz="40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40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determinism and secure integration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298892-DCF9-49BD-890C-F4F1DEC09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38550"/>
            <a:ext cx="9239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0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0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Evidence review: completed comparisons, simulation findings, and remaining verification work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64DE2C-C71F-401F-95F9-7D11C1579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245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ZCU102  ·  AXI Quad SPI  ·  J55 loopback  ·  Evidence through 15 October 2026</a:t>
            </a:r>
          </a:p>
        </p:txBody>
      </p:sp>
    </p:spTree>
    <p:extLst>
      <p:ext uri="{BB962C8B-B14F-4D97-AF65-F5344CB8AC3E}">
        <p14:creationId xmlns:p14="http://schemas.microsoft.com/office/powerpoint/2010/main" val="22622483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F230BB-FB33-4434-AA1A-DA26A79F5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2A  /  PERFORMANCE GAP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6E7EEC-D18C-4ED4-AF5E-EF72A3EE0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Linux and bare metal cross over by payload size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A563EF-D1B4-4731-AE4E-E3067D7BE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48C314-3C3F-4CFA-9C42-A514FACF0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15 Oct 2026                                      02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6DB8D29B-3F55-40FA-8D5F-CA2430A06E14}"/>
              </a:ext>
            </a:extLst>
          </p:cNvPr>
          <p:cNvGraphicFramePr/>
          <p:nvPr/>
        </p:nvGraphicFramePr>
        <p:xfrm>
          <a:off xmlns:a="http://schemas.openxmlformats.org/drawingml/2006/main" x="533400" y="1676400"/>
          <a:ext xmlns:a="http://schemas.openxmlformats.org/drawingml/2006/main" cx="7524750" cy="4143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2f7cf9b01cc45a5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CA4FFE-34BB-4122-BDD2-CC5F19CE9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809750"/>
            <a:ext cx="304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9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9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11,000 transfers per path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0528A0-033D-4F1B-92D7-BDEFED894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400300"/>
            <a:ext cx="304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Zero API errors and zero RX mismatches in both captured runs.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71392C-FD0E-456D-9A92-57F336DE5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2766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Crossover: 16–64 bytes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99C51F-8481-4EE0-A63B-9F6D1FF64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686175"/>
            <a:ext cx="304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Linux is slower for 1–16 B and faster from 64 B upward in this run. Rates include end-to-end software cost; they are not wire throughput.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BAC33A-35A3-45C7-9109-467ECAFED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0482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Measured paths: SPI ioctl vs XSpi interrupt transfer.</a:t>
            </a:r>
          </a:p>
        </p:txBody>
      </p:sp>
    </p:spTree>
    <p:extLst>
      <p:ext uri="{BB962C8B-B14F-4D97-AF65-F5344CB8AC3E}">
        <p14:creationId xmlns:p14="http://schemas.microsoft.com/office/powerpoint/2010/main" val="144122076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CDCA15-D010-40AB-8272-23248B818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2B  /  PIO AND DMA MECHANISMS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DDF8B3-28D1-4B19-88D6-064C2AF45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CDMA loopback simulation passes six payload sizes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5BB4FB-4504-4532-8C69-1008EA67A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324EE4-3865-4630-98CE-ADAB45115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15 Oct 2026                                      03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F46396E0-7696-43FB-B8B0-2D6C1CB8F8C9}"/>
              </a:ext>
            </a:extLst>
          </p:cNvPr>
          <p:cNvGraphicFramePr/>
          <p:nvPr/>
        </p:nvGraphicFramePr>
        <p:xfrm>
          <a:off xmlns:a="http://schemas.openxmlformats.org/drawingml/2006/main" x="533400" y="1676400"/>
          <a:ext xmlns:a="http://schemas.openxmlformats.org/drawingml/2006/main" cx="7524750" cy="4143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85d3130219f4ad5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273355-7DB9-4059-9D1A-F9334843D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809750"/>
            <a:ext cx="304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95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95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2b assessment complete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98B523-9FC0-47FF-A799-9BAD24DBC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457450"/>
            <a:ext cx="304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6 / 6 simulated DMA sizes passed; every received byte matched.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5C96A0-0C89-4298-ABB2-8A797A7C6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476625"/>
            <a:ext cx="304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What this proves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D961EE-CDBC-41CB-9EB8-EC65CCCDB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886200"/>
            <a:ext cx="30480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The AXI CDMA keyhole path can feed the modeled AXI Quad SPI DTR and complete internal-loopback transfers.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B9AD48-3B17-4D1A-8AA6-734763D3D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953000"/>
            <a:ext cx="30480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PIO is physically measured on slide 2. DMA points here are simulation only; no physical DMA or crossover is claimed.</a:t>
            </a:r>
          </a:p>
        </p:txBody>
      </p:sp>
    </p:spTree>
    <p:extLst>
      <p:ext uri="{BB962C8B-B14F-4D97-AF65-F5344CB8AC3E}">
        <p14:creationId xmlns:p14="http://schemas.microsoft.com/office/powerpoint/2010/main" val="166392741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3AFD4C-94AF-437B-A9FA-72E426AD3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2C  /  REAL-TIME SUITABILITY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23E3D9-0E76-4AFD-9102-22CBD391E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Linux timing spread grows as CPU frequency falls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561907-D55B-4F88-AC69-3C869A0E9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9AC14B-F675-4486-9140-23C7A9926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15 Oct 2026                                      04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A2C34D53-15F1-449A-ABEE-E1949270040C}"/>
              </a:ext>
            </a:extLst>
          </p:cNvPr>
          <p:cNvGraphicFramePr/>
          <p:nvPr/>
        </p:nvGraphicFramePr>
        <p:xfrm>
          <a:off xmlns:a="http://schemas.openxmlformats.org/drawingml/2006/main" x="533400" y="1676400"/>
          <a:ext xmlns:a="http://schemas.openxmlformats.org/drawingml/2006/main" cx="7524750" cy="4143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2da81ed35c04476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EE921B-5C78-4380-9270-149BF3852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809750"/>
            <a:ext cx="3048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2c assessment complete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2E43E5-F7D7-41E0-A77B-60FF9741B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428875"/>
            <a:ext cx="304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44,000 frequency-sweep transfers; zero reported errors.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8C6202-8EBA-40D7-AC49-626E9ED40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381375"/>
            <a:ext cx="30480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 b="1">
                <a:solidFill>
                  <a:srgbClr val="C35A2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C35A2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C35A2B"/>
                </a:solidFill>
                <a:latin typeface="Liberation Sans"/>
                <a:ea typeface="Liberation Sans"/>
                <a:cs typeface="Liberation Sans"/>
              </a:rPr>
              <a:t>At 64 KiB, standard deviation rises 3.7× from 1,200 to 300 MHz.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C10585-FC60-4591-83E3-200B37396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333875"/>
            <a:ext cx="3048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Observed timing is variable and frequency-sensitive. These captures do not define a deadline or establish hard real-time behavior; they do not identify the cause of the spread.</a:t>
            </a:r>
          </a:p>
        </p:txBody>
      </p:sp>
    </p:spTree>
    <p:extLst>
      <p:ext uri="{BB962C8B-B14F-4D97-AF65-F5344CB8AC3E}">
        <p14:creationId xmlns:p14="http://schemas.microsoft.com/office/powerpoint/2010/main" val="85933978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587D9C-176B-4D78-896D-17C77295D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STATUS  /  14 OCTOBER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F5DBF5-88A7-4D9D-A2D0-529749248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Remaining Task 2 work and evidence boundary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A8BEF3-DA2B-4D28-8C71-C56FEFE19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D726FB-6C41-4580-993A-2EADB10FE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15 Oct 2026                                      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8524E6-294B-45DE-8741-C0847A833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76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3F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8814D2-1B05-4389-91FF-5969AF013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2d  System hardening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FAD07F-2400-436D-8D30-7917D4479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81225"/>
            <a:ext cx="2762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1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1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rPr>
              <a:t>Design complete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395B46-D31B-4F80-9E26-65F8AE8F8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838325"/>
            <a:ext cx="7000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Verified boot and signed update implementation remain open.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537295-FFE6-44B2-BA25-D50342195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76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5B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AF0BCA-F5EE-4D03-907E-2A72336DD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7655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2e  Benchmark framework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61869C-4519-4D4F-85A4-4496DB167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48025"/>
            <a:ext cx="2762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Partial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D0465A-D363-4523-A1EA-F3B0E4B13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905125"/>
            <a:ext cx="7000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Paired contract and CPU analysis exist; bare-metal CPU measurement and sustained-throughput test remain open.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436572-CAB1-43B6-9108-26667C636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76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5B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C06E85-E14B-4E68-BEB4-CA07DA414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4335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2f  OS tuning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799748-6B90-4F2E-9338-E871757B8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14825"/>
            <a:ext cx="2762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Partial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62A194-A2B7-4822-8C4B-8999437EE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971925"/>
            <a:ext cx="7000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CPU-frequency axis measured; preemption-model and physical DMA driver comparisons remain open.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A235A6-201D-4003-9BF2-6F3EA851E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76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5B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969E13-0B03-4F61-B4DB-1B03C6388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1015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2g  Minimal appliance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A8F5D9-DBFA-49BC-9C51-9EDDDD349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81625"/>
            <a:ext cx="2762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Partial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1A941E-C352-44F4-AFCA-7C12B7108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5038725"/>
            <a:ext cx="7000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A/B updater prototype passes host fault tests; U-Boot integration and target secure boot/recovery remain open.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7E266E-D259-4687-9EF7-45AE700AD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76950"/>
            <a:ext cx="10668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Status labels follow the SOW activity wording; partial evidence is not presented as criterion closure.</a:t>
            </a:r>
          </a:p>
        </p:txBody>
      </p:sp>
    </p:spTree>
    <p:extLst>
      <p:ext uri="{BB962C8B-B14F-4D97-AF65-F5344CB8AC3E}">
        <p14:creationId xmlns:p14="http://schemas.microsoft.com/office/powerpoint/2010/main" val="21619525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860ED0B-5AFB-4376-8A24-14276F5AF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2D  /  SYSTEM HARDENING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51DB27-CFEE-4039-BF4D-17FD18A64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Proposed boot trust and rollback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3EA023-75BE-4087-ADED-B3F4FFA91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04F9C0-FBC8-4852-8E06-BB2312387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15 Oct 2026                                      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348EAE-DC9E-4707-829A-B8800BCE3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57350"/>
            <a:ext cx="10810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BOOT AUTHENTICATION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2337AD-2196-4539-B78F-E4E30A462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57350"/>
            <a:ext cx="33051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12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r">
              <a:defRPr sz="12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2d DESIGN CRITERION COMPLETE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AC6C80-49D5-450D-B57A-C8E3A085F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812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B6E78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Immutable key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Approved PPK hash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held by device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17105D-AE32-4549-BB98-3C9520F4D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238125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B6E78"/>
          </a:solidFill>
          <a:ln xmlns:a="http://schemas.openxmlformats.org/drawingml/2006/main" w="9525">
            <a:solidFill>
              <a:srgbClr val="1B6E7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9B9573-DB11-4B23-A4C7-85405A428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9812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B6E78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BootROM + FSBL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Authenticate first-stage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boot code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295B00-CB13-45B9-9845-9126BD597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38125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B6E78"/>
          </a:solidFill>
          <a:ln xmlns:a="http://schemas.openxmlformats.org/drawingml/2006/main" w="9525">
            <a:solidFill>
              <a:srgbClr val="1B6E7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012DC5-C987-4B25-BF86-A2E10198A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19812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B6E78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BOOT.BIN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Verify PMUFW, PL,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ATF and U-Boot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280D9C-E2BD-45E8-AC99-2BA58FA7D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238125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B6E78"/>
          </a:solidFill>
          <a:ln xmlns:a="http://schemas.openxmlformats.org/drawingml/2006/main" w="9525">
            <a:solidFill>
              <a:srgbClr val="1B6E7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7194D5-C09D-49BE-ACEA-D85DBA709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9812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B6E78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Signed FIT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Verify kernel, DTB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and root filesystem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4E7F3D-DF81-4AF7-AF6A-40D0C4315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38125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B6E78"/>
          </a:solidFill>
          <a:ln xmlns:a="http://schemas.openxmlformats.org/drawingml/2006/main" w="9525">
            <a:solidFill>
              <a:srgbClr val="1B6E7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444614-19C3-4F8B-9DC4-AEC709D59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9812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B6E78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Read-only OS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Run only the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authenticated release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629528-3C85-499A-BFF5-52D10C4E2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33750"/>
            <a:ext cx="10810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rPr>
              <a:t>UPDATE TRANSACTION AND AUTOMATIC ROLLBACK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8A1568-C092-4A2E-AC51-45AE918D7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576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Stage inactive slot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Keep confirmed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slot untouched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07495F-EB45-4272-9BA6-E7B7FCB89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405765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9525">
            <a:solidFill>
              <a:srgbClr val="446B9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3DC6D2-AB2D-4A75-B7BD-F2C35B18A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6576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Verify release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Check signature,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digest and image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FB66F9-F706-4BDB-A5F6-06167C025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05765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9525">
            <a:solidFill>
              <a:srgbClr val="446B9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24E56B-5BCF-412D-9EF0-C39D73626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6576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Trial boot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Bounded attempt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count and logs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5C2B70-49C4-479C-89AA-2F4C2C3B7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405765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9525">
            <a:solidFill>
              <a:srgbClr val="446B9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50F58E1-30C8-4655-A067-9263C088A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6576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Health check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Linux start + SPI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loopback smoke test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1DA47CA-BBFF-4A96-BB18-BB6E8B0AA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405765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9525">
            <a:solidFill>
              <a:srgbClr val="446B9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181FA0F-32A1-4E23-8791-B34BF68AC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6576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Confirm / rollback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Mark good or return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to prior slot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430AD84-0F94-4965-A0D1-BC2C9EBAC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29200"/>
            <a:ext cx="10810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Design only: no signed boot image or A/B update is deployed. Development boot-header authentication is not fielded eFUSE-rooted trust. No eFUSE was programmed.</a:t>
            </a:r>
          </a:p>
        </p:txBody>
      </p:sp>
    </p:spTree>
    <p:extLst>
      <p:ext uri="{BB962C8B-B14F-4D97-AF65-F5344CB8AC3E}">
        <p14:creationId xmlns:p14="http://schemas.microsoft.com/office/powerpoint/2010/main" val="62869995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AD289A-D59A-406B-94CC-F47C5B7BD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2E  /  COMPARATIVE FRAMEWORK STATUS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40DDAA-0ABC-4A7B-8E3F-71755AFB1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Linux thread CPU share declines as payload grows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116E09-D563-4FCD-B5FE-4BAB6DE3B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50E87C-8695-41B9-9EED-D3F0F6180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15 Oct 2026                                      07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444FA2D7-E02F-4BBF-94AB-DC2BD9A0587D}"/>
              </a:ext>
            </a:extLst>
          </p:cNvPr>
          <p:cNvGraphicFramePr/>
          <p:nvPr/>
        </p:nvGraphicFramePr>
        <p:xfrm>
          <a:off xmlns:a="http://schemas.openxmlformats.org/drawingml/2006/main" x="533400" y="1676400"/>
          <a:ext xmlns:a="http://schemas.openxmlformats.org/drawingml/2006/main" cx="7524750" cy="4143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b8502e7cc0a4ff2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0EED2B-80DB-4F0E-84FF-9651404B6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809750"/>
            <a:ext cx="304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11,000 paired transfers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F7828E-0D46-4766-9D58-B1683D48A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428875"/>
            <a:ext cx="304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Zero transfer errors and RX mismatches in both recorded runs.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EB777D-B4EB-4CAB-8F5D-1A12021C2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371850"/>
            <a:ext cx="30480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rPr>
              <a:t>Linux thread CPU share: 67.9% at 1 B → 1.5% at 64 KiB.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C28ABD-08A7-4EB3-9B02-26E32A3CE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343400"/>
            <a:ext cx="3048000" cy="1343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Scope: benchmark thread over the 1,000-transfer loop. Bare-metal CPU use was not instrumented, and this fixed ladder does not establish maximum sustainable throughput.</a:t>
            </a:r>
          </a:p>
        </p:txBody>
      </p:sp>
    </p:spTree>
    <p:extLst>
      <p:ext uri="{BB962C8B-B14F-4D97-AF65-F5344CB8AC3E}">
        <p14:creationId xmlns:p14="http://schemas.microsoft.com/office/powerpoint/2010/main" val="176828096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11246A-3E1B-49D3-B2B7-8CF8259F3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2G  /  MINIMAL STACK AND ROBUST UPDATE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15922D-357E-4200-9981-6FC71C536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A/B update prototype preserves the confirmed slot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B88D48-63A4-495C-8570-ECAC62F02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9BBB76-5A55-4C41-8B8D-C16B7941D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15 Oct 2026                                      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78BF02-3C09-41D3-ADB8-7206EDB03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81250"/>
            <a:ext cx="18669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95250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Authenticate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RSA/SHA-256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signature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05813F-F9EE-4248-8E47-9CCC7D697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2809875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9525">
            <a:solidFill>
              <a:srgbClr val="446B9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115EA9-ADD9-42D3-AC19-38F2A3B3F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381250"/>
            <a:ext cx="18669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95250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Write inactive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Chunked write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+ fsync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323FD5-2494-4148-90D0-99D1C6558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809875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9525">
            <a:solidFill>
              <a:srgbClr val="446B9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8360E4-6BDD-46EE-A6E7-6CAE4C5A0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381250"/>
            <a:ext cx="18669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95250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Readback check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Digest + signature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re-verified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73FD13-05E9-4A41-8208-625E71EB9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2809875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9525">
            <a:solidFill>
              <a:srgbClr val="446B9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0738C0-F481-4191-86B2-26E72AD76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381250"/>
            <a:ext cx="18669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95250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Trial boot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Two bounded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attempts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466D16-50CA-472D-9063-E9736568B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809875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9525">
            <a:solidFill>
              <a:srgbClr val="446B9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2BF9BE-5A7C-490F-B4BA-6AA1C9AB0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381250"/>
            <a:ext cx="18669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95250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Confirm / rollback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Health result selects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new or known-good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41DAC9-26EC-49CA-986C-0A0E3A24E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09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95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95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4 / 4 HOST FAULT-INJECTION TESTS PASSED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4CD78D-ADD5-4980-AF20-501F4E811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5048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Confirmed slot A stayed selected after invalid signatures, interrupted writes, boot-limit expiry, and an explicit failed health check.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7CEB1F-BEDD-4739-8E45-F22F4D488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62400"/>
            <a:ext cx="5048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Prototype boundary: host files and JSON control state. No U-Boot, SD-card, signed target image, hardware trust anchor, or ZCU102 power-loss test.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2F7372-F0B1-426B-9E43-CC019F0FC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Task 2g remains partial until target integration, boot authentication, and recovery fault tests pass.</a:t>
            </a:r>
          </a:p>
        </p:txBody>
      </p:sp>
    </p:spTree>
    <p:extLst>
      <p:ext uri="{BB962C8B-B14F-4D97-AF65-F5344CB8AC3E}">
        <p14:creationId xmlns:p14="http://schemas.microsoft.com/office/powerpoint/2010/main" val="167777492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9486A6-4E32-4FB2-BCB1-84E8FC39B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TOOLCHAIN  /  LICENSE DIAGNOSTIC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8FBEF0-2C07-4A0D-9F1B-F2F129766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Enterprise license passes ZCU9EG synthesis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13279D-E732-4971-A60A-905840606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A67E2B-450C-46D5-93B2-5266B7042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15 Oct 2026                                      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14A45F-D7D1-45C0-8834-7DD05281B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490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Sandboxed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ED4378-1E15-4233-BF13-8883907D0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24075"/>
            <a:ext cx="4810125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FlexNet could not read the workstation network-interface ID. It reported the node-locked license as invalid; Vivado then surfaced the failed checkout as an expired Synthesis feature.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066006-2955-4E23-BA55-AB83195E8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695450"/>
            <a:ext cx="490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Normal host access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F58111-939B-4859-B8C7-E9973DB57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124075"/>
            <a:ext cx="4810125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The permanent Enterprise license matched the active workstation NIC. FlexNet approved the node, and Vivado granted Synthesis for xczu9eg.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007103-A59C-4C2B-8C3A-EF33C7B76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571750"/>
            <a:ext cx="6858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B6E78"/>
          </a:solidFill>
          <a:ln xmlns:a="http://schemas.openxmlformats.org/drawingml/2006/main" w="9525">
            <a:solidFill>
              <a:srgbClr val="1B6E7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B44AAB-9125-4AC7-87CE-40CBA1F8D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10382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CEA"/>
          </a:solidFill>
          <a:ln xmlns:a="http://schemas.openxmlformats.org/drawingml/2006/main" w="19050">
            <a:solidFill>
              <a:srgbClr val="1B6E78"/>
            </a:solidFill>
            <a:prstDash val="solid"/>
          </a:ln>
        </p:spPr>
        <p:txBody>
          <a:bodyPr xmlns:a="http://schemas.openxmlformats.org/drawingml/2006/main" lIns="171450" tIns="133350" rIns="171450" bIns="114300"/>
          <a:lstStyle xmlns:a="http://schemas.openxmlformats.org/drawingml/2006/main">
            <a:defPPr algn="ctr">
              <a:defRPr sz="18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Fresh synthesis for xczu9eg-ffvb1156-2-e completed with 0 errors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201769-0F49-4B74-A571-345CA6577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91125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This was a small license-check design, not the project build. Synthesis uses the selected FPGA part; it does not communicate with the physical ZCU102 board.</a:t>
            </a:r>
          </a:p>
        </p:txBody>
      </p:sp>
    </p:spTree>
    <p:extLst>
      <p:ext uri="{BB962C8B-B14F-4D97-AF65-F5344CB8AC3E}">
        <p14:creationId xmlns:p14="http://schemas.microsoft.com/office/powerpoint/2010/main" val="163136405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4192339-4ADC-4BFD-B569-D7347A737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2G  /  TARGET EXECUTION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EC7E47-0206-4B1B-8567-67EEE6227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ZCU102 Linux update-control demonstration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C9BFE4-31B8-4A86-BE99-4012DA089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E5732E-0DB5-4270-8891-C4698C35C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15 Oct 2026                                     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DE5932-EE35-4031-AD98-17A14B8E4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2524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TEST CASE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E4E418-F828-4272-8E27-78DE84FA1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676400"/>
            <a:ext cx="3571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rPr>
              <a:t>UNSAFE BASELINE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7ED3E3-DD6E-4B10-A706-AAFC2BB08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1676400"/>
            <a:ext cx="3810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SIGNED A/B REFERENCE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176EBD-DE2F-4A39-B931-B1F65D21B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95575"/>
            <a:ext cx="10620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EC77FE-5096-41E3-9AE0-2ABF6F9E7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2524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Valid release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F425BC-E232-4328-BAD1-6AB26BCCB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171700"/>
            <a:ext cx="35718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rPr>
              <a:t>Accepted in place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C718E6-F1C6-4D78-9338-0466E1F06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171700"/>
            <a:ext cx="3810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Verified; staged to 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FF09CC-DCF5-4CF2-9205-AE3B40A4E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10620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55876B-DE89-4DFC-9AE8-ED5F62811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67025"/>
            <a:ext cx="2524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Tampered release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51690D-4623-4103-A67B-D01CA06E6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867025"/>
            <a:ext cx="35718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rPr>
              <a:t>Accepted altered bytes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2291E7-ABD1-4383-B03F-0773164B6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867025"/>
            <a:ext cx="3810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Rejected; A unchanged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A99561-E478-4C46-99DF-420CBD1B0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86225"/>
            <a:ext cx="10620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518841-51A2-42B2-B8E9-3EE484C94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2524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Interrupted write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F8CE8F-0630-468B-AEF6-9CF3414EA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562350"/>
            <a:ext cx="35718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rPr>
              <a:t>Active A partially overwritten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78556F-146A-4CCF-9CAA-0F5CB9BC9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562350"/>
            <a:ext cx="3810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A retained; no trial published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44D293-5057-433B-8B2B-27D0ACE50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81550"/>
            <a:ext cx="10620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EDBE2B-03E1-4062-8E4C-D26A3DCFC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57675"/>
            <a:ext cx="2524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Failed trial health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2106C1-333A-4E1B-8A1A-EF282DE50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257675"/>
            <a:ext cx="35718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rPr>
              <a:t>Bad image remains active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3E42F7-5AEC-419E-9623-020002787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257675"/>
            <a:ext cx="3810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Pending cleared; A selected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CBA28C7-21C0-4FFC-9671-12DBC1071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81600"/>
            <a:ext cx="10620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All four checks passed on the ZCU102 AArch64 Linux system using its OpenSSL runtime and temporary /tmp slots. This did not test BootROM/U-Boot, persistent boot state, or physical power-loss recovery.</a:t>
            </a:r>
          </a:p>
        </p:txBody>
      </p:sp>
    </p:spTree>
    <p:extLst>
      <p:ext uri="{BB962C8B-B14F-4D97-AF65-F5344CB8AC3E}">
        <p14:creationId xmlns:p14="http://schemas.microsoft.com/office/powerpoint/2010/main" val="123250856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8867DFF-030A-40D7-8735-6CD620924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2G  /  SIGNED IMAGE VERIFICATION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E51A65-1A63-4F91-AB8C-2A67F847B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PetaLinux FIT signature rejects tampering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F3E738-44BA-46C0-A99E-5DBC2EE4F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9C73A2-45C9-42C5-8F55-2674661AA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15 Oct 2026                                      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344A89-9E21-4337-B67C-406ED7CDF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0620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U-BOOT 2025.01-XILINX  ·  PETALINUX 2025.2  ·  VALIDATED XSA + BITSTREAM MATCH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C1A969-44D3-424D-9E5C-BA57A79E7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2190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684F36-F238-4F3E-A103-139B18F36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943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Kernel + DTB</a:t>
            </a:r>
          </a:p>
          <a:p xmlns:a="http://schemas.openxmlformats.org/drawingml/2006/main">
            <a:pPr algn="ctr"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+ initrd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FAC7D3-082B-48E8-B105-782BC3BCB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057525"/>
            <a:ext cx="1943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PetaLinux FIT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B577CF-26A4-423C-8401-A3EBD620F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2628900"/>
            <a:ext cx="3619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9525">
            <a:solidFill>
              <a:srgbClr val="D8E0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A4B5EA-C63B-4043-B923-8D10D4471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209800"/>
            <a:ext cx="2190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B6E7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05819B-D08F-4DD1-A70D-E32609B2E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409825"/>
            <a:ext cx="1943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RSA-2048</a:t>
            </a:r>
          </a:p>
          <a:p xmlns:a="http://schemas.openxmlformats.org/drawingml/2006/main">
            <a:pPr algn="ctr"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signature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9B36FC-1BD5-4BC6-861B-22CE06F08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057525"/>
            <a:ext cx="1943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sha256 · msu2-test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705E4B-FC33-4A47-8A96-93CCCD5D7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2628900"/>
            <a:ext cx="3619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9525">
            <a:solidFill>
              <a:srgbClr val="D8E0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9000BC-7671-4623-BBCC-0E694B3B9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209800"/>
            <a:ext cx="2190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35A2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6C3188-F10A-4C09-8602-8952B5F3C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409825"/>
            <a:ext cx="1943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Required key</a:t>
            </a:r>
          </a:p>
          <a:p xmlns:a="http://schemas.openxmlformats.org/drawingml/2006/main">
            <a:pPr algn="ctr"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in U-Boot DTB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6E345B-F419-4612-9C96-D6172B5FD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057525"/>
            <a:ext cx="1943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key-msu2-test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9E538B-5CF8-4074-86E5-CCCC7DFBC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2628900"/>
            <a:ext cx="3619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9525">
            <a:solidFill>
              <a:srgbClr val="D8E0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6F56F7-92D0-4315-A9EF-D96B87C54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209800"/>
            <a:ext cx="2190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7A5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07FA75-C99F-4FBC-83D2-72BA7ADB8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409825"/>
            <a:ext cx="1943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Verify before</a:t>
            </a:r>
          </a:p>
          <a:p xmlns:a="http://schemas.openxmlformats.org/drawingml/2006/main">
            <a:pPr algn="ctr"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load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ABB2B2-5B11-41AC-A9C6-ACA6AF21E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057525"/>
            <a:ext cx="1943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fit_check_sign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2AAC57-71F8-458C-915F-E12D3A1AE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76675"/>
            <a:ext cx="4905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SIGNED BUILD  ✓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70D495-693D-489A-9578-742926748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49053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U-Boot fit_check_sign accepted the PetaLinux configuration; FIT SHA-256: ca498597…e37222.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6AD6DF-6D32-421D-9360-3FA77EBA6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876675"/>
            <a:ext cx="4905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1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1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rPr>
              <a:t>KERNEL BYTE FLIPPED  ✕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7F882A-2EB8-4728-A91C-15A3CD6F0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286250"/>
            <a:ext cx="49053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Signature/hash check failed with “Bad Data Hash” before kernel load. Zero altered payload was accepted.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C1184BF-1561-4F37-B5D8-088F03230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14950"/>
            <a:ext cx="10620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FIT build and tamper test passed; exact validated XSA/bitstream matched. No ZCU102 boot, trusted BootROM key, A/B rollback, or power-loss test.</a:t>
            </a:r>
          </a:p>
        </p:txBody>
      </p:sp>
    </p:spTree>
    <p:extLst>
      <p:ext uri="{BB962C8B-B14F-4D97-AF65-F5344CB8AC3E}">
        <p14:creationId xmlns:p14="http://schemas.microsoft.com/office/powerpoint/2010/main" val="2230393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2026-10-16T00:14:27.0890000Z</dcterms:created>
  <dcterms:modified xsi:type="dcterms:W3CDTF">2026-10-16T00:14:27.0890000Z</dcterms:modified>
</coreProperties>
</file>